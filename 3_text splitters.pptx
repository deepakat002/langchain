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5" r:id="rId1"/>
  </p:sldMasterIdLst>
  <p:notesMasterIdLst>
    <p:notesMasterId r:id="rId14"/>
  </p:notesMasterIdLst>
  <p:sldIdLst>
    <p:sldId id="274" r:id="rId2"/>
    <p:sldId id="300" r:id="rId3"/>
    <p:sldId id="305" r:id="rId4"/>
    <p:sldId id="307" r:id="rId5"/>
    <p:sldId id="308" r:id="rId6"/>
    <p:sldId id="309" r:id="rId7"/>
    <p:sldId id="310" r:id="rId8"/>
    <p:sldId id="311" r:id="rId9"/>
    <p:sldId id="314" r:id="rId10"/>
    <p:sldId id="312" r:id="rId11"/>
    <p:sldId id="313" r:id="rId12"/>
    <p:sldId id="30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CC3300"/>
    <a:srgbClr val="E40C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F6987B-4077-41BF-97D4-EA38746EFAB3}" type="datetimeFigureOut">
              <a:rPr lang="en-US" smtClean="0"/>
              <a:t>6/15/2025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1065E2-8AB8-4848-955E-6C0D5851B9F0}" type="slidenum">
              <a:rPr lang="en-US" smtClean="0"/>
              <a:t>‹#›</a:t>
            </a:fld>
            <a:endParaRPr lang="en-US"/>
          </a:p>
        </p:txBody>
      </p:sp>
    </p:spTree>
    <p:extLst>
      <p:ext uri="{BB962C8B-B14F-4D97-AF65-F5344CB8AC3E}">
        <p14:creationId xmlns:p14="http://schemas.microsoft.com/office/powerpoint/2010/main" val="1957482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493930-47BE-40BC-A32D-4F995F4BBD55}" type="datetimeFigureOut">
              <a:rPr lang="en-US" smtClean="0"/>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3030104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493930-47BE-40BC-A32D-4F995F4BBD55}" type="datetimeFigureOut">
              <a:rPr lang="en-US" smtClean="0"/>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4152357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493930-47BE-40BC-A32D-4F995F4BBD55}" type="datetimeFigureOut">
              <a:rPr lang="en-US" smtClean="0"/>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2883231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493930-47BE-40BC-A32D-4F995F4BBD55}" type="datetimeFigureOut">
              <a:rPr lang="en-US" smtClean="0"/>
              <a:t>6/15/2025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928424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493930-47BE-40BC-A32D-4F995F4BBD55}" type="datetimeFigureOut">
              <a:rPr lang="en-US" smtClean="0"/>
              <a:t>6/15/2025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892596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493930-47BE-40BC-A32D-4F995F4BBD55}" type="datetimeFigureOut">
              <a:rPr lang="en-US" smtClean="0"/>
              <a:t>6/15/2025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3339704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493930-47BE-40BC-A32D-4F995F4BBD55}" type="datetimeFigureOut">
              <a:rPr lang="en-US" smtClean="0"/>
              <a:t>6/15/2025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3456992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6/15/2025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1863062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6/15/2025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989136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6/15/2025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913823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6/15/2025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29917586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6/15/2025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240886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6/15/2025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32402866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493930-47BE-40BC-A32D-4F995F4BBD55}" type="datetimeFigureOut">
              <a:rPr lang="en-US" smtClean="0"/>
              <a:t>6/15/2025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18048756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493930-47BE-40BC-A32D-4F995F4BBD55}" type="datetimeFigureOut">
              <a:rPr lang="en-US" smtClean="0"/>
              <a:t>6/15/2025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18022074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493930-47BE-40BC-A32D-4F995F4BBD55}" type="datetimeFigureOut">
              <a:rPr lang="en-US" smtClean="0"/>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37664666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493930-47BE-40BC-A32D-4F995F4BBD55}" type="datetimeFigureOut">
              <a:rPr lang="en-US" smtClean="0"/>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2262354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493930-47BE-40BC-A32D-4F995F4BBD55}" type="datetimeFigureOut">
              <a:rPr lang="en-US" smtClean="0"/>
              <a:t>6/15/2025</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EB41980-23F0-4728-8D90-69C6C1C21305}" type="slidenum">
              <a:rPr lang="en-US" smtClean="0"/>
              <a:t>‹#›</a:t>
            </a:fld>
            <a:endParaRPr lang="en-US"/>
          </a:p>
        </p:txBody>
      </p:sp>
    </p:spTree>
    <p:extLst>
      <p:ext uri="{BB962C8B-B14F-4D97-AF65-F5344CB8AC3E}">
        <p14:creationId xmlns:p14="http://schemas.microsoft.com/office/powerpoint/2010/main" val="1393578244"/>
      </p:ext>
    </p:extLst>
  </p:cSld>
  <p:clrMap bg1="dk1" tx1="lt1" bg2="dk2" tx2="lt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hyperlink" Target="https://python.langchain.com/docs/concepts/text_splitters/#approaches"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hyperlink" Target="https://chunkviz.up.railway.app/"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CABFDC-FBF9-BE8E-2A7D-FF9A1D04D407}"/>
              </a:ext>
            </a:extLst>
          </p:cNvPr>
          <p:cNvSpPr/>
          <p:nvPr/>
        </p:nvSpPr>
        <p:spPr>
          <a:xfrm>
            <a:off x="5128260" y="3354706"/>
            <a:ext cx="2378546" cy="4571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p:cNvSpPr txBox="1"/>
          <p:nvPr/>
        </p:nvSpPr>
        <p:spPr>
          <a:xfrm>
            <a:off x="4095605" y="2630984"/>
            <a:ext cx="4000790" cy="769441"/>
          </a:xfrm>
          <a:prstGeom prst="rect">
            <a:avLst/>
          </a:prstGeom>
          <a:noFill/>
        </p:spPr>
        <p:txBody>
          <a:bodyPr wrap="square" rtlCol="0">
            <a:spAutoFit/>
          </a:bodyPr>
          <a:lstStyle/>
          <a:p>
            <a:r>
              <a:rPr lang="en-US" sz="4400" dirty="0"/>
              <a:t>Text Splitter</a:t>
            </a:r>
            <a:endParaRPr lang="en-IN" sz="4400" dirty="0"/>
          </a:p>
        </p:txBody>
      </p:sp>
    </p:spTree>
    <p:extLst>
      <p:ext uri="{BB962C8B-B14F-4D97-AF65-F5344CB8AC3E}">
        <p14:creationId xmlns:p14="http://schemas.microsoft.com/office/powerpoint/2010/main" val="2820418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08B89-5367-2053-B021-660A67AD5990}"/>
            </a:ext>
          </a:extLst>
        </p:cNvPr>
        <p:cNvGrpSpPr/>
        <p:nvPr/>
      </p:nvGrpSpPr>
      <p:grpSpPr>
        <a:xfrm>
          <a:off x="0" y="0"/>
          <a:ext cx="0" cy="0"/>
          <a:chOff x="0" y="0"/>
          <a:chExt cx="0" cy="0"/>
        </a:xfrm>
      </p:grpSpPr>
      <p:sp>
        <p:nvSpPr>
          <p:cNvPr id="3" name="Flowchart: Document 2">
            <a:extLst>
              <a:ext uri="{FF2B5EF4-FFF2-40B4-BE49-F238E27FC236}">
                <a16:creationId xmlns:a16="http://schemas.microsoft.com/office/drawing/2014/main" id="{C352C240-F0F2-1C05-66A6-A82E909F6A21}"/>
              </a:ext>
            </a:extLst>
          </p:cNvPr>
          <p:cNvSpPr/>
          <p:nvPr/>
        </p:nvSpPr>
        <p:spPr>
          <a:xfrm>
            <a:off x="2101645" y="340139"/>
            <a:ext cx="776748" cy="845575"/>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Flowchart: Multidocument 3">
            <a:extLst>
              <a:ext uri="{FF2B5EF4-FFF2-40B4-BE49-F238E27FC236}">
                <a16:creationId xmlns:a16="http://schemas.microsoft.com/office/drawing/2014/main" id="{3E54F5A2-29EC-B3A7-DC40-45D8990A0E18}"/>
              </a:ext>
            </a:extLst>
          </p:cNvPr>
          <p:cNvSpPr/>
          <p:nvPr/>
        </p:nvSpPr>
        <p:spPr>
          <a:xfrm>
            <a:off x="4375438" y="340139"/>
            <a:ext cx="707840" cy="715793"/>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Cylinder 4">
            <a:extLst>
              <a:ext uri="{FF2B5EF4-FFF2-40B4-BE49-F238E27FC236}">
                <a16:creationId xmlns:a16="http://schemas.microsoft.com/office/drawing/2014/main" id="{8CD782C8-09CB-612B-E372-B55DB86DFC4A}"/>
              </a:ext>
            </a:extLst>
          </p:cNvPr>
          <p:cNvSpPr/>
          <p:nvPr/>
        </p:nvSpPr>
        <p:spPr>
          <a:xfrm>
            <a:off x="4031224" y="3626874"/>
            <a:ext cx="963562" cy="1123335"/>
          </a:xfrm>
          <a:prstGeom prst="can">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Parallelogram 5">
            <a:extLst>
              <a:ext uri="{FF2B5EF4-FFF2-40B4-BE49-F238E27FC236}">
                <a16:creationId xmlns:a16="http://schemas.microsoft.com/office/drawing/2014/main" id="{E1124FC1-08FF-B4EB-1B18-EC75D4C1F7B0}"/>
              </a:ext>
            </a:extLst>
          </p:cNvPr>
          <p:cNvSpPr/>
          <p:nvPr/>
        </p:nvSpPr>
        <p:spPr>
          <a:xfrm>
            <a:off x="275304" y="5493154"/>
            <a:ext cx="1356851" cy="353961"/>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Parallelogram 6">
            <a:extLst>
              <a:ext uri="{FF2B5EF4-FFF2-40B4-BE49-F238E27FC236}">
                <a16:creationId xmlns:a16="http://schemas.microsoft.com/office/drawing/2014/main" id="{7FFDE75E-C2CA-4FFE-94B1-0435D24B1C0B}"/>
              </a:ext>
            </a:extLst>
          </p:cNvPr>
          <p:cNvSpPr/>
          <p:nvPr/>
        </p:nvSpPr>
        <p:spPr>
          <a:xfrm>
            <a:off x="2118852" y="5485169"/>
            <a:ext cx="1356851" cy="353961"/>
          </a:xfrm>
          <a:prstGeom prst="parallelogram">
            <a:avLst/>
          </a:prstGeom>
          <a:solidFill>
            <a:schemeClr val="accent5"/>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a:extLst>
              <a:ext uri="{FF2B5EF4-FFF2-40B4-BE49-F238E27FC236}">
                <a16:creationId xmlns:a16="http://schemas.microsoft.com/office/drawing/2014/main" id="{4BEAA0EA-8506-50E1-DCDD-D6EE669F4854}"/>
              </a:ext>
            </a:extLst>
          </p:cNvPr>
          <p:cNvCxnSpPr>
            <a:cxnSpLocks/>
            <a:stCxn id="3" idx="3"/>
          </p:cNvCxnSpPr>
          <p:nvPr/>
        </p:nvCxnSpPr>
        <p:spPr>
          <a:xfrm>
            <a:off x="2878393" y="762927"/>
            <a:ext cx="739878" cy="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C717C93-88F2-555A-1691-AD8FFBCF2FC6}"/>
              </a:ext>
            </a:extLst>
          </p:cNvPr>
          <p:cNvSpPr txBox="1"/>
          <p:nvPr/>
        </p:nvSpPr>
        <p:spPr>
          <a:xfrm>
            <a:off x="5225845" y="2270630"/>
            <a:ext cx="1335622" cy="369332"/>
          </a:xfrm>
          <a:prstGeom prst="rect">
            <a:avLst/>
          </a:prstGeom>
          <a:noFill/>
        </p:spPr>
        <p:txBody>
          <a:bodyPr wrap="none" rtlCol="0">
            <a:spAutoFit/>
          </a:bodyPr>
          <a:lstStyle/>
          <a:p>
            <a:r>
              <a:rPr lang="en-US" dirty="0"/>
              <a:t>Embeddings</a:t>
            </a:r>
            <a:endParaRPr lang="en-IN" dirty="0"/>
          </a:p>
        </p:txBody>
      </p:sp>
      <p:sp>
        <p:nvSpPr>
          <p:cNvPr id="10" name="TextBox 9">
            <a:extLst>
              <a:ext uri="{FF2B5EF4-FFF2-40B4-BE49-F238E27FC236}">
                <a16:creationId xmlns:a16="http://schemas.microsoft.com/office/drawing/2014/main" id="{FD442E39-8888-3345-9F63-ADEB9F74B54C}"/>
              </a:ext>
            </a:extLst>
          </p:cNvPr>
          <p:cNvSpPr txBox="1"/>
          <p:nvPr/>
        </p:nvSpPr>
        <p:spPr>
          <a:xfrm>
            <a:off x="5225845" y="801407"/>
            <a:ext cx="1273362" cy="369332"/>
          </a:xfrm>
          <a:prstGeom prst="rect">
            <a:avLst/>
          </a:prstGeom>
          <a:noFill/>
        </p:spPr>
        <p:txBody>
          <a:bodyPr wrap="none" rtlCol="0">
            <a:spAutoFit/>
          </a:bodyPr>
          <a:lstStyle/>
          <a:p>
            <a:r>
              <a:rPr lang="en-US" dirty="0"/>
              <a:t>Text chunks</a:t>
            </a:r>
            <a:endParaRPr lang="en-IN" dirty="0"/>
          </a:p>
        </p:txBody>
      </p:sp>
      <p:sp>
        <p:nvSpPr>
          <p:cNvPr id="11" name="TextBox 10">
            <a:extLst>
              <a:ext uri="{FF2B5EF4-FFF2-40B4-BE49-F238E27FC236}">
                <a16:creationId xmlns:a16="http://schemas.microsoft.com/office/drawing/2014/main" id="{E1B60AFD-2E48-2090-90DA-08868A1FA8C5}"/>
              </a:ext>
            </a:extLst>
          </p:cNvPr>
          <p:cNvSpPr txBox="1"/>
          <p:nvPr/>
        </p:nvSpPr>
        <p:spPr>
          <a:xfrm>
            <a:off x="5235762" y="3855770"/>
            <a:ext cx="1720920" cy="369332"/>
          </a:xfrm>
          <a:prstGeom prst="rect">
            <a:avLst/>
          </a:prstGeom>
          <a:noFill/>
        </p:spPr>
        <p:txBody>
          <a:bodyPr wrap="none" rtlCol="0">
            <a:spAutoFit/>
          </a:bodyPr>
          <a:lstStyle/>
          <a:p>
            <a:r>
              <a:rPr lang="en-US" dirty="0"/>
              <a:t>Vector Database</a:t>
            </a:r>
            <a:endParaRPr lang="en-IN" dirty="0"/>
          </a:p>
        </p:txBody>
      </p:sp>
      <p:sp>
        <p:nvSpPr>
          <p:cNvPr id="12" name="Rectangle: Beveled 11">
            <a:extLst>
              <a:ext uri="{FF2B5EF4-FFF2-40B4-BE49-F238E27FC236}">
                <a16:creationId xmlns:a16="http://schemas.microsoft.com/office/drawing/2014/main" id="{9AF9CDE6-94F4-E023-0FF7-C990F6F36424}"/>
              </a:ext>
            </a:extLst>
          </p:cNvPr>
          <p:cNvSpPr/>
          <p:nvPr/>
        </p:nvSpPr>
        <p:spPr>
          <a:xfrm>
            <a:off x="4490622" y="5493154"/>
            <a:ext cx="1160209" cy="687026"/>
          </a:xfrm>
          <a:prstGeom prst="bevel">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latin typeface="Google Sans"/>
              </a:rPr>
              <a:t>Retriever</a:t>
            </a:r>
            <a:endParaRPr lang="en-IN" sz="1600" dirty="0">
              <a:solidFill>
                <a:srgbClr val="FF0000"/>
              </a:solidFill>
            </a:endParaRPr>
          </a:p>
        </p:txBody>
      </p:sp>
      <p:sp>
        <p:nvSpPr>
          <p:cNvPr id="13" name="TextBox 12">
            <a:extLst>
              <a:ext uri="{FF2B5EF4-FFF2-40B4-BE49-F238E27FC236}">
                <a16:creationId xmlns:a16="http://schemas.microsoft.com/office/drawing/2014/main" id="{7BCE17A2-79B1-6C2F-69AE-871ADBBE8B14}"/>
              </a:ext>
            </a:extLst>
          </p:cNvPr>
          <p:cNvSpPr txBox="1"/>
          <p:nvPr/>
        </p:nvSpPr>
        <p:spPr>
          <a:xfrm>
            <a:off x="4232648" y="6312912"/>
            <a:ext cx="1713226" cy="369332"/>
          </a:xfrm>
          <a:prstGeom prst="rect">
            <a:avLst/>
          </a:prstGeom>
          <a:noFill/>
        </p:spPr>
        <p:txBody>
          <a:bodyPr wrap="none" rtlCol="0">
            <a:spAutoFit/>
          </a:bodyPr>
          <a:lstStyle/>
          <a:p>
            <a:r>
              <a:rPr lang="en-US" dirty="0"/>
              <a:t>Semantic search</a:t>
            </a:r>
            <a:endParaRPr lang="en-IN" dirty="0"/>
          </a:p>
        </p:txBody>
      </p:sp>
      <p:sp>
        <p:nvSpPr>
          <p:cNvPr id="14" name="Flowchart: Multidocument 13">
            <a:extLst>
              <a:ext uri="{FF2B5EF4-FFF2-40B4-BE49-F238E27FC236}">
                <a16:creationId xmlns:a16="http://schemas.microsoft.com/office/drawing/2014/main" id="{5FC1B858-3608-C00C-74D5-B673E62C2B82}"/>
              </a:ext>
            </a:extLst>
          </p:cNvPr>
          <p:cNvSpPr/>
          <p:nvPr/>
        </p:nvSpPr>
        <p:spPr>
          <a:xfrm>
            <a:off x="6604396" y="5572428"/>
            <a:ext cx="704572" cy="549375"/>
          </a:xfrm>
          <a:prstGeom prst="flowChartMultidocument">
            <a:avLst/>
          </a:prstGeom>
          <a:solidFill>
            <a:schemeClr val="accent2">
              <a:lumMod val="7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Flowchart: Multidocument 14">
            <a:extLst>
              <a:ext uri="{FF2B5EF4-FFF2-40B4-BE49-F238E27FC236}">
                <a16:creationId xmlns:a16="http://schemas.microsoft.com/office/drawing/2014/main" id="{A0F20342-5699-0F9E-4EC5-7D6332FE9E46}"/>
              </a:ext>
            </a:extLst>
          </p:cNvPr>
          <p:cNvSpPr/>
          <p:nvPr/>
        </p:nvSpPr>
        <p:spPr>
          <a:xfrm>
            <a:off x="3950235" y="900567"/>
            <a:ext cx="707840" cy="715793"/>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Flowchart: Multidocument 15">
            <a:extLst>
              <a:ext uri="{FF2B5EF4-FFF2-40B4-BE49-F238E27FC236}">
                <a16:creationId xmlns:a16="http://schemas.microsoft.com/office/drawing/2014/main" id="{45C86EA8-BE5E-13B8-055C-469034960223}"/>
              </a:ext>
            </a:extLst>
          </p:cNvPr>
          <p:cNvSpPr/>
          <p:nvPr/>
        </p:nvSpPr>
        <p:spPr>
          <a:xfrm>
            <a:off x="4375438" y="2097399"/>
            <a:ext cx="707840" cy="715793"/>
          </a:xfrm>
          <a:prstGeom prst="flowChartMultidocument">
            <a:avLst/>
          </a:prstGeom>
          <a:solidFill>
            <a:schemeClr val="accent5"/>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lowchart: Multidocument 16">
            <a:extLst>
              <a:ext uri="{FF2B5EF4-FFF2-40B4-BE49-F238E27FC236}">
                <a16:creationId xmlns:a16="http://schemas.microsoft.com/office/drawing/2014/main" id="{764F3D06-C246-AB3A-6422-758F3CB217C6}"/>
              </a:ext>
            </a:extLst>
          </p:cNvPr>
          <p:cNvSpPr/>
          <p:nvPr/>
        </p:nvSpPr>
        <p:spPr>
          <a:xfrm>
            <a:off x="4031224" y="2577578"/>
            <a:ext cx="707840" cy="715793"/>
          </a:xfrm>
          <a:prstGeom prst="flowChartMultidocument">
            <a:avLst/>
          </a:prstGeom>
          <a:solidFill>
            <a:schemeClr val="accent5"/>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E662EDC4-CBF8-9610-8BC1-F11BF5D08268}"/>
              </a:ext>
            </a:extLst>
          </p:cNvPr>
          <p:cNvCxnSpPr>
            <a:cxnSpLocks/>
          </p:cNvCxnSpPr>
          <p:nvPr/>
        </p:nvCxnSpPr>
        <p:spPr>
          <a:xfrm>
            <a:off x="4513004" y="1616360"/>
            <a:ext cx="0" cy="41150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A037EA1-67DE-8776-D0BA-A5B0B5736D76}"/>
              </a:ext>
            </a:extLst>
          </p:cNvPr>
          <p:cNvCxnSpPr>
            <a:cxnSpLocks/>
          </p:cNvCxnSpPr>
          <p:nvPr/>
        </p:nvCxnSpPr>
        <p:spPr>
          <a:xfrm>
            <a:off x="4508085" y="3223248"/>
            <a:ext cx="0" cy="41150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Parallelogram 19">
            <a:extLst>
              <a:ext uri="{FF2B5EF4-FFF2-40B4-BE49-F238E27FC236}">
                <a16:creationId xmlns:a16="http://schemas.microsoft.com/office/drawing/2014/main" id="{69EEC879-1558-D378-B2D5-EEDACD5458FC}"/>
              </a:ext>
            </a:extLst>
          </p:cNvPr>
          <p:cNvSpPr/>
          <p:nvPr/>
        </p:nvSpPr>
        <p:spPr>
          <a:xfrm>
            <a:off x="7561725" y="5642485"/>
            <a:ext cx="1356851" cy="353961"/>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C6EBC704-292C-A75E-3CB9-132EF3132F40}"/>
              </a:ext>
            </a:extLst>
          </p:cNvPr>
          <p:cNvSpPr txBox="1"/>
          <p:nvPr/>
        </p:nvSpPr>
        <p:spPr>
          <a:xfrm>
            <a:off x="6341891" y="6312912"/>
            <a:ext cx="2506135" cy="338554"/>
          </a:xfrm>
          <a:prstGeom prst="rect">
            <a:avLst/>
          </a:prstGeom>
          <a:noFill/>
        </p:spPr>
        <p:txBody>
          <a:bodyPr wrap="none" rtlCol="0">
            <a:spAutoFit/>
          </a:bodyPr>
          <a:lstStyle/>
          <a:p>
            <a:r>
              <a:rPr lang="en-US" sz="1600"/>
              <a:t>Result chunks  +  user query</a:t>
            </a:r>
            <a:endParaRPr lang="en-IN" sz="1600" dirty="0"/>
          </a:p>
        </p:txBody>
      </p:sp>
      <p:sp>
        <p:nvSpPr>
          <p:cNvPr id="22" name="TextBox 21">
            <a:extLst>
              <a:ext uri="{FF2B5EF4-FFF2-40B4-BE49-F238E27FC236}">
                <a16:creationId xmlns:a16="http://schemas.microsoft.com/office/drawing/2014/main" id="{9E02D8F5-38D7-D767-33E3-D7C4F74094A9}"/>
              </a:ext>
            </a:extLst>
          </p:cNvPr>
          <p:cNvSpPr txBox="1"/>
          <p:nvPr/>
        </p:nvSpPr>
        <p:spPr>
          <a:xfrm>
            <a:off x="275304" y="5975049"/>
            <a:ext cx="1229106" cy="369332"/>
          </a:xfrm>
          <a:prstGeom prst="rect">
            <a:avLst/>
          </a:prstGeom>
          <a:noFill/>
        </p:spPr>
        <p:txBody>
          <a:bodyPr wrap="square">
            <a:spAutoFit/>
          </a:bodyPr>
          <a:lstStyle/>
          <a:p>
            <a:r>
              <a:rPr lang="en-US" dirty="0"/>
              <a:t>user query</a:t>
            </a:r>
            <a:endParaRPr lang="en-IN" dirty="0"/>
          </a:p>
        </p:txBody>
      </p:sp>
      <p:sp>
        <p:nvSpPr>
          <p:cNvPr id="23" name="TextBox 22">
            <a:extLst>
              <a:ext uri="{FF2B5EF4-FFF2-40B4-BE49-F238E27FC236}">
                <a16:creationId xmlns:a16="http://schemas.microsoft.com/office/drawing/2014/main" id="{34DEAF85-05CC-B2BE-927E-ED703CFDDD7F}"/>
              </a:ext>
            </a:extLst>
          </p:cNvPr>
          <p:cNvSpPr txBox="1"/>
          <p:nvPr/>
        </p:nvSpPr>
        <p:spPr>
          <a:xfrm>
            <a:off x="2043980" y="5975049"/>
            <a:ext cx="1335622" cy="369332"/>
          </a:xfrm>
          <a:prstGeom prst="rect">
            <a:avLst/>
          </a:prstGeom>
          <a:noFill/>
        </p:spPr>
        <p:txBody>
          <a:bodyPr wrap="none" rtlCol="0">
            <a:spAutoFit/>
          </a:bodyPr>
          <a:lstStyle/>
          <a:p>
            <a:r>
              <a:rPr lang="en-US" dirty="0"/>
              <a:t>Embeddings</a:t>
            </a:r>
            <a:endParaRPr lang="en-IN" dirty="0"/>
          </a:p>
        </p:txBody>
      </p:sp>
      <p:sp>
        <p:nvSpPr>
          <p:cNvPr id="24" name="Rectangle: Rounded Corners 23">
            <a:extLst>
              <a:ext uri="{FF2B5EF4-FFF2-40B4-BE49-F238E27FC236}">
                <a16:creationId xmlns:a16="http://schemas.microsoft.com/office/drawing/2014/main" id="{36CD511D-C426-AA11-6B68-24D9E0465DE4}"/>
              </a:ext>
            </a:extLst>
          </p:cNvPr>
          <p:cNvSpPr/>
          <p:nvPr/>
        </p:nvSpPr>
        <p:spPr>
          <a:xfrm>
            <a:off x="6388196" y="5368413"/>
            <a:ext cx="2600265" cy="13863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993F7677-A2B8-038E-E81F-6F0952F928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8034" y="5593799"/>
            <a:ext cx="1270899" cy="749351"/>
          </a:xfrm>
          <a:prstGeom prst="rect">
            <a:avLst/>
          </a:prstGeom>
        </p:spPr>
      </p:pic>
      <p:sp>
        <p:nvSpPr>
          <p:cNvPr id="26" name="Rectangle: Rounded Corners 25">
            <a:extLst>
              <a:ext uri="{FF2B5EF4-FFF2-40B4-BE49-F238E27FC236}">
                <a16:creationId xmlns:a16="http://schemas.microsoft.com/office/drawing/2014/main" id="{88B00F06-0603-19C7-06B0-B613013F6572}"/>
              </a:ext>
            </a:extLst>
          </p:cNvPr>
          <p:cNvSpPr/>
          <p:nvPr/>
        </p:nvSpPr>
        <p:spPr>
          <a:xfrm>
            <a:off x="11071123" y="5662149"/>
            <a:ext cx="1052051" cy="528480"/>
          </a:xfrm>
          <a:prstGeom prst="roundRect">
            <a:avLst/>
          </a:prstGeom>
          <a:solidFill>
            <a:schemeClr val="tx1">
              <a:lumMod val="95000"/>
            </a:schemeClr>
          </a:solidFill>
          <a:ln>
            <a:solidFill>
              <a:schemeClr val="bg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Final output</a:t>
            </a:r>
            <a:endParaRPr lang="en-IN" sz="1400" dirty="0">
              <a:solidFill>
                <a:schemeClr val="bg1"/>
              </a:solidFill>
            </a:endParaRPr>
          </a:p>
        </p:txBody>
      </p:sp>
      <p:sp>
        <p:nvSpPr>
          <p:cNvPr id="27" name="TextBox 26">
            <a:extLst>
              <a:ext uri="{FF2B5EF4-FFF2-40B4-BE49-F238E27FC236}">
                <a16:creationId xmlns:a16="http://schemas.microsoft.com/office/drawing/2014/main" id="{DF0AD65E-63D7-29F5-6AB1-7859DB616CF5}"/>
              </a:ext>
            </a:extLst>
          </p:cNvPr>
          <p:cNvSpPr txBox="1"/>
          <p:nvPr/>
        </p:nvSpPr>
        <p:spPr>
          <a:xfrm>
            <a:off x="9865771" y="6304423"/>
            <a:ext cx="577402" cy="369332"/>
          </a:xfrm>
          <a:prstGeom prst="rect">
            <a:avLst/>
          </a:prstGeom>
          <a:noFill/>
        </p:spPr>
        <p:txBody>
          <a:bodyPr wrap="none" rtlCol="0">
            <a:spAutoFit/>
          </a:bodyPr>
          <a:lstStyle/>
          <a:p>
            <a:r>
              <a:rPr lang="en-US" dirty="0"/>
              <a:t>LLM</a:t>
            </a:r>
            <a:endParaRPr lang="en-IN" dirty="0"/>
          </a:p>
        </p:txBody>
      </p:sp>
      <p:cxnSp>
        <p:nvCxnSpPr>
          <p:cNvPr id="28" name="Straight Arrow Connector 27">
            <a:extLst>
              <a:ext uri="{FF2B5EF4-FFF2-40B4-BE49-F238E27FC236}">
                <a16:creationId xmlns:a16="http://schemas.microsoft.com/office/drawing/2014/main" id="{8E3771E6-6BCD-8C31-4AC1-3B88C7EDD09E}"/>
              </a:ext>
            </a:extLst>
          </p:cNvPr>
          <p:cNvCxnSpPr>
            <a:cxnSpLocks/>
            <a:stCxn id="6" idx="2"/>
            <a:endCxn id="7" idx="5"/>
          </p:cNvCxnSpPr>
          <p:nvPr/>
        </p:nvCxnSpPr>
        <p:spPr>
          <a:xfrm flipV="1">
            <a:off x="1587910" y="5662150"/>
            <a:ext cx="575187" cy="798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7D7C39A-3105-084D-BC28-91AF03178B9B}"/>
              </a:ext>
            </a:extLst>
          </p:cNvPr>
          <p:cNvCxnSpPr>
            <a:cxnSpLocks/>
            <a:stCxn id="7" idx="2"/>
            <a:endCxn id="12" idx="4"/>
          </p:cNvCxnSpPr>
          <p:nvPr/>
        </p:nvCxnSpPr>
        <p:spPr>
          <a:xfrm>
            <a:off x="3431458" y="5662150"/>
            <a:ext cx="1059164" cy="174517"/>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1B56B58-08BC-C245-D65F-CBF13C9687F2}"/>
              </a:ext>
            </a:extLst>
          </p:cNvPr>
          <p:cNvCxnSpPr>
            <a:cxnSpLocks/>
            <a:stCxn id="5" idx="3"/>
            <a:endCxn id="12" idx="6"/>
          </p:cNvCxnSpPr>
          <p:nvPr/>
        </p:nvCxnSpPr>
        <p:spPr>
          <a:xfrm>
            <a:off x="4513005" y="4750209"/>
            <a:ext cx="557722" cy="74294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DC52B30-F7D9-844A-2AD1-F5A3F9444C27}"/>
              </a:ext>
            </a:extLst>
          </p:cNvPr>
          <p:cNvCxnSpPr>
            <a:cxnSpLocks/>
            <a:stCxn id="12" idx="0"/>
            <a:endCxn id="14" idx="1"/>
          </p:cNvCxnSpPr>
          <p:nvPr/>
        </p:nvCxnSpPr>
        <p:spPr>
          <a:xfrm>
            <a:off x="5650831" y="5836667"/>
            <a:ext cx="953565" cy="1044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D1869A07-B48D-F080-44DA-72D90D393146}"/>
              </a:ext>
            </a:extLst>
          </p:cNvPr>
          <p:cNvCxnSpPr>
            <a:stCxn id="6" idx="0"/>
            <a:endCxn id="20" idx="0"/>
          </p:cNvCxnSpPr>
          <p:nvPr/>
        </p:nvCxnSpPr>
        <p:spPr>
          <a:xfrm rot="16200000" flipH="1">
            <a:off x="4522274" y="1924609"/>
            <a:ext cx="149331" cy="7286421"/>
          </a:xfrm>
          <a:prstGeom prst="bentConnector3">
            <a:avLst>
              <a:gd name="adj1" fmla="val -2650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5E4730E-FAD3-419D-0D80-F811CCF3A01F}"/>
              </a:ext>
            </a:extLst>
          </p:cNvPr>
          <p:cNvCxnSpPr>
            <a:cxnSpLocks/>
          </p:cNvCxnSpPr>
          <p:nvPr/>
        </p:nvCxnSpPr>
        <p:spPr>
          <a:xfrm>
            <a:off x="8993508" y="5993367"/>
            <a:ext cx="287594" cy="307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2066384-6C10-E2CB-D584-086636491637}"/>
              </a:ext>
            </a:extLst>
          </p:cNvPr>
          <p:cNvCxnSpPr>
            <a:cxnSpLocks/>
          </p:cNvCxnSpPr>
          <p:nvPr/>
        </p:nvCxnSpPr>
        <p:spPr>
          <a:xfrm>
            <a:off x="10708047" y="5993367"/>
            <a:ext cx="287594" cy="307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598D784-D080-A067-A549-CABA9E5E1DB8}"/>
              </a:ext>
            </a:extLst>
          </p:cNvPr>
          <p:cNvSpPr txBox="1"/>
          <p:nvPr/>
        </p:nvSpPr>
        <p:spPr>
          <a:xfrm>
            <a:off x="1853338" y="1288146"/>
            <a:ext cx="1293944" cy="369332"/>
          </a:xfrm>
          <a:prstGeom prst="rect">
            <a:avLst/>
          </a:prstGeom>
          <a:noFill/>
        </p:spPr>
        <p:txBody>
          <a:bodyPr wrap="none" rtlCol="0">
            <a:spAutoFit/>
          </a:bodyPr>
          <a:lstStyle/>
          <a:p>
            <a:r>
              <a:rPr lang="en-US" dirty="0"/>
              <a:t>Loaded PDF</a:t>
            </a:r>
            <a:endParaRPr lang="en-IN" dirty="0"/>
          </a:p>
        </p:txBody>
      </p:sp>
      <p:sp>
        <p:nvSpPr>
          <p:cNvPr id="36" name="TextBox 35">
            <a:extLst>
              <a:ext uri="{FF2B5EF4-FFF2-40B4-BE49-F238E27FC236}">
                <a16:creationId xmlns:a16="http://schemas.microsoft.com/office/drawing/2014/main" id="{A4A21C75-CFEF-BCE9-4ECE-E1C39F2D5D16}"/>
              </a:ext>
            </a:extLst>
          </p:cNvPr>
          <p:cNvSpPr txBox="1"/>
          <p:nvPr/>
        </p:nvSpPr>
        <p:spPr>
          <a:xfrm>
            <a:off x="7308968" y="5576286"/>
            <a:ext cx="427703" cy="369332"/>
          </a:xfrm>
          <a:prstGeom prst="rect">
            <a:avLst/>
          </a:prstGeom>
          <a:noFill/>
        </p:spPr>
        <p:txBody>
          <a:bodyPr wrap="square">
            <a:spAutoFit/>
          </a:bodyPr>
          <a:lstStyle/>
          <a:p>
            <a:r>
              <a:rPr lang="en-US" sz="1800" dirty="0"/>
              <a:t>+ </a:t>
            </a:r>
            <a:endParaRPr lang="en-IN" dirty="0"/>
          </a:p>
        </p:txBody>
      </p:sp>
      <p:pic>
        <p:nvPicPr>
          <p:cNvPr id="37" name="Picture 36">
            <a:extLst>
              <a:ext uri="{FF2B5EF4-FFF2-40B4-BE49-F238E27FC236}">
                <a16:creationId xmlns:a16="http://schemas.microsoft.com/office/drawing/2014/main" id="{D4C528CB-21CC-4B3A-0F04-C86E255F899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5304" y="298715"/>
            <a:ext cx="916800" cy="916800"/>
          </a:xfrm>
          <a:prstGeom prst="rect">
            <a:avLst/>
          </a:prstGeom>
        </p:spPr>
      </p:pic>
      <p:cxnSp>
        <p:nvCxnSpPr>
          <p:cNvPr id="38" name="Straight Arrow Connector 37">
            <a:extLst>
              <a:ext uri="{FF2B5EF4-FFF2-40B4-BE49-F238E27FC236}">
                <a16:creationId xmlns:a16="http://schemas.microsoft.com/office/drawing/2014/main" id="{EC67BE16-2BD1-9CF2-FD68-D7E0D4714A27}"/>
              </a:ext>
            </a:extLst>
          </p:cNvPr>
          <p:cNvCxnSpPr>
            <a:cxnSpLocks/>
          </p:cNvCxnSpPr>
          <p:nvPr/>
        </p:nvCxnSpPr>
        <p:spPr>
          <a:xfrm>
            <a:off x="1262216" y="753173"/>
            <a:ext cx="739878" cy="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C2CD088-059D-6BDC-7261-F9767B64D0CF}"/>
              </a:ext>
            </a:extLst>
          </p:cNvPr>
          <p:cNvSpPr txBox="1"/>
          <p:nvPr/>
        </p:nvSpPr>
        <p:spPr>
          <a:xfrm>
            <a:off x="401975" y="1280460"/>
            <a:ext cx="551754" cy="369332"/>
          </a:xfrm>
          <a:prstGeom prst="rect">
            <a:avLst/>
          </a:prstGeom>
          <a:noFill/>
        </p:spPr>
        <p:txBody>
          <a:bodyPr wrap="none" rtlCol="0">
            <a:spAutoFit/>
          </a:bodyPr>
          <a:lstStyle/>
          <a:p>
            <a:r>
              <a:rPr lang="en-US" dirty="0"/>
              <a:t>PDF</a:t>
            </a:r>
            <a:endParaRPr lang="en-IN" dirty="0"/>
          </a:p>
        </p:txBody>
      </p:sp>
      <p:sp>
        <p:nvSpPr>
          <p:cNvPr id="40" name="TextBox 39">
            <a:extLst>
              <a:ext uri="{FF2B5EF4-FFF2-40B4-BE49-F238E27FC236}">
                <a16:creationId xmlns:a16="http://schemas.microsoft.com/office/drawing/2014/main" id="{961DE53C-1BD1-391A-10DC-18844D014597}"/>
              </a:ext>
            </a:extLst>
          </p:cNvPr>
          <p:cNvSpPr txBox="1"/>
          <p:nvPr/>
        </p:nvSpPr>
        <p:spPr>
          <a:xfrm>
            <a:off x="1173861" y="252009"/>
            <a:ext cx="946028" cy="523220"/>
          </a:xfrm>
          <a:prstGeom prst="rect">
            <a:avLst/>
          </a:prstGeom>
          <a:noFill/>
        </p:spPr>
        <p:txBody>
          <a:bodyPr wrap="none" rtlCol="0">
            <a:spAutoFit/>
          </a:bodyPr>
          <a:lstStyle/>
          <a:p>
            <a:r>
              <a:rPr lang="en-US" sz="1400" dirty="0">
                <a:solidFill>
                  <a:srgbClr val="FF0000"/>
                </a:solidFill>
              </a:rPr>
              <a:t>Document</a:t>
            </a:r>
          </a:p>
          <a:p>
            <a:r>
              <a:rPr lang="en-US" sz="1400" dirty="0">
                <a:solidFill>
                  <a:srgbClr val="FF0000"/>
                </a:solidFill>
              </a:rPr>
              <a:t>Loader</a:t>
            </a:r>
            <a:endParaRPr lang="en-IN" sz="1400" dirty="0">
              <a:solidFill>
                <a:srgbClr val="FF0000"/>
              </a:solidFill>
            </a:endParaRPr>
          </a:p>
        </p:txBody>
      </p:sp>
      <p:sp>
        <p:nvSpPr>
          <p:cNvPr id="41" name="TextBox 40">
            <a:extLst>
              <a:ext uri="{FF2B5EF4-FFF2-40B4-BE49-F238E27FC236}">
                <a16:creationId xmlns:a16="http://schemas.microsoft.com/office/drawing/2014/main" id="{77C557C1-D39E-FA79-9E0D-2B7334D3FD95}"/>
              </a:ext>
            </a:extLst>
          </p:cNvPr>
          <p:cNvSpPr txBox="1"/>
          <p:nvPr/>
        </p:nvSpPr>
        <p:spPr>
          <a:xfrm>
            <a:off x="2958444" y="285608"/>
            <a:ext cx="713978" cy="523220"/>
          </a:xfrm>
          <a:prstGeom prst="rect">
            <a:avLst/>
          </a:prstGeom>
          <a:noFill/>
        </p:spPr>
        <p:txBody>
          <a:bodyPr wrap="none" rtlCol="0">
            <a:spAutoFit/>
          </a:bodyPr>
          <a:lstStyle/>
          <a:p>
            <a:r>
              <a:rPr lang="en-US" sz="1400" dirty="0">
                <a:solidFill>
                  <a:srgbClr val="FF0000"/>
                </a:solidFill>
              </a:rPr>
              <a:t>Text</a:t>
            </a:r>
          </a:p>
          <a:p>
            <a:r>
              <a:rPr lang="en-US" sz="1400" dirty="0">
                <a:solidFill>
                  <a:srgbClr val="FF0000"/>
                </a:solidFill>
              </a:rPr>
              <a:t>Splitter</a:t>
            </a:r>
            <a:endParaRPr lang="en-IN" sz="1400" dirty="0">
              <a:solidFill>
                <a:srgbClr val="FF0000"/>
              </a:solidFill>
            </a:endParaRPr>
          </a:p>
        </p:txBody>
      </p:sp>
      <p:sp>
        <p:nvSpPr>
          <p:cNvPr id="42" name="TextBox 41">
            <a:extLst>
              <a:ext uri="{FF2B5EF4-FFF2-40B4-BE49-F238E27FC236}">
                <a16:creationId xmlns:a16="http://schemas.microsoft.com/office/drawing/2014/main" id="{0F975A17-AC4B-5EF2-6E90-549F8648098F}"/>
              </a:ext>
            </a:extLst>
          </p:cNvPr>
          <p:cNvSpPr txBox="1"/>
          <p:nvPr/>
        </p:nvSpPr>
        <p:spPr>
          <a:xfrm>
            <a:off x="4559352" y="1599523"/>
            <a:ext cx="1515158" cy="307777"/>
          </a:xfrm>
          <a:prstGeom prst="rect">
            <a:avLst/>
          </a:prstGeom>
          <a:noFill/>
        </p:spPr>
        <p:txBody>
          <a:bodyPr wrap="none" rtlCol="0">
            <a:spAutoFit/>
          </a:bodyPr>
          <a:lstStyle/>
          <a:p>
            <a:r>
              <a:rPr lang="en-US" sz="1400" dirty="0">
                <a:solidFill>
                  <a:srgbClr val="FF0000"/>
                </a:solidFill>
              </a:rPr>
              <a:t>embedding model</a:t>
            </a:r>
            <a:endParaRPr lang="en-IN" sz="1400" dirty="0">
              <a:solidFill>
                <a:srgbClr val="FF0000"/>
              </a:solidFill>
            </a:endParaRPr>
          </a:p>
        </p:txBody>
      </p:sp>
      <p:sp>
        <p:nvSpPr>
          <p:cNvPr id="43" name="TextBox 42">
            <a:extLst>
              <a:ext uri="{FF2B5EF4-FFF2-40B4-BE49-F238E27FC236}">
                <a16:creationId xmlns:a16="http://schemas.microsoft.com/office/drawing/2014/main" id="{3460AE68-1AAE-AD0D-6480-8C918B9353A8}"/>
              </a:ext>
            </a:extLst>
          </p:cNvPr>
          <p:cNvSpPr txBox="1"/>
          <p:nvPr/>
        </p:nvSpPr>
        <p:spPr>
          <a:xfrm>
            <a:off x="1286401" y="5143793"/>
            <a:ext cx="1515158" cy="307777"/>
          </a:xfrm>
          <a:prstGeom prst="rect">
            <a:avLst/>
          </a:prstGeom>
          <a:noFill/>
        </p:spPr>
        <p:txBody>
          <a:bodyPr wrap="none" rtlCol="0">
            <a:spAutoFit/>
          </a:bodyPr>
          <a:lstStyle/>
          <a:p>
            <a:r>
              <a:rPr lang="en-US" sz="1400" dirty="0">
                <a:solidFill>
                  <a:srgbClr val="FF0000"/>
                </a:solidFill>
              </a:rPr>
              <a:t>embedding model</a:t>
            </a:r>
            <a:endParaRPr lang="en-IN" sz="1400" dirty="0">
              <a:solidFill>
                <a:srgbClr val="FF0000"/>
              </a:solidFill>
            </a:endParaRPr>
          </a:p>
        </p:txBody>
      </p:sp>
    </p:spTree>
    <p:extLst>
      <p:ext uri="{BB962C8B-B14F-4D97-AF65-F5344CB8AC3E}">
        <p14:creationId xmlns:p14="http://schemas.microsoft.com/office/powerpoint/2010/main" val="2893506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B299C-80E2-C5D8-A975-22CF27E1C81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DC3A898-7B0A-C8AD-08FF-6AD752AEACE1}"/>
              </a:ext>
            </a:extLst>
          </p:cNvPr>
          <p:cNvPicPr>
            <a:picLocks noChangeAspect="1"/>
          </p:cNvPicPr>
          <p:nvPr/>
        </p:nvPicPr>
        <p:blipFill>
          <a:blip r:embed="rId2"/>
          <a:stretch>
            <a:fillRect/>
          </a:stretch>
        </p:blipFill>
        <p:spPr>
          <a:xfrm>
            <a:off x="596404" y="1286850"/>
            <a:ext cx="6940071" cy="3303028"/>
          </a:xfrm>
          <a:prstGeom prst="roundRect">
            <a:avLst>
              <a:gd name="adj" fmla="val 10509"/>
            </a:avLst>
          </a:prstGeom>
        </p:spPr>
      </p:pic>
      <p:sp>
        <p:nvSpPr>
          <p:cNvPr id="8" name="TextBox 7">
            <a:extLst>
              <a:ext uri="{FF2B5EF4-FFF2-40B4-BE49-F238E27FC236}">
                <a16:creationId xmlns:a16="http://schemas.microsoft.com/office/drawing/2014/main" id="{2281D89B-D7AF-695A-2176-5B4CFFC8D9F1}"/>
              </a:ext>
            </a:extLst>
          </p:cNvPr>
          <p:cNvSpPr txBox="1"/>
          <p:nvPr/>
        </p:nvSpPr>
        <p:spPr>
          <a:xfrm>
            <a:off x="1028700" y="260896"/>
            <a:ext cx="9243060" cy="923330"/>
          </a:xfrm>
          <a:prstGeom prst="rect">
            <a:avLst/>
          </a:prstGeom>
          <a:noFill/>
        </p:spPr>
        <p:txBody>
          <a:bodyPr wrap="square">
            <a:spAutoFit/>
          </a:bodyPr>
          <a:lstStyle/>
          <a:p>
            <a:r>
              <a:rPr lang="en-US" dirty="0"/>
              <a:t>In </a:t>
            </a:r>
            <a:r>
              <a:rPr lang="en-US" dirty="0" err="1"/>
              <a:t>LangChain</a:t>
            </a:r>
            <a:r>
              <a:rPr lang="en-US" dirty="0"/>
              <a:t>, a Text Splitter is used to </a:t>
            </a:r>
            <a:r>
              <a:rPr lang="en-US" i="1" dirty="0">
                <a:solidFill>
                  <a:srgbClr val="FF0000"/>
                </a:solidFill>
              </a:rPr>
              <a:t>break long documents into smaller, manageable chunks </a:t>
            </a:r>
            <a:r>
              <a:rPr lang="en-US" dirty="0"/>
              <a:t>that can be effectively processed by a language model (LLM) — especially for tasks like embeddings, retrieval, summarization, or question answering.</a:t>
            </a:r>
            <a:endParaRPr lang="en-IN" dirty="0"/>
          </a:p>
        </p:txBody>
      </p:sp>
      <p:pic>
        <p:nvPicPr>
          <p:cNvPr id="10" name="Picture 9">
            <a:extLst>
              <a:ext uri="{FF2B5EF4-FFF2-40B4-BE49-F238E27FC236}">
                <a16:creationId xmlns:a16="http://schemas.microsoft.com/office/drawing/2014/main" id="{81CA69CF-E18C-8610-D3EB-B209F2A798B2}"/>
              </a:ext>
            </a:extLst>
          </p:cNvPr>
          <p:cNvPicPr>
            <a:picLocks noChangeAspect="1"/>
          </p:cNvPicPr>
          <p:nvPr/>
        </p:nvPicPr>
        <p:blipFill>
          <a:blip r:embed="rId3"/>
          <a:srcRect r="40830"/>
          <a:stretch>
            <a:fillRect/>
          </a:stretch>
        </p:blipFill>
        <p:spPr>
          <a:xfrm>
            <a:off x="8716826" y="981073"/>
            <a:ext cx="3367020" cy="4895854"/>
          </a:xfrm>
          <a:prstGeom prst="roundRect">
            <a:avLst>
              <a:gd name="adj" fmla="val 9659"/>
            </a:avLst>
          </a:prstGeom>
        </p:spPr>
      </p:pic>
      <p:pic>
        <p:nvPicPr>
          <p:cNvPr id="45" name="Picture 44">
            <a:extLst>
              <a:ext uri="{FF2B5EF4-FFF2-40B4-BE49-F238E27FC236}">
                <a16:creationId xmlns:a16="http://schemas.microsoft.com/office/drawing/2014/main" id="{F3EBB010-022F-1AC8-5EBD-9830741F18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89898" y="5017426"/>
            <a:ext cx="1719002" cy="1719002"/>
          </a:xfrm>
          <a:prstGeom prst="rect">
            <a:avLst/>
          </a:prstGeom>
        </p:spPr>
      </p:pic>
      <p:pic>
        <p:nvPicPr>
          <p:cNvPr id="47" name="Picture 46">
            <a:extLst>
              <a:ext uri="{FF2B5EF4-FFF2-40B4-BE49-F238E27FC236}">
                <a16:creationId xmlns:a16="http://schemas.microsoft.com/office/drawing/2014/main" id="{8D8214F5-0CAC-DD56-4D9D-591F1654D92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9258" y="5409155"/>
            <a:ext cx="1360792" cy="935544"/>
          </a:xfrm>
          <a:prstGeom prst="rect">
            <a:avLst/>
          </a:prstGeom>
        </p:spPr>
      </p:pic>
    </p:spTree>
    <p:extLst>
      <p:ext uri="{BB962C8B-B14F-4D97-AF65-F5344CB8AC3E}">
        <p14:creationId xmlns:p14="http://schemas.microsoft.com/office/powerpoint/2010/main" val="3212583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250"/>
                                        <p:tgtEl>
                                          <p:spTgt spid="3"/>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25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7"/>
                                        </p:tgtEl>
                                        <p:attrNameLst>
                                          <p:attrName>style.visibility</p:attrName>
                                        </p:attrNameLst>
                                      </p:cBhvr>
                                      <p:to>
                                        <p:strVal val="visible"/>
                                      </p:to>
                                    </p:set>
                                    <p:animEffect transition="in" filter="fade">
                                      <p:cBhvr>
                                        <p:cTn id="20" dur="250"/>
                                        <p:tgtEl>
                                          <p:spTgt spid="47"/>
                                        </p:tgtEl>
                                      </p:cBhvr>
                                    </p:animEffect>
                                  </p:childTnLst>
                                </p:cTn>
                              </p:par>
                            </p:childTnLst>
                          </p:cTn>
                        </p:par>
                        <p:par>
                          <p:cTn id="21" fill="hold">
                            <p:stCondLst>
                              <p:cond delay="250"/>
                            </p:stCondLst>
                            <p:childTnLst>
                              <p:par>
                                <p:cTn id="22" presetID="10" presetClass="entr" presetSubtype="0" fill="hold" nodeType="afterEffect">
                                  <p:stCondLst>
                                    <p:cond delay="0"/>
                                  </p:stCondLst>
                                  <p:childTnLst>
                                    <p:set>
                                      <p:cBhvr>
                                        <p:cTn id="23" dur="1" fill="hold">
                                          <p:stCondLst>
                                            <p:cond delay="0"/>
                                          </p:stCondLst>
                                        </p:cTn>
                                        <p:tgtEl>
                                          <p:spTgt spid="45"/>
                                        </p:tgtEl>
                                        <p:attrNameLst>
                                          <p:attrName>style.visibility</p:attrName>
                                        </p:attrNameLst>
                                      </p:cBhvr>
                                      <p:to>
                                        <p:strVal val="visible"/>
                                      </p:to>
                                    </p:set>
                                    <p:animEffect transition="in" filter="fade">
                                      <p:cBhvr>
                                        <p:cTn id="24" dur="2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25646-9316-B724-E7E3-AA3C7B97A0D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F395DD0-0574-A641-704B-7026F8DDCA4E}"/>
              </a:ext>
            </a:extLst>
          </p:cNvPr>
          <p:cNvSpPr txBox="1"/>
          <p:nvPr/>
        </p:nvSpPr>
        <p:spPr>
          <a:xfrm>
            <a:off x="560439" y="6323442"/>
            <a:ext cx="6096000" cy="307777"/>
          </a:xfrm>
          <a:prstGeom prst="rect">
            <a:avLst/>
          </a:prstGeom>
          <a:noFill/>
        </p:spPr>
        <p:txBody>
          <a:bodyPr wrap="square">
            <a:spAutoFit/>
          </a:bodyPr>
          <a:lstStyle/>
          <a:p>
            <a:r>
              <a:rPr lang="en-IN" sz="1400" dirty="0">
                <a:hlinkClick r:id="rId2"/>
              </a:rPr>
              <a:t>https://python.langchain.com/docs/concepts/text_splitters/#approaches</a:t>
            </a:r>
            <a:endParaRPr lang="en-IN" sz="1400" dirty="0"/>
          </a:p>
        </p:txBody>
      </p:sp>
      <p:sp>
        <p:nvSpPr>
          <p:cNvPr id="5" name="TextBox 4">
            <a:extLst>
              <a:ext uri="{FF2B5EF4-FFF2-40B4-BE49-F238E27FC236}">
                <a16:creationId xmlns:a16="http://schemas.microsoft.com/office/drawing/2014/main" id="{0DE116AA-61DD-8282-638F-A6CC3EAE396F}"/>
              </a:ext>
            </a:extLst>
          </p:cNvPr>
          <p:cNvSpPr txBox="1"/>
          <p:nvPr/>
        </p:nvSpPr>
        <p:spPr>
          <a:xfrm>
            <a:off x="1956619" y="2905780"/>
            <a:ext cx="2222090" cy="523220"/>
          </a:xfrm>
          <a:prstGeom prst="rect">
            <a:avLst/>
          </a:prstGeom>
          <a:noFill/>
        </p:spPr>
        <p:txBody>
          <a:bodyPr wrap="square">
            <a:spAutoFit/>
          </a:bodyPr>
          <a:lstStyle/>
          <a:p>
            <a:pPr algn="l">
              <a:spcAft>
                <a:spcPts val="1875"/>
              </a:spcAft>
            </a:pPr>
            <a:r>
              <a:rPr lang="en-IN" sz="2800" b="1" i="0" dirty="0">
                <a:solidFill>
                  <a:srgbClr val="E3E3E3"/>
                </a:solidFill>
                <a:effectLst/>
                <a:latin typeface="Manrope"/>
              </a:rPr>
              <a:t>Text splitters</a:t>
            </a:r>
          </a:p>
        </p:txBody>
      </p:sp>
      <p:sp>
        <p:nvSpPr>
          <p:cNvPr id="7" name="TextBox 6">
            <a:extLst>
              <a:ext uri="{FF2B5EF4-FFF2-40B4-BE49-F238E27FC236}">
                <a16:creationId xmlns:a16="http://schemas.microsoft.com/office/drawing/2014/main" id="{C3A23C10-523A-82FB-FF8E-D61343418100}"/>
              </a:ext>
            </a:extLst>
          </p:cNvPr>
          <p:cNvSpPr txBox="1"/>
          <p:nvPr/>
        </p:nvSpPr>
        <p:spPr>
          <a:xfrm>
            <a:off x="5515897" y="1454452"/>
            <a:ext cx="6096000" cy="369332"/>
          </a:xfrm>
          <a:prstGeom prst="rect">
            <a:avLst/>
          </a:prstGeom>
          <a:noFill/>
        </p:spPr>
        <p:txBody>
          <a:bodyPr wrap="square">
            <a:spAutoFit/>
          </a:bodyPr>
          <a:lstStyle/>
          <a:p>
            <a:pPr algn="l">
              <a:spcBef>
                <a:spcPts val="2250"/>
              </a:spcBef>
              <a:spcAft>
                <a:spcPts val="1500"/>
              </a:spcAft>
            </a:pPr>
            <a:r>
              <a:rPr lang="en-IN" b="1" i="0" dirty="0">
                <a:solidFill>
                  <a:srgbClr val="E3E3E3"/>
                </a:solidFill>
                <a:effectLst/>
                <a:latin typeface="Manrope"/>
              </a:rPr>
              <a:t>Length-based</a:t>
            </a:r>
          </a:p>
        </p:txBody>
      </p:sp>
      <p:sp>
        <p:nvSpPr>
          <p:cNvPr id="9" name="TextBox 8">
            <a:extLst>
              <a:ext uri="{FF2B5EF4-FFF2-40B4-BE49-F238E27FC236}">
                <a16:creationId xmlns:a16="http://schemas.microsoft.com/office/drawing/2014/main" id="{7EF7076A-1D78-4D5C-55A6-3C9D528134B8}"/>
              </a:ext>
            </a:extLst>
          </p:cNvPr>
          <p:cNvSpPr txBox="1"/>
          <p:nvPr/>
        </p:nvSpPr>
        <p:spPr>
          <a:xfrm>
            <a:off x="6096000" y="2302895"/>
            <a:ext cx="6096000" cy="369332"/>
          </a:xfrm>
          <a:prstGeom prst="rect">
            <a:avLst/>
          </a:prstGeom>
          <a:noFill/>
        </p:spPr>
        <p:txBody>
          <a:bodyPr wrap="square">
            <a:spAutoFit/>
          </a:bodyPr>
          <a:lstStyle/>
          <a:p>
            <a:pPr algn="l"/>
            <a:r>
              <a:rPr lang="en-IN" b="1" i="0" dirty="0">
                <a:solidFill>
                  <a:srgbClr val="E3E3E3"/>
                </a:solidFill>
                <a:effectLst/>
                <a:latin typeface="Manrope"/>
              </a:rPr>
              <a:t>Text-structured based</a:t>
            </a:r>
          </a:p>
        </p:txBody>
      </p:sp>
      <p:sp>
        <p:nvSpPr>
          <p:cNvPr id="11" name="TextBox 10">
            <a:extLst>
              <a:ext uri="{FF2B5EF4-FFF2-40B4-BE49-F238E27FC236}">
                <a16:creationId xmlns:a16="http://schemas.microsoft.com/office/drawing/2014/main" id="{BBEAA1D6-9031-8D81-1279-E0A78E09A292}"/>
              </a:ext>
            </a:extLst>
          </p:cNvPr>
          <p:cNvSpPr txBox="1"/>
          <p:nvPr/>
        </p:nvSpPr>
        <p:spPr>
          <a:xfrm>
            <a:off x="6096000" y="3261117"/>
            <a:ext cx="6096000" cy="369332"/>
          </a:xfrm>
          <a:prstGeom prst="rect">
            <a:avLst/>
          </a:prstGeom>
          <a:noFill/>
        </p:spPr>
        <p:txBody>
          <a:bodyPr wrap="square">
            <a:spAutoFit/>
          </a:bodyPr>
          <a:lstStyle/>
          <a:p>
            <a:pPr algn="l"/>
            <a:r>
              <a:rPr lang="en-IN" b="1" i="0" dirty="0">
                <a:solidFill>
                  <a:srgbClr val="E3E3E3"/>
                </a:solidFill>
                <a:effectLst/>
                <a:latin typeface="Manrope"/>
              </a:rPr>
              <a:t>Document-structured based</a:t>
            </a:r>
          </a:p>
        </p:txBody>
      </p:sp>
      <p:sp>
        <p:nvSpPr>
          <p:cNvPr id="13" name="TextBox 12">
            <a:extLst>
              <a:ext uri="{FF2B5EF4-FFF2-40B4-BE49-F238E27FC236}">
                <a16:creationId xmlns:a16="http://schemas.microsoft.com/office/drawing/2014/main" id="{53719B77-F445-1375-E9D8-17CE0A5D8E76}"/>
              </a:ext>
            </a:extLst>
          </p:cNvPr>
          <p:cNvSpPr txBox="1"/>
          <p:nvPr/>
        </p:nvSpPr>
        <p:spPr>
          <a:xfrm>
            <a:off x="5515897" y="4157680"/>
            <a:ext cx="6096000" cy="369332"/>
          </a:xfrm>
          <a:prstGeom prst="rect">
            <a:avLst/>
          </a:prstGeom>
          <a:noFill/>
        </p:spPr>
        <p:txBody>
          <a:bodyPr wrap="square">
            <a:spAutoFit/>
          </a:bodyPr>
          <a:lstStyle/>
          <a:p>
            <a:pPr algn="l"/>
            <a:r>
              <a:rPr lang="en-IN" b="1" i="0" dirty="0">
                <a:solidFill>
                  <a:srgbClr val="E3E3E3"/>
                </a:solidFill>
                <a:effectLst/>
                <a:latin typeface="Manrope"/>
              </a:rPr>
              <a:t>Semantic meaning based</a:t>
            </a:r>
          </a:p>
        </p:txBody>
      </p:sp>
      <p:cxnSp>
        <p:nvCxnSpPr>
          <p:cNvPr id="15" name="Straight Arrow Connector 14">
            <a:extLst>
              <a:ext uri="{FF2B5EF4-FFF2-40B4-BE49-F238E27FC236}">
                <a16:creationId xmlns:a16="http://schemas.microsoft.com/office/drawing/2014/main" id="{DBECC66A-D7F8-EC36-7F10-4D5DB52AF0BD}"/>
              </a:ext>
            </a:extLst>
          </p:cNvPr>
          <p:cNvCxnSpPr>
            <a:stCxn id="5" idx="3"/>
            <a:endCxn id="7" idx="1"/>
          </p:cNvCxnSpPr>
          <p:nvPr/>
        </p:nvCxnSpPr>
        <p:spPr>
          <a:xfrm flipV="1">
            <a:off x="4178709" y="1639118"/>
            <a:ext cx="1337188" cy="15282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B4AB09C-7C42-7429-60F1-5DFBE9A3C936}"/>
              </a:ext>
            </a:extLst>
          </p:cNvPr>
          <p:cNvCxnSpPr>
            <a:stCxn id="5" idx="3"/>
            <a:endCxn id="9" idx="1"/>
          </p:cNvCxnSpPr>
          <p:nvPr/>
        </p:nvCxnSpPr>
        <p:spPr>
          <a:xfrm flipV="1">
            <a:off x="4178709" y="2487561"/>
            <a:ext cx="1917291" cy="6798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841787A-C42B-BE02-4D2B-4A95F27BC886}"/>
              </a:ext>
            </a:extLst>
          </p:cNvPr>
          <p:cNvCxnSpPr>
            <a:stCxn id="5" idx="3"/>
            <a:endCxn id="11" idx="1"/>
          </p:cNvCxnSpPr>
          <p:nvPr/>
        </p:nvCxnSpPr>
        <p:spPr>
          <a:xfrm>
            <a:off x="4178709" y="3167390"/>
            <a:ext cx="1917291" cy="278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FF32347-9FE8-D7C0-E9A6-6075BB183034}"/>
              </a:ext>
            </a:extLst>
          </p:cNvPr>
          <p:cNvCxnSpPr>
            <a:cxnSpLocks/>
            <a:stCxn id="5" idx="3"/>
            <a:endCxn id="13" idx="1"/>
          </p:cNvCxnSpPr>
          <p:nvPr/>
        </p:nvCxnSpPr>
        <p:spPr>
          <a:xfrm>
            <a:off x="4178709" y="3167390"/>
            <a:ext cx="1337188" cy="11749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7170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50"/>
                                        <p:tgtEl>
                                          <p:spTgt spid="15"/>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50"/>
                                        <p:tgtEl>
                                          <p:spTgt spid="7"/>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250"/>
                                        <p:tgtEl>
                                          <p:spTgt spid="17"/>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250"/>
                                        <p:tgtEl>
                                          <p:spTgt spid="9"/>
                                        </p:tgtEl>
                                      </p:cBhvr>
                                    </p:animEffect>
                                  </p:childTnLst>
                                </p:cTn>
                              </p:par>
                            </p:childTnLst>
                          </p:cTn>
                        </p:par>
                        <p:par>
                          <p:cTn id="24" fill="hold">
                            <p:stCondLst>
                              <p:cond delay="1250"/>
                            </p:stCondLst>
                            <p:childTnLst>
                              <p:par>
                                <p:cTn id="25" presetID="10" presetClass="entr" presetSubtype="0"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250"/>
                                        <p:tgtEl>
                                          <p:spTgt spid="19"/>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250"/>
                                        <p:tgtEl>
                                          <p:spTgt spid="11"/>
                                        </p:tgtEl>
                                      </p:cBhvr>
                                    </p:animEffect>
                                  </p:childTnLst>
                                </p:cTn>
                              </p:par>
                            </p:childTnLst>
                          </p:cTn>
                        </p:par>
                        <p:par>
                          <p:cTn id="32" fill="hold">
                            <p:stCondLst>
                              <p:cond delay="1750"/>
                            </p:stCondLst>
                            <p:childTnLst>
                              <p:par>
                                <p:cTn id="33" presetID="10" presetClass="entr" presetSubtype="0" fill="hold" nodeType="after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250"/>
                                        <p:tgtEl>
                                          <p:spTgt spid="21"/>
                                        </p:tgtEl>
                                      </p:cBhvr>
                                    </p:animEffect>
                                  </p:childTnLst>
                                </p:cTn>
                              </p:par>
                            </p:childTnLst>
                          </p:cTn>
                        </p:par>
                        <p:par>
                          <p:cTn id="36" fill="hold">
                            <p:stCondLst>
                              <p:cond delay="2000"/>
                            </p:stCondLst>
                            <p:childTnLst>
                              <p:par>
                                <p:cTn id="37" presetID="10" presetClass="entr" presetSubtype="0"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250"/>
                                        <p:tgtEl>
                                          <p:spTgt spid="13"/>
                                        </p:tgtEl>
                                      </p:cBhvr>
                                    </p:animEffect>
                                  </p:childTnLst>
                                </p:cTn>
                              </p:par>
                            </p:childTnLst>
                          </p:cTn>
                        </p:par>
                        <p:par>
                          <p:cTn id="40" fill="hold">
                            <p:stCondLst>
                              <p:cond delay="2250"/>
                            </p:stCondLst>
                            <p:childTnLst>
                              <p:par>
                                <p:cTn id="41" presetID="10" presetClass="entr" presetSubtype="0" fill="hold" grpId="0" nodeType="after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9" grpId="0"/>
      <p:bldP spid="11"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A760C-1493-A244-D8DC-F104BA96F4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8E90F98-EB75-0EF1-C121-ED1D418834D1}"/>
              </a:ext>
            </a:extLst>
          </p:cNvPr>
          <p:cNvSpPr txBox="1"/>
          <p:nvPr/>
        </p:nvSpPr>
        <p:spPr>
          <a:xfrm>
            <a:off x="688258" y="490891"/>
            <a:ext cx="6096000" cy="400110"/>
          </a:xfrm>
          <a:prstGeom prst="rect">
            <a:avLst/>
          </a:prstGeom>
          <a:noFill/>
        </p:spPr>
        <p:txBody>
          <a:bodyPr wrap="square">
            <a:spAutoFit/>
          </a:bodyPr>
          <a:lstStyle/>
          <a:p>
            <a:pPr algn="l">
              <a:spcBef>
                <a:spcPts val="2250"/>
              </a:spcBef>
              <a:spcAft>
                <a:spcPts val="1500"/>
              </a:spcAft>
            </a:pPr>
            <a:r>
              <a:rPr lang="en-IN" sz="2000" b="1" i="0" dirty="0">
                <a:solidFill>
                  <a:srgbClr val="E3E3E3"/>
                </a:solidFill>
                <a:effectLst/>
                <a:latin typeface="Manrope"/>
              </a:rPr>
              <a:t>Length-based Text Splitter:</a:t>
            </a:r>
          </a:p>
        </p:txBody>
      </p:sp>
      <p:sp>
        <p:nvSpPr>
          <p:cNvPr id="8" name="TextBox 7">
            <a:extLst>
              <a:ext uri="{FF2B5EF4-FFF2-40B4-BE49-F238E27FC236}">
                <a16:creationId xmlns:a16="http://schemas.microsoft.com/office/drawing/2014/main" id="{C95EB6A2-A9A0-B0A7-E338-D0FB75333A7C}"/>
              </a:ext>
            </a:extLst>
          </p:cNvPr>
          <p:cNvSpPr txBox="1"/>
          <p:nvPr/>
        </p:nvSpPr>
        <p:spPr>
          <a:xfrm>
            <a:off x="3844412" y="490892"/>
            <a:ext cx="8180439" cy="1077218"/>
          </a:xfrm>
          <a:prstGeom prst="rect">
            <a:avLst/>
          </a:prstGeom>
          <a:noFill/>
        </p:spPr>
        <p:txBody>
          <a:bodyPr wrap="square">
            <a:spAutoFit/>
          </a:bodyPr>
          <a:lstStyle/>
          <a:p>
            <a:r>
              <a:rPr lang="en-US" sz="1600" dirty="0"/>
              <a:t>A Length-Based Text Splitter is a component in </a:t>
            </a:r>
            <a:r>
              <a:rPr lang="en-US" sz="1600" dirty="0" err="1"/>
              <a:t>LangChain</a:t>
            </a:r>
            <a:r>
              <a:rPr lang="en-US" sz="1600" dirty="0"/>
              <a:t> that splits large documents into smaller chunks based on a </a:t>
            </a:r>
            <a:r>
              <a:rPr lang="en-US" sz="1600" i="1" dirty="0">
                <a:solidFill>
                  <a:srgbClr val="FF0000"/>
                </a:solidFill>
              </a:rPr>
              <a:t>fixed length, which can be either: Character count (e.g., 500 characters per chunk), or Token count (e.g., 300 tokens per chunk) </a:t>
            </a:r>
            <a:r>
              <a:rPr lang="en-US" sz="1600" dirty="0"/>
              <a:t>without trying to preserve sentences, paragraphs, or semantic structure.</a:t>
            </a:r>
            <a:endParaRPr lang="en-IN" sz="1600" dirty="0"/>
          </a:p>
        </p:txBody>
      </p:sp>
      <p:pic>
        <p:nvPicPr>
          <p:cNvPr id="10" name="Picture 9">
            <a:extLst>
              <a:ext uri="{FF2B5EF4-FFF2-40B4-BE49-F238E27FC236}">
                <a16:creationId xmlns:a16="http://schemas.microsoft.com/office/drawing/2014/main" id="{7FDAA4B2-83DB-FD73-8E14-38748E0D3422}"/>
              </a:ext>
            </a:extLst>
          </p:cNvPr>
          <p:cNvPicPr>
            <a:picLocks noChangeAspect="1"/>
          </p:cNvPicPr>
          <p:nvPr/>
        </p:nvPicPr>
        <p:blipFill>
          <a:blip r:embed="rId2"/>
          <a:stretch>
            <a:fillRect/>
          </a:stretch>
        </p:blipFill>
        <p:spPr>
          <a:xfrm>
            <a:off x="79552" y="2175190"/>
            <a:ext cx="5918128" cy="4106083"/>
          </a:xfrm>
          <a:prstGeom prst="roundRect">
            <a:avLst>
              <a:gd name="adj" fmla="val 5173"/>
            </a:avLst>
          </a:prstGeom>
        </p:spPr>
      </p:pic>
      <p:pic>
        <p:nvPicPr>
          <p:cNvPr id="12" name="Picture 11">
            <a:extLst>
              <a:ext uri="{FF2B5EF4-FFF2-40B4-BE49-F238E27FC236}">
                <a16:creationId xmlns:a16="http://schemas.microsoft.com/office/drawing/2014/main" id="{70AC63BD-F112-0A51-4F16-F537C5E74303}"/>
              </a:ext>
            </a:extLst>
          </p:cNvPr>
          <p:cNvPicPr>
            <a:picLocks noChangeAspect="1"/>
          </p:cNvPicPr>
          <p:nvPr/>
        </p:nvPicPr>
        <p:blipFill>
          <a:blip r:embed="rId3"/>
          <a:stretch>
            <a:fillRect/>
          </a:stretch>
        </p:blipFill>
        <p:spPr>
          <a:xfrm>
            <a:off x="6267756" y="2175189"/>
            <a:ext cx="5835753" cy="4064079"/>
          </a:xfrm>
          <a:prstGeom prst="roundRect">
            <a:avLst>
              <a:gd name="adj" fmla="val 7593"/>
            </a:avLst>
          </a:prstGeom>
        </p:spPr>
      </p:pic>
      <p:sp>
        <p:nvSpPr>
          <p:cNvPr id="13" name="Rectangle 12">
            <a:extLst>
              <a:ext uri="{FF2B5EF4-FFF2-40B4-BE49-F238E27FC236}">
                <a16:creationId xmlns:a16="http://schemas.microsoft.com/office/drawing/2014/main" id="{2542E6F9-4AE2-1ADD-C2FE-A5BD653C751B}"/>
              </a:ext>
            </a:extLst>
          </p:cNvPr>
          <p:cNvSpPr/>
          <p:nvPr/>
        </p:nvSpPr>
        <p:spPr>
          <a:xfrm>
            <a:off x="7895303" y="4031226"/>
            <a:ext cx="1641987" cy="22614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502FA93F-ACF6-C922-5B41-DE342323AE91}"/>
              </a:ext>
            </a:extLst>
          </p:cNvPr>
          <p:cNvSpPr txBox="1"/>
          <p:nvPr/>
        </p:nvSpPr>
        <p:spPr>
          <a:xfrm>
            <a:off x="0" y="6367109"/>
            <a:ext cx="3283080" cy="369332"/>
          </a:xfrm>
          <a:prstGeom prst="rect">
            <a:avLst/>
          </a:prstGeom>
          <a:noFill/>
        </p:spPr>
        <p:txBody>
          <a:bodyPr wrap="square">
            <a:spAutoFit/>
          </a:bodyPr>
          <a:lstStyle/>
          <a:p>
            <a:r>
              <a:rPr lang="en-IN" dirty="0">
                <a:hlinkClick r:id="rId4"/>
              </a:rPr>
              <a:t>Online demo: </a:t>
            </a:r>
            <a:r>
              <a:rPr lang="en-IN" dirty="0" err="1">
                <a:hlinkClick r:id="rId4"/>
              </a:rPr>
              <a:t>ChunkViz</a:t>
            </a:r>
            <a:endParaRPr lang="en-IN" dirty="0"/>
          </a:p>
        </p:txBody>
      </p:sp>
    </p:spTree>
    <p:extLst>
      <p:ext uri="{BB962C8B-B14F-4D97-AF65-F5344CB8AC3E}">
        <p14:creationId xmlns:p14="http://schemas.microsoft.com/office/powerpoint/2010/main" val="2740050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5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250"/>
                                        <p:tgtEl>
                                          <p:spTgt spid="10"/>
                                        </p:tgtEl>
                                      </p:cBhvr>
                                    </p:animEffect>
                                  </p:childTnLst>
                                </p:cTn>
                              </p:par>
                            </p:childTnLst>
                          </p:cTn>
                        </p:par>
                        <p:par>
                          <p:cTn id="17" fill="hold">
                            <p:stCondLst>
                              <p:cond delay="250"/>
                            </p:stCondLst>
                            <p:childTnLst>
                              <p:par>
                                <p:cTn id="18" presetID="10" presetClass="entr" presetSubtype="0" fill="hold" grpId="0"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25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250"/>
                                        <p:tgtEl>
                                          <p:spTgt spid="12"/>
                                        </p:tgtEl>
                                      </p:cBhvr>
                                    </p:animEffect>
                                  </p:childTnLst>
                                </p:cTn>
                              </p:par>
                            </p:childTnLst>
                          </p:cTn>
                        </p:par>
                        <p:par>
                          <p:cTn id="26" fill="hold">
                            <p:stCondLst>
                              <p:cond delay="250"/>
                            </p:stCondLst>
                            <p:childTnLst>
                              <p:par>
                                <p:cTn id="27" presetID="10" presetClass="entr" presetSubtype="0"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13" grpId="0" animBg="1"/>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4C73C-BA7B-4E1B-B8F5-20B283BA638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561832-D662-78CF-3286-20C4BC2114D3}"/>
              </a:ext>
            </a:extLst>
          </p:cNvPr>
          <p:cNvSpPr txBox="1"/>
          <p:nvPr/>
        </p:nvSpPr>
        <p:spPr>
          <a:xfrm>
            <a:off x="688258" y="490891"/>
            <a:ext cx="6096000" cy="400110"/>
          </a:xfrm>
          <a:prstGeom prst="rect">
            <a:avLst/>
          </a:prstGeom>
          <a:noFill/>
        </p:spPr>
        <p:txBody>
          <a:bodyPr wrap="square">
            <a:spAutoFit/>
          </a:bodyPr>
          <a:lstStyle/>
          <a:p>
            <a:pPr>
              <a:spcBef>
                <a:spcPts val="2250"/>
              </a:spcBef>
              <a:spcAft>
                <a:spcPts val="1500"/>
              </a:spcAft>
            </a:pPr>
            <a:r>
              <a:rPr lang="en-IN" sz="2000" b="1" dirty="0">
                <a:solidFill>
                  <a:srgbClr val="E3E3E3"/>
                </a:solidFill>
                <a:latin typeface="Manrope"/>
              </a:rPr>
              <a:t>Text-structured based</a:t>
            </a:r>
            <a:r>
              <a:rPr lang="en-IN" sz="2000" b="1" i="0" dirty="0">
                <a:solidFill>
                  <a:srgbClr val="E3E3E3"/>
                </a:solidFill>
                <a:effectLst/>
                <a:latin typeface="Manrope"/>
              </a:rPr>
              <a:t> Text Splitter:</a:t>
            </a:r>
          </a:p>
        </p:txBody>
      </p:sp>
      <p:sp>
        <p:nvSpPr>
          <p:cNvPr id="5" name="TextBox 4">
            <a:extLst>
              <a:ext uri="{FF2B5EF4-FFF2-40B4-BE49-F238E27FC236}">
                <a16:creationId xmlns:a16="http://schemas.microsoft.com/office/drawing/2014/main" id="{5172C6AF-B0B7-5D83-F5B8-527C8F82BB20}"/>
              </a:ext>
            </a:extLst>
          </p:cNvPr>
          <p:cNvSpPr txBox="1"/>
          <p:nvPr/>
        </p:nvSpPr>
        <p:spPr>
          <a:xfrm>
            <a:off x="4680154" y="124880"/>
            <a:ext cx="7364361" cy="1077218"/>
          </a:xfrm>
          <a:prstGeom prst="rect">
            <a:avLst/>
          </a:prstGeom>
          <a:noFill/>
        </p:spPr>
        <p:txBody>
          <a:bodyPr wrap="square">
            <a:spAutoFit/>
          </a:bodyPr>
          <a:lstStyle/>
          <a:p>
            <a:r>
              <a:rPr lang="en-US" sz="1600" dirty="0"/>
              <a:t>A Text-Structured Based Text Splitter splits a large document using natural language structures—</a:t>
            </a:r>
            <a:r>
              <a:rPr lang="en-US" sz="1600" i="1" dirty="0">
                <a:solidFill>
                  <a:srgbClr val="FF0000"/>
                </a:solidFill>
              </a:rPr>
              <a:t>such as paragraphs → sentences → words → characters</a:t>
            </a:r>
            <a:r>
              <a:rPr lang="en-US" sz="1600" dirty="0"/>
              <a:t>—in order of priority. It ensures chunks stay within a size limit while preserving as much semantic meaning and readability as possible.</a:t>
            </a:r>
            <a:endParaRPr lang="en-IN" sz="1600" dirty="0"/>
          </a:p>
        </p:txBody>
      </p:sp>
      <p:pic>
        <p:nvPicPr>
          <p:cNvPr id="9" name="Picture 8">
            <a:extLst>
              <a:ext uri="{FF2B5EF4-FFF2-40B4-BE49-F238E27FC236}">
                <a16:creationId xmlns:a16="http://schemas.microsoft.com/office/drawing/2014/main" id="{FAE01951-3435-6CCB-6401-E54AC0F9B883}"/>
              </a:ext>
            </a:extLst>
          </p:cNvPr>
          <p:cNvPicPr>
            <a:picLocks noChangeAspect="1"/>
          </p:cNvPicPr>
          <p:nvPr/>
        </p:nvPicPr>
        <p:blipFill>
          <a:blip r:embed="rId2"/>
          <a:stretch>
            <a:fillRect/>
          </a:stretch>
        </p:blipFill>
        <p:spPr>
          <a:xfrm>
            <a:off x="-20128" y="2133667"/>
            <a:ext cx="4322735" cy="4493271"/>
          </a:xfrm>
          <a:prstGeom prst="rect">
            <a:avLst/>
          </a:prstGeom>
        </p:spPr>
      </p:pic>
      <p:pic>
        <p:nvPicPr>
          <p:cNvPr id="11" name="Picture 10">
            <a:extLst>
              <a:ext uri="{FF2B5EF4-FFF2-40B4-BE49-F238E27FC236}">
                <a16:creationId xmlns:a16="http://schemas.microsoft.com/office/drawing/2014/main" id="{0347BFDD-6BBD-49E7-CBC7-19EF62B23AD8}"/>
              </a:ext>
            </a:extLst>
          </p:cNvPr>
          <p:cNvPicPr>
            <a:picLocks noChangeAspect="1"/>
          </p:cNvPicPr>
          <p:nvPr/>
        </p:nvPicPr>
        <p:blipFill>
          <a:blip r:embed="rId3"/>
          <a:stretch>
            <a:fillRect/>
          </a:stretch>
        </p:blipFill>
        <p:spPr>
          <a:xfrm>
            <a:off x="4364060" y="2133668"/>
            <a:ext cx="4406311" cy="4574939"/>
          </a:xfrm>
          <a:prstGeom prst="rect">
            <a:avLst/>
          </a:prstGeom>
        </p:spPr>
      </p:pic>
      <p:pic>
        <p:nvPicPr>
          <p:cNvPr id="13" name="Picture 12">
            <a:extLst>
              <a:ext uri="{FF2B5EF4-FFF2-40B4-BE49-F238E27FC236}">
                <a16:creationId xmlns:a16="http://schemas.microsoft.com/office/drawing/2014/main" id="{A21546DB-3316-46D7-F0D6-37F15C3B3AC5}"/>
              </a:ext>
            </a:extLst>
          </p:cNvPr>
          <p:cNvPicPr>
            <a:picLocks noChangeAspect="1"/>
          </p:cNvPicPr>
          <p:nvPr/>
        </p:nvPicPr>
        <p:blipFill>
          <a:blip r:embed="rId4"/>
          <a:stretch>
            <a:fillRect/>
          </a:stretch>
        </p:blipFill>
        <p:spPr>
          <a:xfrm>
            <a:off x="8893276" y="2133669"/>
            <a:ext cx="3001266" cy="4574939"/>
          </a:xfrm>
          <a:prstGeom prst="rect">
            <a:avLst/>
          </a:prstGeom>
        </p:spPr>
      </p:pic>
      <p:pic>
        <p:nvPicPr>
          <p:cNvPr id="15" name="Picture 14">
            <a:extLst>
              <a:ext uri="{FF2B5EF4-FFF2-40B4-BE49-F238E27FC236}">
                <a16:creationId xmlns:a16="http://schemas.microsoft.com/office/drawing/2014/main" id="{95A97BBD-8D89-50AB-30F7-347FB824AF17}"/>
              </a:ext>
            </a:extLst>
          </p:cNvPr>
          <p:cNvPicPr>
            <a:picLocks noChangeAspect="1"/>
          </p:cNvPicPr>
          <p:nvPr/>
        </p:nvPicPr>
        <p:blipFill>
          <a:blip r:embed="rId5"/>
          <a:stretch>
            <a:fillRect/>
          </a:stretch>
        </p:blipFill>
        <p:spPr>
          <a:xfrm>
            <a:off x="147485" y="891001"/>
            <a:ext cx="2030362" cy="1257802"/>
          </a:xfrm>
          <a:prstGeom prst="rect">
            <a:avLst/>
          </a:prstGeom>
        </p:spPr>
      </p:pic>
      <p:sp>
        <p:nvSpPr>
          <p:cNvPr id="17" name="TextBox 16">
            <a:extLst>
              <a:ext uri="{FF2B5EF4-FFF2-40B4-BE49-F238E27FC236}">
                <a16:creationId xmlns:a16="http://schemas.microsoft.com/office/drawing/2014/main" id="{7DB95C86-B166-E208-9D81-EB77FA4B24FD}"/>
              </a:ext>
            </a:extLst>
          </p:cNvPr>
          <p:cNvSpPr txBox="1"/>
          <p:nvPr/>
        </p:nvSpPr>
        <p:spPr>
          <a:xfrm>
            <a:off x="1843548" y="5690000"/>
            <a:ext cx="2030362" cy="276999"/>
          </a:xfrm>
          <a:prstGeom prst="rect">
            <a:avLst/>
          </a:prstGeom>
          <a:noFill/>
        </p:spPr>
        <p:txBody>
          <a:bodyPr wrap="square">
            <a:spAutoFit/>
          </a:bodyPr>
          <a:lstStyle/>
          <a:p>
            <a:r>
              <a:rPr lang="en-IN" sz="1200" dirty="0">
                <a:solidFill>
                  <a:srgbClr val="FF0000"/>
                </a:solidFill>
              </a:rPr>
              <a:t>Word combinations fit size</a:t>
            </a:r>
          </a:p>
        </p:txBody>
      </p:sp>
      <p:cxnSp>
        <p:nvCxnSpPr>
          <p:cNvPr id="19" name="Straight Arrow Connector 18">
            <a:extLst>
              <a:ext uri="{FF2B5EF4-FFF2-40B4-BE49-F238E27FC236}">
                <a16:creationId xmlns:a16="http://schemas.microsoft.com/office/drawing/2014/main" id="{DAC25B65-6FDB-3920-2E17-F7081549C334}"/>
              </a:ext>
            </a:extLst>
          </p:cNvPr>
          <p:cNvCxnSpPr>
            <a:cxnSpLocks/>
            <a:stCxn id="17" idx="3"/>
          </p:cNvCxnSpPr>
          <p:nvPr/>
        </p:nvCxnSpPr>
        <p:spPr>
          <a:xfrm flipV="1">
            <a:off x="3873910" y="4502559"/>
            <a:ext cx="944890" cy="1325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6A3A98E-8814-7135-CD49-DBABDB70AE66}"/>
              </a:ext>
            </a:extLst>
          </p:cNvPr>
          <p:cNvCxnSpPr>
            <a:cxnSpLocks/>
            <a:stCxn id="17" idx="1"/>
          </p:cNvCxnSpPr>
          <p:nvPr/>
        </p:nvCxnSpPr>
        <p:spPr>
          <a:xfrm flipH="1">
            <a:off x="1327355" y="5828500"/>
            <a:ext cx="516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06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50"/>
                                        <p:tgtEl>
                                          <p:spTgt spid="5"/>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350"/>
                                        <p:tgtEl>
                                          <p:spTgt spid="15"/>
                                        </p:tgtEl>
                                      </p:cBhvr>
                                    </p:animEffect>
                                  </p:childTnLst>
                                </p:cTn>
                              </p:par>
                            </p:childTnLst>
                          </p:cTn>
                        </p:par>
                        <p:par>
                          <p:cTn id="16" fill="hold">
                            <p:stCondLst>
                              <p:cond delay="850"/>
                            </p:stCondLst>
                            <p:childTnLst>
                              <p:par>
                                <p:cTn id="17" presetID="10" presetClass="entr" presetSubtype="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350"/>
                                        <p:tgtEl>
                                          <p:spTgt spid="9"/>
                                        </p:tgtEl>
                                      </p:cBhvr>
                                    </p:animEffect>
                                  </p:childTnLst>
                                </p:cTn>
                              </p:par>
                            </p:childTnLst>
                          </p:cTn>
                        </p:par>
                        <p:par>
                          <p:cTn id="20" fill="hold">
                            <p:stCondLst>
                              <p:cond delay="1200"/>
                            </p:stCondLst>
                            <p:childTnLst>
                              <p:par>
                                <p:cTn id="21" presetID="10" presetClass="entr" presetSubtype="0" fill="hold" nodeType="afterEffect">
                                  <p:stCondLst>
                                    <p:cond delay="25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50"/>
                                        <p:tgtEl>
                                          <p:spTgt spid="11"/>
                                        </p:tgtEl>
                                      </p:cBhvr>
                                    </p:animEffect>
                                  </p:childTnLst>
                                </p:cTn>
                              </p:par>
                            </p:childTnLst>
                          </p:cTn>
                        </p:par>
                        <p:par>
                          <p:cTn id="24" fill="hold">
                            <p:stCondLst>
                              <p:cond delay="1800"/>
                            </p:stCondLst>
                            <p:childTnLst>
                              <p:par>
                                <p:cTn id="25" presetID="10" presetClass="entr" presetSubtype="0" fill="hold" nodeType="afterEffect">
                                  <p:stCondLst>
                                    <p:cond delay="25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250"/>
                                        <p:tgtEl>
                                          <p:spTgt spid="17"/>
                                        </p:tgtEl>
                                      </p:cBhvr>
                                    </p:animEffect>
                                  </p:childTnLst>
                                </p:cTn>
                              </p:par>
                            </p:childTnLst>
                          </p:cTn>
                        </p:par>
                        <p:par>
                          <p:cTn id="33" fill="hold">
                            <p:stCondLst>
                              <p:cond delay="250"/>
                            </p:stCondLst>
                            <p:childTnLst>
                              <p:par>
                                <p:cTn id="34" presetID="10" presetClass="entr" presetSubtype="0" fill="hold" nodeType="after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250"/>
                                        <p:tgtEl>
                                          <p:spTgt spid="21"/>
                                        </p:tgtEl>
                                      </p:cBhvr>
                                    </p:animEffect>
                                  </p:childTnLst>
                                </p:cTn>
                              </p:par>
                            </p:childTnLst>
                          </p:cTn>
                        </p:par>
                        <p:par>
                          <p:cTn id="37" fill="hold">
                            <p:stCondLst>
                              <p:cond delay="500"/>
                            </p:stCondLst>
                            <p:childTnLst>
                              <p:par>
                                <p:cTn id="38" presetID="10" presetClass="entr" presetSubtype="0" fill="hold" nodeType="after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7DA3F-772B-5283-9BCD-0B7EF4FBC832}"/>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1F07EA2A-4731-3F97-B1CE-33F929B2D8FD}"/>
              </a:ext>
            </a:extLst>
          </p:cNvPr>
          <p:cNvSpPr txBox="1"/>
          <p:nvPr/>
        </p:nvSpPr>
        <p:spPr>
          <a:xfrm>
            <a:off x="110677" y="1170280"/>
            <a:ext cx="4798142" cy="5819029"/>
          </a:xfrm>
          <a:prstGeom prst="rect">
            <a:avLst/>
          </a:prstGeom>
          <a:noFill/>
        </p:spPr>
        <p:txBody>
          <a:bodyPr wrap="square">
            <a:spAutoFit/>
          </a:bodyPr>
          <a:lstStyle/>
          <a:p>
            <a:pPr>
              <a:lnSpc>
                <a:spcPts val="1425"/>
              </a:lnSpc>
              <a:buNone/>
            </a:pPr>
            <a:r>
              <a:rPr lang="en-US" sz="800" b="0" dirty="0">
                <a:solidFill>
                  <a:srgbClr val="9CDCFE"/>
                </a:solidFill>
                <a:effectLst/>
                <a:latin typeface="Consolas" panose="020B0609020204030204" pitchFamily="49" charset="0"/>
              </a:rPr>
              <a:t>text</a:t>
            </a:r>
            <a:r>
              <a:rPr lang="en-US" sz="800" b="0" dirty="0">
                <a:solidFill>
                  <a:srgbClr val="CCCCCC"/>
                </a:solidFill>
                <a:effectLst/>
                <a:latin typeface="Consolas" panose="020B0609020204030204" pitchFamily="49" charset="0"/>
              </a:rPr>
              <a:t> </a:t>
            </a:r>
            <a:r>
              <a:rPr lang="en-US" sz="800" b="0" dirty="0">
                <a:solidFill>
                  <a:srgbClr val="D4D4D4"/>
                </a:solidFill>
                <a:effectLst/>
                <a:latin typeface="Consolas" panose="020B0609020204030204" pitchFamily="49" charset="0"/>
              </a:rPr>
              <a:t>=</a:t>
            </a:r>
            <a:r>
              <a:rPr lang="en-US" sz="800" b="0" dirty="0">
                <a:solidFill>
                  <a:srgbClr val="CCCCCC"/>
                </a:solidFill>
                <a:effectLst/>
                <a:latin typeface="Consolas" panose="020B0609020204030204" pitchFamily="49" charset="0"/>
              </a:rPr>
              <a:t> </a:t>
            </a:r>
            <a:r>
              <a:rPr lang="en-US" sz="800" b="0" dirty="0">
                <a:solidFill>
                  <a:srgbClr val="CE9178"/>
                </a:solidFill>
                <a:effectLst/>
                <a:latin typeface="Consolas" panose="020B0609020204030204" pitchFamily="49" charset="0"/>
              </a:rPr>
              <a:t>"""</a:t>
            </a:r>
            <a:endParaRPr lang="en-US" sz="800" b="0" dirty="0">
              <a:solidFill>
                <a:srgbClr val="CCCCCC"/>
              </a:solidFill>
              <a:effectLst/>
              <a:latin typeface="Consolas" panose="020B0609020204030204" pitchFamily="49" charset="0"/>
            </a:endParaRPr>
          </a:p>
          <a:p>
            <a:pPr>
              <a:lnSpc>
                <a:spcPts val="1425"/>
              </a:lnSpc>
              <a:buNone/>
            </a:pPr>
            <a:r>
              <a:rPr lang="en-US" sz="800" b="0" dirty="0">
                <a:solidFill>
                  <a:srgbClr val="CE9178"/>
                </a:solidFill>
                <a:effectLst/>
                <a:latin typeface="Consolas" panose="020B0609020204030204" pitchFamily="49" charset="0"/>
              </a:rPr>
              <a:t># Golden Retriever Guide</a:t>
            </a:r>
            <a:endParaRPr lang="en-US" sz="800" b="0" dirty="0">
              <a:solidFill>
                <a:srgbClr val="CCCCCC"/>
              </a:solidFill>
              <a:effectLst/>
              <a:latin typeface="Consolas" panose="020B0609020204030204" pitchFamily="49" charset="0"/>
            </a:endParaRPr>
          </a:p>
          <a:p>
            <a:pPr>
              <a:lnSpc>
                <a:spcPts val="1425"/>
              </a:lnSpc>
              <a:buNone/>
            </a:pPr>
            <a:br>
              <a:rPr lang="en-US" sz="800" b="0" dirty="0">
                <a:solidFill>
                  <a:srgbClr val="CCCCCC"/>
                </a:solidFill>
                <a:effectLst/>
                <a:latin typeface="Consolas" panose="020B0609020204030204" pitchFamily="49" charset="0"/>
              </a:rPr>
            </a:br>
            <a:r>
              <a:rPr lang="en-US" sz="800" b="0" dirty="0">
                <a:solidFill>
                  <a:srgbClr val="CE9178"/>
                </a:solidFill>
                <a:effectLst/>
                <a:latin typeface="Consolas" panose="020B0609020204030204" pitchFamily="49" charset="0"/>
              </a:rPr>
              <a:t>A well-documented guide dedicated to one of the most beloved dog breeds — the Golden Retriever. Learn about their background, appearance, and origin in a structured format.</a:t>
            </a:r>
            <a:endParaRPr lang="en-US" sz="800" b="0" dirty="0">
              <a:solidFill>
                <a:srgbClr val="CCCCCC"/>
              </a:solidFill>
              <a:effectLst/>
              <a:latin typeface="Consolas" panose="020B0609020204030204" pitchFamily="49" charset="0"/>
            </a:endParaRPr>
          </a:p>
          <a:p>
            <a:pPr>
              <a:lnSpc>
                <a:spcPts val="1425"/>
              </a:lnSpc>
              <a:buNone/>
            </a:pPr>
            <a:br>
              <a:rPr lang="en-US" sz="800" b="0" dirty="0">
                <a:solidFill>
                  <a:srgbClr val="CCCCCC"/>
                </a:solidFill>
                <a:effectLst/>
                <a:latin typeface="Consolas" panose="020B0609020204030204" pitchFamily="49" charset="0"/>
              </a:rPr>
            </a:br>
            <a:r>
              <a:rPr lang="en-US" sz="800" b="0" dirty="0">
                <a:solidFill>
                  <a:srgbClr val="CE9178"/>
                </a:solidFill>
                <a:effectLst/>
                <a:latin typeface="Consolas" panose="020B0609020204030204" pitchFamily="49" charset="0"/>
              </a:rPr>
              <a:t>## History</a:t>
            </a:r>
            <a:endParaRPr lang="en-US" sz="800" b="0" dirty="0">
              <a:solidFill>
                <a:srgbClr val="CCCCCC"/>
              </a:solidFill>
              <a:effectLst/>
              <a:latin typeface="Consolas" panose="020B0609020204030204" pitchFamily="49" charset="0"/>
            </a:endParaRPr>
          </a:p>
          <a:p>
            <a:pPr>
              <a:lnSpc>
                <a:spcPts val="1425"/>
              </a:lnSpc>
              <a:buNone/>
            </a:pPr>
            <a:br>
              <a:rPr lang="en-US" sz="800" b="0" dirty="0">
                <a:solidFill>
                  <a:srgbClr val="CCCCCC"/>
                </a:solidFill>
                <a:effectLst/>
                <a:latin typeface="Consolas" panose="020B0609020204030204" pitchFamily="49" charset="0"/>
              </a:rPr>
            </a:br>
            <a:r>
              <a:rPr lang="en-US" sz="800" b="0" dirty="0">
                <a:solidFill>
                  <a:srgbClr val="CE9178"/>
                </a:solidFill>
                <a:effectLst/>
                <a:latin typeface="Consolas" panose="020B0609020204030204" pitchFamily="49" charset="0"/>
              </a:rPr>
              <a:t>Golden Retrievers were first bred in the mid-1800s in Scotland by Lord Tweedmouth. He aimed to create the perfect hunting companion — one that was obedient, gentle, and excellent at retrieving game from both land and water. Over time, the breed gained popularity not just for hunting, but also for their affectionate nature and intelligence.</a:t>
            </a:r>
            <a:endParaRPr lang="en-US" sz="800" b="0" dirty="0">
              <a:solidFill>
                <a:srgbClr val="CCCCCC"/>
              </a:solidFill>
              <a:effectLst/>
              <a:latin typeface="Consolas" panose="020B0609020204030204" pitchFamily="49" charset="0"/>
            </a:endParaRPr>
          </a:p>
          <a:p>
            <a:pPr>
              <a:lnSpc>
                <a:spcPts val="1425"/>
              </a:lnSpc>
              <a:buNone/>
            </a:pPr>
            <a:br>
              <a:rPr lang="en-US" sz="800" b="0" dirty="0">
                <a:solidFill>
                  <a:srgbClr val="CCCCCC"/>
                </a:solidFill>
                <a:effectLst/>
                <a:latin typeface="Consolas" panose="020B0609020204030204" pitchFamily="49" charset="0"/>
              </a:rPr>
            </a:br>
            <a:r>
              <a:rPr lang="en-US" sz="800" b="0" dirty="0">
                <a:solidFill>
                  <a:srgbClr val="CE9178"/>
                </a:solidFill>
                <a:effectLst/>
                <a:latin typeface="Consolas" panose="020B0609020204030204" pitchFamily="49" charset="0"/>
              </a:rPr>
              <a:t>## Appearance</a:t>
            </a:r>
            <a:endParaRPr lang="en-US" sz="800" b="0" dirty="0">
              <a:solidFill>
                <a:srgbClr val="CCCCCC"/>
              </a:solidFill>
              <a:effectLst/>
              <a:latin typeface="Consolas" panose="020B0609020204030204" pitchFamily="49" charset="0"/>
            </a:endParaRPr>
          </a:p>
          <a:p>
            <a:pPr>
              <a:lnSpc>
                <a:spcPts val="1425"/>
              </a:lnSpc>
              <a:buNone/>
            </a:pPr>
            <a:br>
              <a:rPr lang="en-US" sz="800" b="0" dirty="0">
                <a:solidFill>
                  <a:srgbClr val="CCCCCC"/>
                </a:solidFill>
                <a:effectLst/>
                <a:latin typeface="Consolas" panose="020B0609020204030204" pitchFamily="49" charset="0"/>
              </a:rPr>
            </a:br>
            <a:r>
              <a:rPr lang="en-US" sz="800" b="0" dirty="0">
                <a:solidFill>
                  <a:srgbClr val="CE9178"/>
                </a:solidFill>
                <a:effectLst/>
                <a:latin typeface="Consolas" panose="020B0609020204030204" pitchFamily="49" charset="0"/>
              </a:rPr>
              <a:t>Golden Retrievers are medium-to-large dogs with a muscular, athletic build. They have a dense, water-resistant double coat that ranges in color from light cream to deep golden. Their expressive brown eyes, floppy ears, and signature wagging tails make them instantly lovable. Adult males typically weigh between 65–75 pounds, while females range from 55–65 pounds.</a:t>
            </a:r>
            <a:endParaRPr lang="en-US" sz="800" b="0" dirty="0">
              <a:solidFill>
                <a:srgbClr val="CCCCCC"/>
              </a:solidFill>
              <a:effectLst/>
              <a:latin typeface="Consolas" panose="020B0609020204030204" pitchFamily="49" charset="0"/>
            </a:endParaRPr>
          </a:p>
          <a:p>
            <a:pPr>
              <a:lnSpc>
                <a:spcPts val="1425"/>
              </a:lnSpc>
              <a:buNone/>
            </a:pPr>
            <a:br>
              <a:rPr lang="en-US" sz="800" b="0" dirty="0">
                <a:solidFill>
                  <a:srgbClr val="CCCCCC"/>
                </a:solidFill>
                <a:effectLst/>
                <a:latin typeface="Consolas" panose="020B0609020204030204" pitchFamily="49" charset="0"/>
              </a:rPr>
            </a:br>
            <a:r>
              <a:rPr lang="en-US" sz="800" b="0" dirty="0">
                <a:solidFill>
                  <a:srgbClr val="CE9178"/>
                </a:solidFill>
                <a:effectLst/>
                <a:latin typeface="Consolas" panose="020B0609020204030204" pitchFamily="49" charset="0"/>
              </a:rPr>
              <a:t>## Origin</a:t>
            </a:r>
            <a:endParaRPr lang="en-US" sz="800" b="0" dirty="0">
              <a:solidFill>
                <a:srgbClr val="CCCCCC"/>
              </a:solidFill>
              <a:effectLst/>
              <a:latin typeface="Consolas" panose="020B0609020204030204" pitchFamily="49" charset="0"/>
            </a:endParaRPr>
          </a:p>
          <a:p>
            <a:pPr>
              <a:lnSpc>
                <a:spcPts val="1425"/>
              </a:lnSpc>
              <a:buNone/>
            </a:pPr>
            <a:br>
              <a:rPr lang="en-US" sz="800" b="0" dirty="0">
                <a:solidFill>
                  <a:srgbClr val="CCCCCC"/>
                </a:solidFill>
                <a:effectLst/>
                <a:latin typeface="Consolas" panose="020B0609020204030204" pitchFamily="49" charset="0"/>
              </a:rPr>
            </a:br>
            <a:r>
              <a:rPr lang="en-US" sz="800" b="0" dirty="0">
                <a:solidFill>
                  <a:srgbClr val="CE9178"/>
                </a:solidFill>
                <a:effectLst/>
                <a:latin typeface="Consolas" panose="020B0609020204030204" pitchFamily="49" charset="0"/>
              </a:rPr>
              <a:t>The breed originated in the Scottish Highlands. Golden Retrievers were developed by crossing a Yellow Retriever with the now-extinct Tweed Water Spaniel, and later incorporating Bloodhound and Irish Setter traits. Their versatility made them ideal for retrieving birds during hunts, and their temperament later made them ideal family pets and service dogs worldwide.</a:t>
            </a:r>
            <a:endParaRPr lang="en-US" sz="800" b="0" dirty="0">
              <a:solidFill>
                <a:srgbClr val="CCCCCC"/>
              </a:solidFill>
              <a:effectLst/>
              <a:latin typeface="Consolas" panose="020B0609020204030204" pitchFamily="49" charset="0"/>
            </a:endParaRPr>
          </a:p>
          <a:p>
            <a:pPr>
              <a:lnSpc>
                <a:spcPts val="1425"/>
              </a:lnSpc>
            </a:pPr>
            <a:br>
              <a:rPr lang="en-US" sz="800" b="0" dirty="0">
                <a:solidFill>
                  <a:srgbClr val="CCCCCC"/>
                </a:solidFill>
                <a:effectLst/>
                <a:latin typeface="Consolas" panose="020B0609020204030204" pitchFamily="49" charset="0"/>
              </a:rPr>
            </a:br>
            <a:r>
              <a:rPr lang="en-US" sz="800" b="0" dirty="0">
                <a:solidFill>
                  <a:srgbClr val="CE9178"/>
                </a:solidFill>
                <a:effectLst/>
                <a:latin typeface="Consolas" panose="020B0609020204030204" pitchFamily="49" charset="0"/>
              </a:rPr>
              <a:t>"""</a:t>
            </a:r>
            <a:endParaRPr lang="en-US" sz="800" b="0" dirty="0">
              <a:solidFill>
                <a:srgbClr val="CCCCCC"/>
              </a:solidFill>
              <a:effectLst/>
              <a:latin typeface="Consolas" panose="020B0609020204030204" pitchFamily="49" charset="0"/>
            </a:endParaRPr>
          </a:p>
        </p:txBody>
      </p:sp>
      <p:sp>
        <p:nvSpPr>
          <p:cNvPr id="2" name="TextBox 1">
            <a:extLst>
              <a:ext uri="{FF2B5EF4-FFF2-40B4-BE49-F238E27FC236}">
                <a16:creationId xmlns:a16="http://schemas.microsoft.com/office/drawing/2014/main" id="{C1AD610D-3801-1A40-7A62-2627B20BBF72}"/>
              </a:ext>
            </a:extLst>
          </p:cNvPr>
          <p:cNvSpPr txBox="1"/>
          <p:nvPr/>
        </p:nvSpPr>
        <p:spPr>
          <a:xfrm>
            <a:off x="688258" y="490891"/>
            <a:ext cx="4572000" cy="400110"/>
          </a:xfrm>
          <a:prstGeom prst="rect">
            <a:avLst/>
          </a:prstGeom>
          <a:noFill/>
        </p:spPr>
        <p:txBody>
          <a:bodyPr wrap="square">
            <a:spAutoFit/>
          </a:bodyPr>
          <a:lstStyle/>
          <a:p>
            <a:pPr>
              <a:spcBef>
                <a:spcPts val="2250"/>
              </a:spcBef>
              <a:spcAft>
                <a:spcPts val="1500"/>
              </a:spcAft>
            </a:pPr>
            <a:r>
              <a:rPr lang="en-IN" sz="2000" b="1" dirty="0">
                <a:solidFill>
                  <a:srgbClr val="E3E3E3"/>
                </a:solidFill>
                <a:latin typeface="Manrope"/>
              </a:rPr>
              <a:t>Document-structured based </a:t>
            </a:r>
            <a:r>
              <a:rPr lang="en-IN" sz="2000" b="1" i="0" dirty="0">
                <a:solidFill>
                  <a:srgbClr val="E3E3E3"/>
                </a:solidFill>
                <a:effectLst/>
                <a:latin typeface="Manrope"/>
              </a:rPr>
              <a:t>Text Splitter:</a:t>
            </a:r>
          </a:p>
        </p:txBody>
      </p:sp>
      <p:sp>
        <p:nvSpPr>
          <p:cNvPr id="4" name="TextBox 3">
            <a:extLst>
              <a:ext uri="{FF2B5EF4-FFF2-40B4-BE49-F238E27FC236}">
                <a16:creationId xmlns:a16="http://schemas.microsoft.com/office/drawing/2014/main" id="{EE258B81-162E-75B2-9FD2-194F5F2B3B4A}"/>
              </a:ext>
            </a:extLst>
          </p:cNvPr>
          <p:cNvSpPr txBox="1"/>
          <p:nvPr/>
        </p:nvSpPr>
        <p:spPr>
          <a:xfrm>
            <a:off x="5407742" y="290836"/>
            <a:ext cx="6096000" cy="1200329"/>
          </a:xfrm>
          <a:prstGeom prst="rect">
            <a:avLst/>
          </a:prstGeom>
          <a:noFill/>
        </p:spPr>
        <p:txBody>
          <a:bodyPr wrap="square">
            <a:spAutoFit/>
          </a:bodyPr>
          <a:lstStyle/>
          <a:p>
            <a:r>
              <a:rPr lang="en-US" dirty="0"/>
              <a:t>A </a:t>
            </a:r>
            <a:r>
              <a:rPr lang="en-US" b="1" dirty="0"/>
              <a:t>Document-Structured Based Splitter</a:t>
            </a:r>
            <a:r>
              <a:rPr lang="en-US" dirty="0"/>
              <a:t> is a technique in </a:t>
            </a:r>
            <a:r>
              <a:rPr lang="en-US" dirty="0" err="1"/>
              <a:t>LangChain</a:t>
            </a:r>
            <a:r>
              <a:rPr lang="en-US" dirty="0"/>
              <a:t> where documents are split based on their </a:t>
            </a:r>
            <a:r>
              <a:rPr lang="en-US" b="1" i="1" dirty="0">
                <a:solidFill>
                  <a:srgbClr val="FF0000"/>
                </a:solidFill>
              </a:rPr>
              <a:t>inherent structure</a:t>
            </a:r>
            <a:r>
              <a:rPr lang="en-US" i="1" dirty="0">
                <a:solidFill>
                  <a:srgbClr val="FF0000"/>
                </a:solidFill>
              </a:rPr>
              <a:t>, such as HTML, Markdown, JSON or Python files</a:t>
            </a:r>
            <a:r>
              <a:rPr lang="en-US" dirty="0"/>
              <a:t>, etc., instead of just character or sentence boundaries.</a:t>
            </a:r>
            <a:endParaRPr lang="en-IN" dirty="0"/>
          </a:p>
        </p:txBody>
      </p:sp>
      <p:pic>
        <p:nvPicPr>
          <p:cNvPr id="6" name="Picture 5">
            <a:extLst>
              <a:ext uri="{FF2B5EF4-FFF2-40B4-BE49-F238E27FC236}">
                <a16:creationId xmlns:a16="http://schemas.microsoft.com/office/drawing/2014/main" id="{C51A4B05-6877-6A07-D768-D6E01E7202C3}"/>
              </a:ext>
            </a:extLst>
          </p:cNvPr>
          <p:cNvPicPr>
            <a:picLocks noChangeAspect="1"/>
          </p:cNvPicPr>
          <p:nvPr/>
        </p:nvPicPr>
        <p:blipFill>
          <a:blip r:embed="rId2"/>
          <a:stretch>
            <a:fillRect/>
          </a:stretch>
        </p:blipFill>
        <p:spPr>
          <a:xfrm>
            <a:off x="5056303" y="1848463"/>
            <a:ext cx="6798877" cy="3906035"/>
          </a:xfrm>
          <a:prstGeom prst="roundRect">
            <a:avLst>
              <a:gd name="adj" fmla="val 4666"/>
            </a:avLst>
          </a:prstGeom>
        </p:spPr>
      </p:pic>
      <p:sp>
        <p:nvSpPr>
          <p:cNvPr id="8" name="TextBox 7">
            <a:extLst>
              <a:ext uri="{FF2B5EF4-FFF2-40B4-BE49-F238E27FC236}">
                <a16:creationId xmlns:a16="http://schemas.microsoft.com/office/drawing/2014/main" id="{1C200981-50C2-E6DA-0D6B-D0C0083D2E6C}"/>
              </a:ext>
            </a:extLst>
          </p:cNvPr>
          <p:cNvSpPr txBox="1"/>
          <p:nvPr/>
        </p:nvSpPr>
        <p:spPr>
          <a:xfrm>
            <a:off x="2053810" y="1170280"/>
            <a:ext cx="6096000" cy="461665"/>
          </a:xfrm>
          <a:prstGeom prst="rect">
            <a:avLst/>
          </a:prstGeom>
          <a:noFill/>
        </p:spPr>
        <p:txBody>
          <a:bodyPr wrap="square">
            <a:spAutoFit/>
          </a:bodyPr>
          <a:lstStyle/>
          <a:p>
            <a:r>
              <a:rPr lang="en-US" sz="2400" i="1" dirty="0">
                <a:solidFill>
                  <a:srgbClr val="FF0000"/>
                </a:solidFill>
              </a:rPr>
              <a:t>Markdown</a:t>
            </a:r>
            <a:endParaRPr lang="en-IN" sz="2400" dirty="0"/>
          </a:p>
        </p:txBody>
      </p:sp>
    </p:spTree>
    <p:extLst>
      <p:ext uri="{BB962C8B-B14F-4D97-AF65-F5344CB8AC3E}">
        <p14:creationId xmlns:p14="http://schemas.microsoft.com/office/powerpoint/2010/main" val="954671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P spid="4"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C4ED6-C670-DBD7-1EA4-5B403EDBA5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816F87F-EB3E-E9C2-0A4F-1DEDB1983958}"/>
              </a:ext>
            </a:extLst>
          </p:cNvPr>
          <p:cNvSpPr txBox="1"/>
          <p:nvPr/>
        </p:nvSpPr>
        <p:spPr>
          <a:xfrm>
            <a:off x="98322" y="1551516"/>
            <a:ext cx="4365522" cy="5104921"/>
          </a:xfrm>
          <a:prstGeom prst="rect">
            <a:avLst/>
          </a:prstGeom>
          <a:noFill/>
        </p:spPr>
        <p:txBody>
          <a:bodyPr wrap="square">
            <a:spAutoFit/>
          </a:bodyPr>
          <a:lstStyle/>
          <a:p>
            <a:pPr>
              <a:lnSpc>
                <a:spcPts val="1425"/>
              </a:lnSpc>
              <a:buNone/>
            </a:pPr>
            <a:r>
              <a:rPr lang="en-IN" sz="900" b="0" dirty="0">
                <a:solidFill>
                  <a:srgbClr val="9CDCFE"/>
                </a:solidFill>
                <a:effectLst/>
                <a:latin typeface="Consolas" panose="020B0609020204030204" pitchFamily="49" charset="0"/>
              </a:rPr>
              <a:t>text</a:t>
            </a:r>
            <a:r>
              <a:rPr lang="en-IN" sz="900" b="0" dirty="0">
                <a:solidFill>
                  <a:srgbClr val="CCCCCC"/>
                </a:solidFill>
                <a:effectLst/>
                <a:latin typeface="Consolas" panose="020B0609020204030204" pitchFamily="49" charset="0"/>
              </a:rPr>
              <a:t> </a:t>
            </a:r>
            <a:r>
              <a:rPr lang="en-IN" sz="900" b="0" dirty="0">
                <a:solidFill>
                  <a:srgbClr val="D4D4D4"/>
                </a:solidFill>
                <a:effectLst/>
                <a:latin typeface="Consolas" panose="020B0609020204030204" pitchFamily="49" charset="0"/>
              </a:rPr>
              <a:t>=</a:t>
            </a:r>
            <a:r>
              <a:rPr lang="en-IN" sz="900" b="0" dirty="0">
                <a:solidFill>
                  <a:srgbClr val="CCCCCC"/>
                </a:solidFill>
                <a:effectLst/>
                <a:latin typeface="Consolas" panose="020B0609020204030204" pitchFamily="49" charset="0"/>
              </a:rPr>
              <a:t> </a:t>
            </a:r>
            <a:r>
              <a:rPr lang="en-IN" sz="900" b="0" dirty="0">
                <a:solidFill>
                  <a:srgbClr val="CE9178"/>
                </a:solidFill>
                <a:effectLst/>
                <a:latin typeface="Consolas" panose="020B0609020204030204" pitchFamily="49" charset="0"/>
              </a:rPr>
              <a:t>"""</a:t>
            </a:r>
            <a:endParaRPr lang="en-IN" sz="900" b="0" dirty="0">
              <a:solidFill>
                <a:srgbClr val="CCCCCC"/>
              </a:solidFill>
              <a:effectLst/>
              <a:latin typeface="Consolas" panose="020B0609020204030204" pitchFamily="49" charset="0"/>
            </a:endParaRPr>
          </a:p>
          <a:p>
            <a:pPr>
              <a:lnSpc>
                <a:spcPts val="1425"/>
              </a:lnSpc>
              <a:buNone/>
            </a:pPr>
            <a:r>
              <a:rPr lang="en-IN" sz="900" b="0" dirty="0">
                <a:solidFill>
                  <a:srgbClr val="CE9178"/>
                </a:solidFill>
                <a:effectLst/>
                <a:latin typeface="Consolas" panose="020B0609020204030204" pitchFamily="49" charset="0"/>
              </a:rPr>
              <a:t>class </a:t>
            </a:r>
            <a:r>
              <a:rPr lang="en-IN" sz="900" b="0" dirty="0" err="1">
                <a:solidFill>
                  <a:srgbClr val="CE9178"/>
                </a:solidFill>
                <a:effectLst/>
                <a:latin typeface="Consolas" panose="020B0609020204030204" pitchFamily="49" charset="0"/>
              </a:rPr>
              <a:t>ImageHandler</a:t>
            </a:r>
            <a:r>
              <a:rPr lang="en-IN" sz="900" b="0" dirty="0">
                <a:solidFill>
                  <a:srgbClr val="CE9178"/>
                </a:solidFill>
                <a:effectLst/>
                <a:latin typeface="Consolas" panose="020B0609020204030204" pitchFamily="49" charset="0"/>
              </a:rPr>
              <a:t>:</a:t>
            </a:r>
            <a:endParaRPr lang="en-IN" sz="900" b="0" dirty="0">
              <a:solidFill>
                <a:srgbClr val="CCCCCC"/>
              </a:solidFill>
              <a:effectLst/>
              <a:latin typeface="Consolas" panose="020B0609020204030204" pitchFamily="49" charset="0"/>
            </a:endParaRPr>
          </a:p>
          <a:p>
            <a:pPr>
              <a:lnSpc>
                <a:spcPts val="1425"/>
              </a:lnSpc>
              <a:buNone/>
            </a:pPr>
            <a:r>
              <a:rPr lang="en-IN" sz="900" b="0" dirty="0">
                <a:solidFill>
                  <a:srgbClr val="CE9178"/>
                </a:solidFill>
                <a:effectLst/>
                <a:latin typeface="Consolas" panose="020B0609020204030204" pitchFamily="49" charset="0"/>
              </a:rPr>
              <a:t>    def __</a:t>
            </a:r>
            <a:r>
              <a:rPr lang="en-IN" sz="900" b="0" dirty="0" err="1">
                <a:solidFill>
                  <a:srgbClr val="CE9178"/>
                </a:solidFill>
                <a:effectLst/>
                <a:latin typeface="Consolas" panose="020B0609020204030204" pitchFamily="49" charset="0"/>
              </a:rPr>
              <a:t>init</a:t>
            </a:r>
            <a:r>
              <a:rPr lang="en-IN" sz="900" b="0" dirty="0">
                <a:solidFill>
                  <a:srgbClr val="CE9178"/>
                </a:solidFill>
                <a:effectLst/>
                <a:latin typeface="Consolas" panose="020B0609020204030204" pitchFamily="49" charset="0"/>
              </a:rPr>
              <a:t>__(self, </a:t>
            </a:r>
            <a:r>
              <a:rPr lang="en-IN" sz="900" b="0" dirty="0" err="1">
                <a:solidFill>
                  <a:srgbClr val="CE9178"/>
                </a:solidFill>
                <a:effectLst/>
                <a:latin typeface="Consolas" panose="020B0609020204030204" pitchFamily="49" charset="0"/>
              </a:rPr>
              <a:t>image_path</a:t>
            </a:r>
            <a:r>
              <a:rPr lang="en-IN" sz="900" b="0" dirty="0">
                <a:solidFill>
                  <a:srgbClr val="CE9178"/>
                </a:solidFill>
                <a:effectLst/>
                <a:latin typeface="Consolas" panose="020B0609020204030204" pitchFamily="49" charset="0"/>
              </a:rPr>
              <a:t>):</a:t>
            </a:r>
            <a:endParaRPr lang="en-IN" sz="900" b="0" dirty="0">
              <a:solidFill>
                <a:srgbClr val="CCCCCC"/>
              </a:solidFill>
              <a:effectLst/>
              <a:latin typeface="Consolas" panose="020B0609020204030204" pitchFamily="49" charset="0"/>
            </a:endParaRPr>
          </a:p>
          <a:p>
            <a:pPr>
              <a:lnSpc>
                <a:spcPts val="1425"/>
              </a:lnSpc>
              <a:buNone/>
            </a:pPr>
            <a:r>
              <a:rPr lang="en-IN" sz="900" b="0" dirty="0">
                <a:solidFill>
                  <a:srgbClr val="CE9178"/>
                </a:solidFill>
                <a:effectLst/>
                <a:latin typeface="Consolas" panose="020B0609020204030204" pitchFamily="49" charset="0"/>
              </a:rPr>
              <a:t>        </a:t>
            </a:r>
            <a:r>
              <a:rPr lang="en-IN" sz="900" b="0" dirty="0" err="1">
                <a:solidFill>
                  <a:srgbClr val="CE9178"/>
                </a:solidFill>
                <a:effectLst/>
                <a:latin typeface="Consolas" panose="020B0609020204030204" pitchFamily="49" charset="0"/>
              </a:rPr>
              <a:t>self.image_path</a:t>
            </a:r>
            <a:r>
              <a:rPr lang="en-IN" sz="900" b="0" dirty="0">
                <a:solidFill>
                  <a:srgbClr val="CE9178"/>
                </a:solidFill>
                <a:effectLst/>
                <a:latin typeface="Consolas" panose="020B0609020204030204" pitchFamily="49" charset="0"/>
              </a:rPr>
              <a:t> = </a:t>
            </a:r>
            <a:r>
              <a:rPr lang="en-IN" sz="900" b="0" dirty="0" err="1">
                <a:solidFill>
                  <a:srgbClr val="CE9178"/>
                </a:solidFill>
                <a:effectLst/>
                <a:latin typeface="Consolas" panose="020B0609020204030204" pitchFamily="49" charset="0"/>
              </a:rPr>
              <a:t>image_path</a:t>
            </a:r>
            <a:endParaRPr lang="en-IN" sz="900" b="0" dirty="0">
              <a:solidFill>
                <a:srgbClr val="CCCCCC"/>
              </a:solidFill>
              <a:effectLst/>
              <a:latin typeface="Consolas" panose="020B0609020204030204" pitchFamily="49" charset="0"/>
            </a:endParaRPr>
          </a:p>
          <a:p>
            <a:pPr>
              <a:lnSpc>
                <a:spcPts val="1425"/>
              </a:lnSpc>
              <a:buNone/>
            </a:pPr>
            <a:r>
              <a:rPr lang="en-IN" sz="900" b="0" dirty="0">
                <a:solidFill>
                  <a:srgbClr val="CE9178"/>
                </a:solidFill>
                <a:effectLst/>
                <a:latin typeface="Consolas" panose="020B0609020204030204" pitchFamily="49" charset="0"/>
              </a:rPr>
              <a:t>        </a:t>
            </a:r>
            <a:r>
              <a:rPr lang="en-IN" sz="900" b="0" dirty="0" err="1">
                <a:solidFill>
                  <a:srgbClr val="CE9178"/>
                </a:solidFill>
                <a:effectLst/>
                <a:latin typeface="Consolas" panose="020B0609020204030204" pitchFamily="49" charset="0"/>
              </a:rPr>
              <a:t>self.image</a:t>
            </a:r>
            <a:r>
              <a:rPr lang="en-IN" sz="900" b="0" dirty="0">
                <a:solidFill>
                  <a:srgbClr val="CE9178"/>
                </a:solidFill>
                <a:effectLst/>
                <a:latin typeface="Consolas" panose="020B0609020204030204" pitchFamily="49" charset="0"/>
              </a:rPr>
              <a:t> = None</a:t>
            </a:r>
            <a:endParaRPr lang="en-IN" sz="900" b="0" dirty="0">
              <a:solidFill>
                <a:srgbClr val="CCCCCC"/>
              </a:solidFill>
              <a:effectLst/>
              <a:latin typeface="Consolas" panose="020B0609020204030204" pitchFamily="49" charset="0"/>
            </a:endParaRPr>
          </a:p>
          <a:p>
            <a:pPr>
              <a:lnSpc>
                <a:spcPts val="1425"/>
              </a:lnSpc>
              <a:buNone/>
            </a:pPr>
            <a:br>
              <a:rPr lang="en-IN" sz="900" b="0" dirty="0">
                <a:solidFill>
                  <a:srgbClr val="CCCCCC"/>
                </a:solidFill>
                <a:effectLst/>
                <a:latin typeface="Consolas" panose="020B0609020204030204" pitchFamily="49" charset="0"/>
              </a:rPr>
            </a:br>
            <a:r>
              <a:rPr lang="en-IN" sz="900" b="0" dirty="0">
                <a:solidFill>
                  <a:srgbClr val="CE9178"/>
                </a:solidFill>
                <a:effectLst/>
                <a:latin typeface="Consolas" panose="020B0609020204030204" pitchFamily="49" charset="0"/>
              </a:rPr>
              <a:t>    def </a:t>
            </a:r>
            <a:r>
              <a:rPr lang="en-IN" sz="900" b="0" dirty="0" err="1">
                <a:solidFill>
                  <a:srgbClr val="CE9178"/>
                </a:solidFill>
                <a:effectLst/>
                <a:latin typeface="Consolas" panose="020B0609020204030204" pitchFamily="49" charset="0"/>
              </a:rPr>
              <a:t>read_image</a:t>
            </a:r>
            <a:r>
              <a:rPr lang="en-IN" sz="900" b="0" dirty="0">
                <a:solidFill>
                  <a:srgbClr val="CE9178"/>
                </a:solidFill>
                <a:effectLst/>
                <a:latin typeface="Consolas" panose="020B0609020204030204" pitchFamily="49" charset="0"/>
              </a:rPr>
              <a:t>(self):</a:t>
            </a:r>
            <a:endParaRPr lang="en-IN" sz="900" b="0" dirty="0">
              <a:solidFill>
                <a:srgbClr val="CCCCCC"/>
              </a:solidFill>
              <a:effectLst/>
              <a:latin typeface="Consolas" panose="020B0609020204030204" pitchFamily="49" charset="0"/>
            </a:endParaRPr>
          </a:p>
          <a:p>
            <a:pPr>
              <a:lnSpc>
                <a:spcPts val="1425"/>
              </a:lnSpc>
              <a:buNone/>
            </a:pPr>
            <a:r>
              <a:rPr lang="en-IN" sz="900" b="0" dirty="0">
                <a:solidFill>
                  <a:srgbClr val="CE9178"/>
                </a:solidFill>
                <a:effectLst/>
                <a:latin typeface="Consolas" panose="020B0609020204030204" pitchFamily="49" charset="0"/>
              </a:rPr>
              <a:t>        </a:t>
            </a:r>
            <a:r>
              <a:rPr lang="en-IN" sz="900" b="0" dirty="0" err="1">
                <a:solidFill>
                  <a:srgbClr val="CE9178"/>
                </a:solidFill>
                <a:effectLst/>
                <a:latin typeface="Consolas" panose="020B0609020204030204" pitchFamily="49" charset="0"/>
              </a:rPr>
              <a:t>self.image</a:t>
            </a:r>
            <a:r>
              <a:rPr lang="en-IN" sz="900" b="0" dirty="0">
                <a:solidFill>
                  <a:srgbClr val="CE9178"/>
                </a:solidFill>
                <a:effectLst/>
                <a:latin typeface="Consolas" panose="020B0609020204030204" pitchFamily="49" charset="0"/>
              </a:rPr>
              <a:t> = cv2.imread(</a:t>
            </a:r>
            <a:r>
              <a:rPr lang="en-IN" sz="900" b="0" dirty="0" err="1">
                <a:solidFill>
                  <a:srgbClr val="CE9178"/>
                </a:solidFill>
                <a:effectLst/>
                <a:latin typeface="Consolas" panose="020B0609020204030204" pitchFamily="49" charset="0"/>
              </a:rPr>
              <a:t>self.image_path</a:t>
            </a:r>
            <a:r>
              <a:rPr lang="en-IN" sz="900" b="0" dirty="0">
                <a:solidFill>
                  <a:srgbClr val="CE9178"/>
                </a:solidFill>
                <a:effectLst/>
                <a:latin typeface="Consolas" panose="020B0609020204030204" pitchFamily="49" charset="0"/>
              </a:rPr>
              <a:t>)</a:t>
            </a:r>
            <a:endParaRPr lang="en-IN" sz="900" b="0" dirty="0">
              <a:solidFill>
                <a:srgbClr val="CCCCCC"/>
              </a:solidFill>
              <a:effectLst/>
              <a:latin typeface="Consolas" panose="020B0609020204030204" pitchFamily="49" charset="0"/>
            </a:endParaRPr>
          </a:p>
          <a:p>
            <a:pPr>
              <a:lnSpc>
                <a:spcPts val="1425"/>
              </a:lnSpc>
              <a:buNone/>
            </a:pPr>
            <a:r>
              <a:rPr lang="en-IN" sz="900" b="0" dirty="0">
                <a:solidFill>
                  <a:srgbClr val="CE9178"/>
                </a:solidFill>
                <a:effectLst/>
                <a:latin typeface="Consolas" panose="020B0609020204030204" pitchFamily="49" charset="0"/>
              </a:rPr>
              <a:t>        if </a:t>
            </a:r>
            <a:r>
              <a:rPr lang="en-IN" sz="900" b="0" dirty="0" err="1">
                <a:solidFill>
                  <a:srgbClr val="CE9178"/>
                </a:solidFill>
                <a:effectLst/>
                <a:latin typeface="Consolas" panose="020B0609020204030204" pitchFamily="49" charset="0"/>
              </a:rPr>
              <a:t>self.image</a:t>
            </a:r>
            <a:r>
              <a:rPr lang="en-IN" sz="900" b="0" dirty="0">
                <a:solidFill>
                  <a:srgbClr val="CE9178"/>
                </a:solidFill>
                <a:effectLst/>
                <a:latin typeface="Consolas" panose="020B0609020204030204" pitchFamily="49" charset="0"/>
              </a:rPr>
              <a:t> is not None:</a:t>
            </a:r>
            <a:endParaRPr lang="en-IN" sz="900" b="0" dirty="0">
              <a:solidFill>
                <a:srgbClr val="CCCCCC"/>
              </a:solidFill>
              <a:effectLst/>
              <a:latin typeface="Consolas" panose="020B0609020204030204" pitchFamily="49" charset="0"/>
            </a:endParaRPr>
          </a:p>
          <a:p>
            <a:pPr>
              <a:lnSpc>
                <a:spcPts val="1425"/>
              </a:lnSpc>
              <a:buNone/>
            </a:pPr>
            <a:r>
              <a:rPr lang="en-IN" sz="900" b="0" dirty="0">
                <a:solidFill>
                  <a:srgbClr val="CE9178"/>
                </a:solidFill>
                <a:effectLst/>
                <a:latin typeface="Consolas" panose="020B0609020204030204" pitchFamily="49" charset="0"/>
              </a:rPr>
              <a:t>            print("Image loaded successfully.")</a:t>
            </a:r>
            <a:endParaRPr lang="en-IN" sz="900" b="0" dirty="0">
              <a:solidFill>
                <a:srgbClr val="CCCCCC"/>
              </a:solidFill>
              <a:effectLst/>
              <a:latin typeface="Consolas" panose="020B0609020204030204" pitchFamily="49" charset="0"/>
            </a:endParaRPr>
          </a:p>
          <a:p>
            <a:pPr>
              <a:lnSpc>
                <a:spcPts val="1425"/>
              </a:lnSpc>
              <a:buNone/>
            </a:pPr>
            <a:r>
              <a:rPr lang="en-IN" sz="900" b="0" dirty="0">
                <a:solidFill>
                  <a:srgbClr val="CE9178"/>
                </a:solidFill>
                <a:effectLst/>
                <a:latin typeface="Consolas" panose="020B0609020204030204" pitchFamily="49" charset="0"/>
              </a:rPr>
              <a:t>        else:</a:t>
            </a:r>
            <a:endParaRPr lang="en-IN" sz="900" b="0" dirty="0">
              <a:solidFill>
                <a:srgbClr val="CCCCCC"/>
              </a:solidFill>
              <a:effectLst/>
              <a:latin typeface="Consolas" panose="020B0609020204030204" pitchFamily="49" charset="0"/>
            </a:endParaRPr>
          </a:p>
          <a:p>
            <a:pPr>
              <a:lnSpc>
                <a:spcPts val="1425"/>
              </a:lnSpc>
              <a:buNone/>
            </a:pPr>
            <a:r>
              <a:rPr lang="en-IN" sz="900" b="0" dirty="0">
                <a:solidFill>
                  <a:srgbClr val="CE9178"/>
                </a:solidFill>
                <a:effectLst/>
                <a:latin typeface="Consolas" panose="020B0609020204030204" pitchFamily="49" charset="0"/>
              </a:rPr>
              <a:t>            print("Failed to load image.")</a:t>
            </a:r>
            <a:endParaRPr lang="en-IN" sz="900" b="0" dirty="0">
              <a:solidFill>
                <a:srgbClr val="CCCCCC"/>
              </a:solidFill>
              <a:effectLst/>
              <a:latin typeface="Consolas" panose="020B0609020204030204" pitchFamily="49" charset="0"/>
            </a:endParaRPr>
          </a:p>
          <a:p>
            <a:pPr>
              <a:lnSpc>
                <a:spcPts val="1425"/>
              </a:lnSpc>
              <a:buNone/>
            </a:pPr>
            <a:br>
              <a:rPr lang="en-IN" sz="900" b="0" dirty="0">
                <a:solidFill>
                  <a:srgbClr val="CCCCCC"/>
                </a:solidFill>
                <a:effectLst/>
                <a:latin typeface="Consolas" panose="020B0609020204030204" pitchFamily="49" charset="0"/>
              </a:rPr>
            </a:br>
            <a:r>
              <a:rPr lang="en-IN" sz="900" b="0" dirty="0">
                <a:solidFill>
                  <a:srgbClr val="CE9178"/>
                </a:solidFill>
                <a:effectLst/>
                <a:latin typeface="Consolas" panose="020B0609020204030204" pitchFamily="49" charset="0"/>
              </a:rPr>
              <a:t>    def </a:t>
            </a:r>
            <a:r>
              <a:rPr lang="en-IN" sz="900" b="0" dirty="0" err="1">
                <a:solidFill>
                  <a:srgbClr val="CE9178"/>
                </a:solidFill>
                <a:effectLst/>
                <a:latin typeface="Consolas" panose="020B0609020204030204" pitchFamily="49" charset="0"/>
              </a:rPr>
              <a:t>save_image</a:t>
            </a:r>
            <a:r>
              <a:rPr lang="en-IN" sz="900" b="0" dirty="0">
                <a:solidFill>
                  <a:srgbClr val="CE9178"/>
                </a:solidFill>
                <a:effectLst/>
                <a:latin typeface="Consolas" panose="020B0609020204030204" pitchFamily="49" charset="0"/>
              </a:rPr>
              <a:t>(self, </a:t>
            </a:r>
            <a:r>
              <a:rPr lang="en-IN" sz="900" b="0" dirty="0" err="1">
                <a:solidFill>
                  <a:srgbClr val="CE9178"/>
                </a:solidFill>
                <a:effectLst/>
                <a:latin typeface="Consolas" panose="020B0609020204030204" pitchFamily="49" charset="0"/>
              </a:rPr>
              <a:t>save_path</a:t>
            </a:r>
            <a:r>
              <a:rPr lang="en-IN" sz="900" b="0" dirty="0">
                <a:solidFill>
                  <a:srgbClr val="CE9178"/>
                </a:solidFill>
                <a:effectLst/>
                <a:latin typeface="Consolas" panose="020B0609020204030204" pitchFamily="49" charset="0"/>
              </a:rPr>
              <a:t>):</a:t>
            </a:r>
            <a:endParaRPr lang="en-IN" sz="900" b="0" dirty="0">
              <a:solidFill>
                <a:srgbClr val="CCCCCC"/>
              </a:solidFill>
              <a:effectLst/>
              <a:latin typeface="Consolas" panose="020B0609020204030204" pitchFamily="49" charset="0"/>
            </a:endParaRPr>
          </a:p>
          <a:p>
            <a:pPr>
              <a:lnSpc>
                <a:spcPts val="1425"/>
              </a:lnSpc>
              <a:buNone/>
            </a:pPr>
            <a:r>
              <a:rPr lang="en-IN" sz="900" b="0" dirty="0">
                <a:solidFill>
                  <a:srgbClr val="CE9178"/>
                </a:solidFill>
                <a:effectLst/>
                <a:latin typeface="Consolas" panose="020B0609020204030204" pitchFamily="49" charset="0"/>
              </a:rPr>
              <a:t>        if </a:t>
            </a:r>
            <a:r>
              <a:rPr lang="en-IN" sz="900" b="0" dirty="0" err="1">
                <a:solidFill>
                  <a:srgbClr val="CE9178"/>
                </a:solidFill>
                <a:effectLst/>
                <a:latin typeface="Consolas" panose="020B0609020204030204" pitchFamily="49" charset="0"/>
              </a:rPr>
              <a:t>self.image</a:t>
            </a:r>
            <a:r>
              <a:rPr lang="en-IN" sz="900" b="0" dirty="0">
                <a:solidFill>
                  <a:srgbClr val="CE9178"/>
                </a:solidFill>
                <a:effectLst/>
                <a:latin typeface="Consolas" panose="020B0609020204030204" pitchFamily="49" charset="0"/>
              </a:rPr>
              <a:t> is not None:</a:t>
            </a:r>
            <a:endParaRPr lang="en-IN" sz="900" b="0" dirty="0">
              <a:solidFill>
                <a:srgbClr val="CCCCCC"/>
              </a:solidFill>
              <a:effectLst/>
              <a:latin typeface="Consolas" panose="020B0609020204030204" pitchFamily="49" charset="0"/>
            </a:endParaRPr>
          </a:p>
          <a:p>
            <a:pPr>
              <a:lnSpc>
                <a:spcPts val="1425"/>
              </a:lnSpc>
              <a:buNone/>
            </a:pPr>
            <a:r>
              <a:rPr lang="en-IN" sz="900" b="0" dirty="0">
                <a:solidFill>
                  <a:srgbClr val="CE9178"/>
                </a:solidFill>
                <a:effectLst/>
                <a:latin typeface="Consolas" panose="020B0609020204030204" pitchFamily="49" charset="0"/>
              </a:rPr>
              <a:t>            cv2.imwrite(</a:t>
            </a:r>
            <a:r>
              <a:rPr lang="en-IN" sz="900" b="0" dirty="0" err="1">
                <a:solidFill>
                  <a:srgbClr val="CE9178"/>
                </a:solidFill>
                <a:effectLst/>
                <a:latin typeface="Consolas" panose="020B0609020204030204" pitchFamily="49" charset="0"/>
              </a:rPr>
              <a:t>save_path</a:t>
            </a:r>
            <a:r>
              <a:rPr lang="en-IN" sz="900" b="0" dirty="0">
                <a:solidFill>
                  <a:srgbClr val="CE9178"/>
                </a:solidFill>
                <a:effectLst/>
                <a:latin typeface="Consolas" panose="020B0609020204030204" pitchFamily="49" charset="0"/>
              </a:rPr>
              <a:t>, </a:t>
            </a:r>
            <a:r>
              <a:rPr lang="en-IN" sz="900" b="0" dirty="0" err="1">
                <a:solidFill>
                  <a:srgbClr val="CE9178"/>
                </a:solidFill>
                <a:effectLst/>
                <a:latin typeface="Consolas" panose="020B0609020204030204" pitchFamily="49" charset="0"/>
              </a:rPr>
              <a:t>self.image</a:t>
            </a:r>
            <a:r>
              <a:rPr lang="en-IN" sz="900" b="0" dirty="0">
                <a:solidFill>
                  <a:srgbClr val="CE9178"/>
                </a:solidFill>
                <a:effectLst/>
                <a:latin typeface="Consolas" panose="020B0609020204030204" pitchFamily="49" charset="0"/>
              </a:rPr>
              <a:t>)</a:t>
            </a:r>
            <a:endParaRPr lang="en-IN" sz="900" b="0" dirty="0">
              <a:solidFill>
                <a:srgbClr val="CCCCCC"/>
              </a:solidFill>
              <a:effectLst/>
              <a:latin typeface="Consolas" panose="020B0609020204030204" pitchFamily="49" charset="0"/>
            </a:endParaRPr>
          </a:p>
          <a:p>
            <a:pPr>
              <a:lnSpc>
                <a:spcPts val="1425"/>
              </a:lnSpc>
              <a:buNone/>
            </a:pPr>
            <a:r>
              <a:rPr lang="en-IN" sz="900" b="0" dirty="0">
                <a:solidFill>
                  <a:srgbClr val="CE9178"/>
                </a:solidFill>
                <a:effectLst/>
                <a:latin typeface="Consolas" panose="020B0609020204030204" pitchFamily="49" charset="0"/>
              </a:rPr>
              <a:t>            print(</a:t>
            </a:r>
            <a:r>
              <a:rPr lang="en-IN" sz="900" b="0" dirty="0" err="1">
                <a:solidFill>
                  <a:srgbClr val="CE9178"/>
                </a:solidFill>
                <a:effectLst/>
                <a:latin typeface="Consolas" panose="020B0609020204030204" pitchFamily="49" charset="0"/>
              </a:rPr>
              <a:t>f"Image</a:t>
            </a:r>
            <a:r>
              <a:rPr lang="en-IN" sz="900" b="0" dirty="0">
                <a:solidFill>
                  <a:srgbClr val="CE9178"/>
                </a:solidFill>
                <a:effectLst/>
                <a:latin typeface="Consolas" panose="020B0609020204030204" pitchFamily="49" charset="0"/>
              </a:rPr>
              <a:t> saved at </a:t>
            </a:r>
            <a:r>
              <a:rPr lang="en-IN" sz="900" b="0" dirty="0">
                <a:solidFill>
                  <a:srgbClr val="569CD6"/>
                </a:solidFill>
                <a:effectLst/>
                <a:latin typeface="Consolas" panose="020B0609020204030204" pitchFamily="49" charset="0"/>
              </a:rPr>
              <a:t>{</a:t>
            </a:r>
            <a:r>
              <a:rPr lang="en-IN" sz="900" b="0" dirty="0" err="1">
                <a:solidFill>
                  <a:srgbClr val="569CD6"/>
                </a:solidFill>
                <a:effectLst/>
                <a:latin typeface="Consolas" panose="020B0609020204030204" pitchFamily="49" charset="0"/>
              </a:rPr>
              <a:t>save_path</a:t>
            </a:r>
            <a:r>
              <a:rPr lang="en-IN" sz="900" b="0" dirty="0">
                <a:solidFill>
                  <a:srgbClr val="569CD6"/>
                </a:solidFill>
                <a:effectLst/>
                <a:latin typeface="Consolas" panose="020B0609020204030204" pitchFamily="49" charset="0"/>
              </a:rPr>
              <a:t>}</a:t>
            </a:r>
            <a:r>
              <a:rPr lang="en-IN" sz="900" b="0" dirty="0">
                <a:solidFill>
                  <a:srgbClr val="CE9178"/>
                </a:solidFill>
                <a:effectLst/>
                <a:latin typeface="Consolas" panose="020B0609020204030204" pitchFamily="49" charset="0"/>
              </a:rPr>
              <a:t>.")</a:t>
            </a:r>
            <a:endParaRPr lang="en-IN" sz="900" b="0" dirty="0">
              <a:solidFill>
                <a:srgbClr val="CCCCCC"/>
              </a:solidFill>
              <a:effectLst/>
              <a:latin typeface="Consolas" panose="020B0609020204030204" pitchFamily="49" charset="0"/>
            </a:endParaRPr>
          </a:p>
          <a:p>
            <a:pPr>
              <a:lnSpc>
                <a:spcPts val="1425"/>
              </a:lnSpc>
              <a:buNone/>
            </a:pPr>
            <a:r>
              <a:rPr lang="en-IN" sz="900" b="0" dirty="0">
                <a:solidFill>
                  <a:srgbClr val="CE9178"/>
                </a:solidFill>
                <a:effectLst/>
                <a:latin typeface="Consolas" panose="020B0609020204030204" pitchFamily="49" charset="0"/>
              </a:rPr>
              <a:t>        else:</a:t>
            </a:r>
            <a:endParaRPr lang="en-IN" sz="900" b="0" dirty="0">
              <a:solidFill>
                <a:srgbClr val="CCCCCC"/>
              </a:solidFill>
              <a:effectLst/>
              <a:latin typeface="Consolas" panose="020B0609020204030204" pitchFamily="49" charset="0"/>
            </a:endParaRPr>
          </a:p>
          <a:p>
            <a:pPr>
              <a:lnSpc>
                <a:spcPts val="1425"/>
              </a:lnSpc>
              <a:buNone/>
            </a:pPr>
            <a:r>
              <a:rPr lang="en-IN" sz="900" b="0" dirty="0">
                <a:solidFill>
                  <a:srgbClr val="CE9178"/>
                </a:solidFill>
                <a:effectLst/>
                <a:latin typeface="Consolas" panose="020B0609020204030204" pitchFamily="49" charset="0"/>
              </a:rPr>
              <a:t>            print("No image to save. Please read an image first.")</a:t>
            </a:r>
            <a:endParaRPr lang="en-IN" sz="900" b="0" dirty="0">
              <a:solidFill>
                <a:srgbClr val="CCCCCC"/>
              </a:solidFill>
              <a:effectLst/>
              <a:latin typeface="Consolas" panose="020B0609020204030204" pitchFamily="49" charset="0"/>
            </a:endParaRPr>
          </a:p>
          <a:p>
            <a:pPr>
              <a:lnSpc>
                <a:spcPts val="1425"/>
              </a:lnSpc>
              <a:buNone/>
            </a:pPr>
            <a:br>
              <a:rPr lang="en-IN" sz="900" b="0" dirty="0">
                <a:solidFill>
                  <a:srgbClr val="CCCCCC"/>
                </a:solidFill>
                <a:effectLst/>
                <a:latin typeface="Consolas" panose="020B0609020204030204" pitchFamily="49" charset="0"/>
              </a:rPr>
            </a:br>
            <a:r>
              <a:rPr lang="en-IN" sz="900" b="0" dirty="0">
                <a:solidFill>
                  <a:srgbClr val="CE9178"/>
                </a:solidFill>
                <a:effectLst/>
                <a:latin typeface="Consolas" panose="020B0609020204030204" pitchFamily="49" charset="0"/>
              </a:rPr>
              <a:t># Example usage</a:t>
            </a:r>
            <a:endParaRPr lang="en-IN" sz="900" b="0" dirty="0">
              <a:solidFill>
                <a:srgbClr val="CCCCCC"/>
              </a:solidFill>
              <a:effectLst/>
              <a:latin typeface="Consolas" panose="020B0609020204030204" pitchFamily="49" charset="0"/>
            </a:endParaRPr>
          </a:p>
          <a:p>
            <a:pPr>
              <a:lnSpc>
                <a:spcPts val="1425"/>
              </a:lnSpc>
              <a:buNone/>
            </a:pPr>
            <a:r>
              <a:rPr lang="en-IN" sz="900" b="0" dirty="0">
                <a:solidFill>
                  <a:srgbClr val="CE9178"/>
                </a:solidFill>
                <a:effectLst/>
                <a:latin typeface="Consolas" panose="020B0609020204030204" pitchFamily="49" charset="0"/>
              </a:rPr>
              <a:t>handler = </a:t>
            </a:r>
            <a:r>
              <a:rPr lang="en-IN" sz="900" b="0" dirty="0" err="1">
                <a:solidFill>
                  <a:srgbClr val="CE9178"/>
                </a:solidFill>
                <a:effectLst/>
                <a:latin typeface="Consolas" panose="020B0609020204030204" pitchFamily="49" charset="0"/>
              </a:rPr>
              <a:t>ImageHandler</a:t>
            </a:r>
            <a:r>
              <a:rPr lang="en-IN" sz="900" b="0" dirty="0">
                <a:solidFill>
                  <a:srgbClr val="CE9178"/>
                </a:solidFill>
                <a:effectLst/>
                <a:latin typeface="Consolas" panose="020B0609020204030204" pitchFamily="49" charset="0"/>
              </a:rPr>
              <a:t>("dog.jpg")</a:t>
            </a:r>
            <a:endParaRPr lang="en-IN" sz="900" b="0" dirty="0">
              <a:solidFill>
                <a:srgbClr val="CCCCCC"/>
              </a:solidFill>
              <a:effectLst/>
              <a:latin typeface="Consolas" panose="020B0609020204030204" pitchFamily="49" charset="0"/>
            </a:endParaRPr>
          </a:p>
          <a:p>
            <a:pPr>
              <a:lnSpc>
                <a:spcPts val="1425"/>
              </a:lnSpc>
              <a:buNone/>
            </a:pPr>
            <a:r>
              <a:rPr lang="en-IN" sz="900" b="0" dirty="0" err="1">
                <a:solidFill>
                  <a:srgbClr val="CE9178"/>
                </a:solidFill>
                <a:effectLst/>
                <a:latin typeface="Consolas" panose="020B0609020204030204" pitchFamily="49" charset="0"/>
              </a:rPr>
              <a:t>handler.read_image</a:t>
            </a:r>
            <a:r>
              <a:rPr lang="en-IN" sz="900" b="0" dirty="0">
                <a:solidFill>
                  <a:srgbClr val="CE9178"/>
                </a:solidFill>
                <a:effectLst/>
                <a:latin typeface="Consolas" panose="020B0609020204030204" pitchFamily="49" charset="0"/>
              </a:rPr>
              <a:t>()</a:t>
            </a:r>
            <a:endParaRPr lang="en-IN" sz="900" b="0" dirty="0">
              <a:solidFill>
                <a:srgbClr val="CCCCCC"/>
              </a:solidFill>
              <a:effectLst/>
              <a:latin typeface="Consolas" panose="020B0609020204030204" pitchFamily="49" charset="0"/>
            </a:endParaRPr>
          </a:p>
          <a:p>
            <a:pPr>
              <a:lnSpc>
                <a:spcPts val="1425"/>
              </a:lnSpc>
              <a:buNone/>
            </a:pPr>
            <a:r>
              <a:rPr lang="en-IN" sz="900" b="0" dirty="0" err="1">
                <a:solidFill>
                  <a:srgbClr val="CE9178"/>
                </a:solidFill>
                <a:effectLst/>
                <a:latin typeface="Consolas" panose="020B0609020204030204" pitchFamily="49" charset="0"/>
              </a:rPr>
              <a:t>handler.save_image</a:t>
            </a:r>
            <a:r>
              <a:rPr lang="en-IN" sz="900" b="0" dirty="0">
                <a:solidFill>
                  <a:srgbClr val="CE9178"/>
                </a:solidFill>
                <a:effectLst/>
                <a:latin typeface="Consolas" panose="020B0609020204030204" pitchFamily="49" charset="0"/>
              </a:rPr>
              <a:t>("saved_dog.jpg")</a:t>
            </a:r>
            <a:endParaRPr lang="en-IN" sz="900" b="0" dirty="0">
              <a:solidFill>
                <a:srgbClr val="CCCCCC"/>
              </a:solidFill>
              <a:effectLst/>
              <a:latin typeface="Consolas" panose="020B0609020204030204" pitchFamily="49" charset="0"/>
            </a:endParaRPr>
          </a:p>
          <a:p>
            <a:pPr>
              <a:lnSpc>
                <a:spcPts val="1425"/>
              </a:lnSpc>
            </a:pPr>
            <a:br>
              <a:rPr lang="en-IN" sz="900" b="0" dirty="0">
                <a:solidFill>
                  <a:srgbClr val="CCCCCC"/>
                </a:solidFill>
                <a:effectLst/>
                <a:latin typeface="Consolas" panose="020B0609020204030204" pitchFamily="49" charset="0"/>
              </a:rPr>
            </a:br>
            <a:r>
              <a:rPr lang="en-IN" sz="900" b="0" dirty="0">
                <a:solidFill>
                  <a:srgbClr val="CE9178"/>
                </a:solidFill>
                <a:effectLst/>
                <a:latin typeface="Consolas" panose="020B0609020204030204" pitchFamily="49" charset="0"/>
              </a:rPr>
              <a:t>"""</a:t>
            </a:r>
            <a:endParaRPr lang="en-IN" sz="900" b="0" dirty="0">
              <a:solidFill>
                <a:srgbClr val="CCCCCC"/>
              </a:solidFill>
              <a:effectLst/>
              <a:latin typeface="Consolas" panose="020B0609020204030204" pitchFamily="49" charset="0"/>
            </a:endParaRPr>
          </a:p>
        </p:txBody>
      </p:sp>
      <p:sp>
        <p:nvSpPr>
          <p:cNvPr id="5" name="TextBox 4">
            <a:extLst>
              <a:ext uri="{FF2B5EF4-FFF2-40B4-BE49-F238E27FC236}">
                <a16:creationId xmlns:a16="http://schemas.microsoft.com/office/drawing/2014/main" id="{20B82157-8078-0B7B-0F73-3F5948FCABE4}"/>
              </a:ext>
            </a:extLst>
          </p:cNvPr>
          <p:cNvSpPr txBox="1"/>
          <p:nvPr/>
        </p:nvSpPr>
        <p:spPr>
          <a:xfrm>
            <a:off x="216310" y="503593"/>
            <a:ext cx="6096000" cy="461665"/>
          </a:xfrm>
          <a:prstGeom prst="rect">
            <a:avLst/>
          </a:prstGeom>
          <a:noFill/>
        </p:spPr>
        <p:txBody>
          <a:bodyPr wrap="square">
            <a:spAutoFit/>
          </a:bodyPr>
          <a:lstStyle/>
          <a:p>
            <a:r>
              <a:rPr lang="en-US" sz="2400" i="1" dirty="0">
                <a:solidFill>
                  <a:srgbClr val="FF0000"/>
                </a:solidFill>
              </a:rPr>
              <a:t>Python files</a:t>
            </a:r>
            <a:endParaRPr lang="en-IN" sz="2400" dirty="0"/>
          </a:p>
        </p:txBody>
      </p:sp>
      <p:pic>
        <p:nvPicPr>
          <p:cNvPr id="7" name="Picture 6">
            <a:extLst>
              <a:ext uri="{FF2B5EF4-FFF2-40B4-BE49-F238E27FC236}">
                <a16:creationId xmlns:a16="http://schemas.microsoft.com/office/drawing/2014/main" id="{9DCDDA6A-BA59-4379-E58B-AC9F61E14F4D}"/>
              </a:ext>
            </a:extLst>
          </p:cNvPr>
          <p:cNvPicPr>
            <a:picLocks noChangeAspect="1"/>
          </p:cNvPicPr>
          <p:nvPr/>
        </p:nvPicPr>
        <p:blipFill>
          <a:blip r:embed="rId2"/>
          <a:stretch>
            <a:fillRect/>
          </a:stretch>
        </p:blipFill>
        <p:spPr>
          <a:xfrm>
            <a:off x="4039631" y="965258"/>
            <a:ext cx="8054047" cy="4901009"/>
          </a:xfrm>
          <a:prstGeom prst="roundRect">
            <a:avLst>
              <a:gd name="adj" fmla="val 6837"/>
            </a:avLst>
          </a:prstGeom>
        </p:spPr>
      </p:pic>
    </p:spTree>
    <p:extLst>
      <p:ext uri="{BB962C8B-B14F-4D97-AF65-F5344CB8AC3E}">
        <p14:creationId xmlns:p14="http://schemas.microsoft.com/office/powerpoint/2010/main" val="3202824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A1339-9205-8B7E-939C-BA94CC82E7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318E07-5EF9-5824-AE7B-E79C1F66D9EF}"/>
              </a:ext>
            </a:extLst>
          </p:cNvPr>
          <p:cNvSpPr txBox="1"/>
          <p:nvPr/>
        </p:nvSpPr>
        <p:spPr>
          <a:xfrm>
            <a:off x="688258" y="520388"/>
            <a:ext cx="4572000" cy="400110"/>
          </a:xfrm>
          <a:prstGeom prst="rect">
            <a:avLst/>
          </a:prstGeom>
          <a:noFill/>
        </p:spPr>
        <p:txBody>
          <a:bodyPr wrap="square">
            <a:spAutoFit/>
          </a:bodyPr>
          <a:lstStyle/>
          <a:p>
            <a:pPr>
              <a:spcBef>
                <a:spcPts val="2250"/>
              </a:spcBef>
              <a:spcAft>
                <a:spcPts val="1500"/>
              </a:spcAft>
            </a:pPr>
            <a:r>
              <a:rPr lang="en-IN" sz="2000" b="1" dirty="0">
                <a:solidFill>
                  <a:srgbClr val="E3E3E3"/>
                </a:solidFill>
                <a:latin typeface="Manrope"/>
              </a:rPr>
              <a:t>Semantic meaning based </a:t>
            </a:r>
            <a:r>
              <a:rPr lang="en-IN" sz="2000" b="1" i="0" dirty="0">
                <a:solidFill>
                  <a:srgbClr val="E3E3E3"/>
                </a:solidFill>
                <a:effectLst/>
                <a:latin typeface="Manrope"/>
              </a:rPr>
              <a:t>Text Splitter:</a:t>
            </a:r>
          </a:p>
        </p:txBody>
      </p:sp>
      <p:sp>
        <p:nvSpPr>
          <p:cNvPr id="4" name="TextBox 3">
            <a:extLst>
              <a:ext uri="{FF2B5EF4-FFF2-40B4-BE49-F238E27FC236}">
                <a16:creationId xmlns:a16="http://schemas.microsoft.com/office/drawing/2014/main" id="{648E1E6F-E289-EF5A-5C35-12A53B2F853C}"/>
              </a:ext>
            </a:extLst>
          </p:cNvPr>
          <p:cNvSpPr txBox="1"/>
          <p:nvPr/>
        </p:nvSpPr>
        <p:spPr>
          <a:xfrm>
            <a:off x="5437239" y="258778"/>
            <a:ext cx="6096000" cy="923330"/>
          </a:xfrm>
          <a:prstGeom prst="rect">
            <a:avLst/>
          </a:prstGeom>
          <a:noFill/>
        </p:spPr>
        <p:txBody>
          <a:bodyPr wrap="square">
            <a:spAutoFit/>
          </a:bodyPr>
          <a:lstStyle/>
          <a:p>
            <a:r>
              <a:rPr lang="en-US" dirty="0"/>
              <a:t>A </a:t>
            </a:r>
            <a:r>
              <a:rPr lang="en-US" b="1" dirty="0"/>
              <a:t>Semantic Meaning-Based Text Splitter</a:t>
            </a:r>
            <a:r>
              <a:rPr lang="en-US" dirty="0"/>
              <a:t> breaks down large texts into </a:t>
            </a:r>
            <a:r>
              <a:rPr lang="en-US" b="1" dirty="0"/>
              <a:t>smaller chunks </a:t>
            </a:r>
            <a:r>
              <a:rPr lang="en-US" b="1" i="1" dirty="0">
                <a:solidFill>
                  <a:srgbClr val="FF0000"/>
                </a:solidFill>
              </a:rPr>
              <a:t>based on meaning</a:t>
            </a:r>
            <a:r>
              <a:rPr lang="en-US" dirty="0"/>
              <a:t>, rather than just character count, sentence boundaries, or tokens.</a:t>
            </a:r>
            <a:endParaRPr lang="en-IN" dirty="0"/>
          </a:p>
        </p:txBody>
      </p:sp>
      <p:pic>
        <p:nvPicPr>
          <p:cNvPr id="3" name="Picture 2">
            <a:extLst>
              <a:ext uri="{FF2B5EF4-FFF2-40B4-BE49-F238E27FC236}">
                <a16:creationId xmlns:a16="http://schemas.microsoft.com/office/drawing/2014/main" id="{4F622816-8509-3F0D-BF4B-5C220766A741}"/>
              </a:ext>
            </a:extLst>
          </p:cNvPr>
          <p:cNvPicPr>
            <a:picLocks noChangeAspect="1"/>
          </p:cNvPicPr>
          <p:nvPr/>
        </p:nvPicPr>
        <p:blipFill>
          <a:blip r:embed="rId2"/>
          <a:stretch>
            <a:fillRect/>
          </a:stretch>
        </p:blipFill>
        <p:spPr>
          <a:xfrm>
            <a:off x="289414" y="1462942"/>
            <a:ext cx="5438243" cy="2424550"/>
          </a:xfrm>
          <a:prstGeom prst="roundRect">
            <a:avLst/>
          </a:prstGeom>
        </p:spPr>
      </p:pic>
      <p:pic>
        <p:nvPicPr>
          <p:cNvPr id="10" name="Picture 9">
            <a:extLst>
              <a:ext uri="{FF2B5EF4-FFF2-40B4-BE49-F238E27FC236}">
                <a16:creationId xmlns:a16="http://schemas.microsoft.com/office/drawing/2014/main" id="{B5F2B830-7F2F-ADFB-F65F-2661ECAB3FD4}"/>
              </a:ext>
            </a:extLst>
          </p:cNvPr>
          <p:cNvPicPr>
            <a:picLocks noChangeAspect="1"/>
          </p:cNvPicPr>
          <p:nvPr/>
        </p:nvPicPr>
        <p:blipFill>
          <a:blip r:embed="rId3"/>
          <a:stretch>
            <a:fillRect/>
          </a:stretch>
        </p:blipFill>
        <p:spPr>
          <a:xfrm>
            <a:off x="6248400" y="1462942"/>
            <a:ext cx="5495741" cy="2455299"/>
          </a:xfrm>
          <a:prstGeom prst="roundRect">
            <a:avLst/>
          </a:prstGeom>
        </p:spPr>
      </p:pic>
      <p:pic>
        <p:nvPicPr>
          <p:cNvPr id="12" name="Picture 11">
            <a:extLst>
              <a:ext uri="{FF2B5EF4-FFF2-40B4-BE49-F238E27FC236}">
                <a16:creationId xmlns:a16="http://schemas.microsoft.com/office/drawing/2014/main" id="{D491333F-3743-3833-1922-F2D2C427A8B1}"/>
              </a:ext>
            </a:extLst>
          </p:cNvPr>
          <p:cNvPicPr>
            <a:picLocks noChangeAspect="1"/>
          </p:cNvPicPr>
          <p:nvPr/>
        </p:nvPicPr>
        <p:blipFill>
          <a:blip r:embed="rId4"/>
          <a:stretch>
            <a:fillRect/>
          </a:stretch>
        </p:blipFill>
        <p:spPr>
          <a:xfrm>
            <a:off x="3534696" y="4193583"/>
            <a:ext cx="5801671" cy="2532188"/>
          </a:xfrm>
          <a:prstGeom prst="roundRect">
            <a:avLst/>
          </a:prstGeom>
        </p:spPr>
      </p:pic>
      <p:sp>
        <p:nvSpPr>
          <p:cNvPr id="13" name="TextBox 12">
            <a:extLst>
              <a:ext uri="{FF2B5EF4-FFF2-40B4-BE49-F238E27FC236}">
                <a16:creationId xmlns:a16="http://schemas.microsoft.com/office/drawing/2014/main" id="{CC4D6AD1-2BDF-7B8E-C442-B78597EE828B}"/>
              </a:ext>
            </a:extLst>
          </p:cNvPr>
          <p:cNvSpPr txBox="1"/>
          <p:nvPr/>
        </p:nvSpPr>
        <p:spPr>
          <a:xfrm>
            <a:off x="289414" y="4029826"/>
            <a:ext cx="4572000" cy="400110"/>
          </a:xfrm>
          <a:prstGeom prst="rect">
            <a:avLst/>
          </a:prstGeom>
          <a:noFill/>
        </p:spPr>
        <p:txBody>
          <a:bodyPr wrap="square">
            <a:spAutoFit/>
          </a:bodyPr>
          <a:lstStyle/>
          <a:p>
            <a:pPr>
              <a:spcBef>
                <a:spcPts val="2250"/>
              </a:spcBef>
              <a:spcAft>
                <a:spcPts val="1500"/>
              </a:spcAft>
            </a:pPr>
            <a:r>
              <a:rPr lang="en-IN" sz="2000" b="1" dirty="0">
                <a:solidFill>
                  <a:srgbClr val="E3E3E3"/>
                </a:solidFill>
                <a:latin typeface="Manrope"/>
              </a:rPr>
              <a:t>Why do we need it?</a:t>
            </a:r>
            <a:endParaRPr lang="en-IN" sz="2000" b="1" i="0" dirty="0">
              <a:solidFill>
                <a:srgbClr val="E3E3E3"/>
              </a:solidFill>
              <a:effectLst/>
              <a:latin typeface="Manrope"/>
            </a:endParaRPr>
          </a:p>
        </p:txBody>
      </p:sp>
    </p:spTree>
    <p:extLst>
      <p:ext uri="{BB962C8B-B14F-4D97-AF65-F5344CB8AC3E}">
        <p14:creationId xmlns:p14="http://schemas.microsoft.com/office/powerpoint/2010/main" val="1863215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5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250"/>
                                        <p:tgtEl>
                                          <p:spTgt spid="13"/>
                                        </p:tgtEl>
                                      </p:cBhvr>
                                    </p:animEffect>
                                  </p:childTnLst>
                                </p:cTn>
                              </p:par>
                            </p:childTnLst>
                          </p:cTn>
                        </p:par>
                        <p:par>
                          <p:cTn id="17" fill="hold">
                            <p:stCondLst>
                              <p:cond delay="250"/>
                            </p:stCondLst>
                            <p:childTnLst>
                              <p:par>
                                <p:cTn id="18" presetID="10" presetClass="entr" presetSubtype="0" fill="hold" nodeType="afterEffect">
                                  <p:stCondLst>
                                    <p:cond delay="25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par>
                          <p:cTn id="21" fill="hold">
                            <p:stCondLst>
                              <p:cond delay="1000"/>
                            </p:stCondLst>
                            <p:childTnLst>
                              <p:par>
                                <p:cTn id="22" presetID="10" presetClass="entr" presetSubtype="0" fill="hold" nodeType="afterEffect">
                                  <p:stCondLst>
                                    <p:cond delay="25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par>
                          <p:cTn id="25" fill="hold">
                            <p:stCondLst>
                              <p:cond delay="1750"/>
                            </p:stCondLst>
                            <p:childTnLst>
                              <p:par>
                                <p:cTn id="26" presetID="10" presetClass="entr" presetSubtype="0" fill="hold" nodeType="afterEffect">
                                  <p:stCondLst>
                                    <p:cond delay="25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6F1D4-18A3-FE89-6DF0-1B784D4B1DB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1B3AC3E-5ABE-A9D6-24D1-A3542E3AEBBD}"/>
              </a:ext>
            </a:extLst>
          </p:cNvPr>
          <p:cNvSpPr txBox="1"/>
          <p:nvPr/>
        </p:nvSpPr>
        <p:spPr>
          <a:xfrm>
            <a:off x="688258" y="520388"/>
            <a:ext cx="4572000" cy="400110"/>
          </a:xfrm>
          <a:prstGeom prst="rect">
            <a:avLst/>
          </a:prstGeom>
          <a:noFill/>
        </p:spPr>
        <p:txBody>
          <a:bodyPr wrap="square">
            <a:spAutoFit/>
          </a:bodyPr>
          <a:lstStyle/>
          <a:p>
            <a:pPr>
              <a:spcBef>
                <a:spcPts val="2250"/>
              </a:spcBef>
              <a:spcAft>
                <a:spcPts val="1500"/>
              </a:spcAft>
            </a:pPr>
            <a:r>
              <a:rPr lang="en-IN" sz="2000" b="1" dirty="0">
                <a:solidFill>
                  <a:srgbClr val="E3E3E3"/>
                </a:solidFill>
                <a:latin typeface="Manrope"/>
              </a:rPr>
              <a:t>Semantic meaning based </a:t>
            </a:r>
            <a:r>
              <a:rPr lang="en-IN" sz="2000" b="1" i="0" dirty="0">
                <a:solidFill>
                  <a:srgbClr val="E3E3E3"/>
                </a:solidFill>
                <a:effectLst/>
                <a:latin typeface="Manrope"/>
              </a:rPr>
              <a:t>Text Splitter:</a:t>
            </a:r>
          </a:p>
        </p:txBody>
      </p:sp>
      <p:sp>
        <p:nvSpPr>
          <p:cNvPr id="4" name="TextBox 3">
            <a:extLst>
              <a:ext uri="{FF2B5EF4-FFF2-40B4-BE49-F238E27FC236}">
                <a16:creationId xmlns:a16="http://schemas.microsoft.com/office/drawing/2014/main" id="{C8AC5D19-164D-8D5E-5770-87CE91E1F749}"/>
              </a:ext>
            </a:extLst>
          </p:cNvPr>
          <p:cNvSpPr txBox="1"/>
          <p:nvPr/>
        </p:nvSpPr>
        <p:spPr>
          <a:xfrm>
            <a:off x="5437239" y="258778"/>
            <a:ext cx="6096000" cy="923330"/>
          </a:xfrm>
          <a:prstGeom prst="rect">
            <a:avLst/>
          </a:prstGeom>
          <a:noFill/>
        </p:spPr>
        <p:txBody>
          <a:bodyPr wrap="square">
            <a:spAutoFit/>
          </a:bodyPr>
          <a:lstStyle/>
          <a:p>
            <a:r>
              <a:rPr lang="en-US" dirty="0"/>
              <a:t>A </a:t>
            </a:r>
            <a:r>
              <a:rPr lang="en-US" b="1" dirty="0"/>
              <a:t>Semantic Meaning-Based Text Splitter</a:t>
            </a:r>
            <a:r>
              <a:rPr lang="en-US" dirty="0"/>
              <a:t> breaks down large texts into </a:t>
            </a:r>
            <a:r>
              <a:rPr lang="en-US" b="1" dirty="0"/>
              <a:t>smaller chunks </a:t>
            </a:r>
            <a:r>
              <a:rPr lang="en-US" b="1" i="1" dirty="0">
                <a:solidFill>
                  <a:srgbClr val="FF0000"/>
                </a:solidFill>
              </a:rPr>
              <a:t>based on meaning</a:t>
            </a:r>
            <a:r>
              <a:rPr lang="en-US" dirty="0"/>
              <a:t>, rather than just character count, sentence boundaries, or tokens.</a:t>
            </a:r>
            <a:endParaRPr lang="en-IN" dirty="0"/>
          </a:p>
        </p:txBody>
      </p:sp>
      <p:sp>
        <p:nvSpPr>
          <p:cNvPr id="5" name="Rectangle 4">
            <a:extLst>
              <a:ext uri="{FF2B5EF4-FFF2-40B4-BE49-F238E27FC236}">
                <a16:creationId xmlns:a16="http://schemas.microsoft.com/office/drawing/2014/main" id="{B2F6E793-0A81-5DF9-23F2-74725919E96E}"/>
              </a:ext>
            </a:extLst>
          </p:cNvPr>
          <p:cNvSpPr/>
          <p:nvPr/>
        </p:nvSpPr>
        <p:spPr>
          <a:xfrm>
            <a:off x="2192593" y="2762865"/>
            <a:ext cx="737419" cy="481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s1</a:t>
            </a:r>
            <a:endParaRPr lang="en-IN" dirty="0"/>
          </a:p>
        </p:txBody>
      </p:sp>
      <p:sp>
        <p:nvSpPr>
          <p:cNvPr id="6" name="Rectangle 5">
            <a:extLst>
              <a:ext uri="{FF2B5EF4-FFF2-40B4-BE49-F238E27FC236}">
                <a16:creationId xmlns:a16="http://schemas.microsoft.com/office/drawing/2014/main" id="{D16F21C1-02B2-0098-C643-315EE15B1B2D}"/>
              </a:ext>
            </a:extLst>
          </p:cNvPr>
          <p:cNvSpPr/>
          <p:nvPr/>
        </p:nvSpPr>
        <p:spPr>
          <a:xfrm>
            <a:off x="3524864" y="2762865"/>
            <a:ext cx="737419" cy="481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s2</a:t>
            </a:r>
            <a:endParaRPr lang="en-IN" dirty="0"/>
          </a:p>
        </p:txBody>
      </p:sp>
      <p:sp>
        <p:nvSpPr>
          <p:cNvPr id="7" name="Rectangle 6">
            <a:extLst>
              <a:ext uri="{FF2B5EF4-FFF2-40B4-BE49-F238E27FC236}">
                <a16:creationId xmlns:a16="http://schemas.microsoft.com/office/drawing/2014/main" id="{4D9EF316-E3A4-40A7-6DDE-D438DD31F329}"/>
              </a:ext>
            </a:extLst>
          </p:cNvPr>
          <p:cNvSpPr/>
          <p:nvPr/>
        </p:nvSpPr>
        <p:spPr>
          <a:xfrm>
            <a:off x="4857135" y="2762865"/>
            <a:ext cx="737419" cy="481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s3</a:t>
            </a:r>
            <a:endParaRPr lang="en-IN" dirty="0"/>
          </a:p>
        </p:txBody>
      </p:sp>
      <p:sp>
        <p:nvSpPr>
          <p:cNvPr id="8" name="Rectangle 7">
            <a:extLst>
              <a:ext uri="{FF2B5EF4-FFF2-40B4-BE49-F238E27FC236}">
                <a16:creationId xmlns:a16="http://schemas.microsoft.com/office/drawing/2014/main" id="{30372CED-B03D-95E3-A9D9-D91584062F77}"/>
              </a:ext>
            </a:extLst>
          </p:cNvPr>
          <p:cNvSpPr/>
          <p:nvPr/>
        </p:nvSpPr>
        <p:spPr>
          <a:xfrm>
            <a:off x="6386051" y="2762865"/>
            <a:ext cx="737419" cy="481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s4</a:t>
            </a:r>
            <a:endParaRPr lang="en-IN" dirty="0"/>
          </a:p>
        </p:txBody>
      </p:sp>
      <p:sp>
        <p:nvSpPr>
          <p:cNvPr id="9" name="Rectangle 8">
            <a:extLst>
              <a:ext uri="{FF2B5EF4-FFF2-40B4-BE49-F238E27FC236}">
                <a16:creationId xmlns:a16="http://schemas.microsoft.com/office/drawing/2014/main" id="{9B0ADE13-D35D-22B0-3132-2DC6A48A8CE1}"/>
              </a:ext>
            </a:extLst>
          </p:cNvPr>
          <p:cNvSpPr/>
          <p:nvPr/>
        </p:nvSpPr>
        <p:spPr>
          <a:xfrm>
            <a:off x="7914967" y="2756514"/>
            <a:ext cx="737419" cy="481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s5</a:t>
            </a:r>
            <a:endParaRPr lang="en-IN" dirty="0"/>
          </a:p>
        </p:txBody>
      </p:sp>
      <p:cxnSp>
        <p:nvCxnSpPr>
          <p:cNvPr id="11" name="Connector: Elbow 10">
            <a:extLst>
              <a:ext uri="{FF2B5EF4-FFF2-40B4-BE49-F238E27FC236}">
                <a16:creationId xmlns:a16="http://schemas.microsoft.com/office/drawing/2014/main" id="{EA1D74E9-BA78-73E6-55B0-760C7B25A1B2}"/>
              </a:ext>
            </a:extLst>
          </p:cNvPr>
          <p:cNvCxnSpPr>
            <a:stCxn id="5" idx="2"/>
            <a:endCxn id="6" idx="2"/>
          </p:cNvCxnSpPr>
          <p:nvPr/>
        </p:nvCxnSpPr>
        <p:spPr>
          <a:xfrm rot="16200000" flipH="1">
            <a:off x="3227438" y="2578509"/>
            <a:ext cx="12700" cy="1332271"/>
          </a:xfrm>
          <a:prstGeom prst="bentConnector3">
            <a:avLst>
              <a:gd name="adj1" fmla="val 180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8AA0E74D-0F85-01CF-4C9E-FC269A31F92E}"/>
              </a:ext>
            </a:extLst>
          </p:cNvPr>
          <p:cNvCxnSpPr>
            <a:stCxn id="6" idx="2"/>
            <a:endCxn id="7" idx="2"/>
          </p:cNvCxnSpPr>
          <p:nvPr/>
        </p:nvCxnSpPr>
        <p:spPr>
          <a:xfrm rot="16200000" flipH="1">
            <a:off x="4559709" y="2578509"/>
            <a:ext cx="12700" cy="1332271"/>
          </a:xfrm>
          <a:prstGeom prst="bentConnector3">
            <a:avLst>
              <a:gd name="adj1" fmla="val 180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A9623F5C-9083-7BCD-E766-724EFBAFBEED}"/>
              </a:ext>
            </a:extLst>
          </p:cNvPr>
          <p:cNvCxnSpPr>
            <a:stCxn id="7" idx="2"/>
            <a:endCxn id="8" idx="2"/>
          </p:cNvCxnSpPr>
          <p:nvPr/>
        </p:nvCxnSpPr>
        <p:spPr>
          <a:xfrm rot="16200000" flipH="1">
            <a:off x="5990303" y="2480187"/>
            <a:ext cx="12700" cy="1528916"/>
          </a:xfrm>
          <a:prstGeom prst="bentConnector3">
            <a:avLst>
              <a:gd name="adj1" fmla="val 180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7E117259-087B-5550-B5D1-C28FC636C1A2}"/>
              </a:ext>
            </a:extLst>
          </p:cNvPr>
          <p:cNvCxnSpPr>
            <a:stCxn id="8" idx="2"/>
            <a:endCxn id="9" idx="2"/>
          </p:cNvCxnSpPr>
          <p:nvPr/>
        </p:nvCxnSpPr>
        <p:spPr>
          <a:xfrm rot="5400000" flipH="1" flipV="1">
            <a:off x="7516043" y="2477012"/>
            <a:ext cx="6351" cy="1528916"/>
          </a:xfrm>
          <a:prstGeom prst="bentConnector3">
            <a:avLst>
              <a:gd name="adj1" fmla="val -359943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AE8F2A1-50A8-2CCE-6D3B-65DE45F59A6D}"/>
              </a:ext>
            </a:extLst>
          </p:cNvPr>
          <p:cNvSpPr txBox="1"/>
          <p:nvPr/>
        </p:nvSpPr>
        <p:spPr>
          <a:xfrm>
            <a:off x="193284" y="2812738"/>
            <a:ext cx="1335622" cy="369332"/>
          </a:xfrm>
          <a:prstGeom prst="rect">
            <a:avLst/>
          </a:prstGeom>
          <a:noFill/>
        </p:spPr>
        <p:txBody>
          <a:bodyPr wrap="none" rtlCol="0">
            <a:spAutoFit/>
          </a:bodyPr>
          <a:lstStyle/>
          <a:p>
            <a:r>
              <a:rPr lang="en-US" dirty="0"/>
              <a:t>Embeddings</a:t>
            </a:r>
            <a:endParaRPr lang="en-IN" dirty="0"/>
          </a:p>
        </p:txBody>
      </p:sp>
      <p:sp>
        <p:nvSpPr>
          <p:cNvPr id="20" name="TextBox 19">
            <a:extLst>
              <a:ext uri="{FF2B5EF4-FFF2-40B4-BE49-F238E27FC236}">
                <a16:creationId xmlns:a16="http://schemas.microsoft.com/office/drawing/2014/main" id="{AE103575-A59E-0235-B073-3477824D9C99}"/>
              </a:ext>
            </a:extLst>
          </p:cNvPr>
          <p:cNvSpPr txBox="1"/>
          <p:nvPr/>
        </p:nvSpPr>
        <p:spPr>
          <a:xfrm>
            <a:off x="98836" y="3620327"/>
            <a:ext cx="1720343" cy="369332"/>
          </a:xfrm>
          <a:prstGeom prst="rect">
            <a:avLst/>
          </a:prstGeom>
          <a:noFill/>
        </p:spPr>
        <p:txBody>
          <a:bodyPr wrap="none" rtlCol="0">
            <a:spAutoFit/>
          </a:bodyPr>
          <a:lstStyle/>
          <a:p>
            <a:r>
              <a:rPr lang="en-US" dirty="0"/>
              <a:t>Cosine similarity</a:t>
            </a:r>
            <a:endParaRPr lang="en-IN" dirty="0"/>
          </a:p>
        </p:txBody>
      </p:sp>
      <p:sp>
        <p:nvSpPr>
          <p:cNvPr id="21" name="TextBox 20">
            <a:extLst>
              <a:ext uri="{FF2B5EF4-FFF2-40B4-BE49-F238E27FC236}">
                <a16:creationId xmlns:a16="http://schemas.microsoft.com/office/drawing/2014/main" id="{851B613F-5EAA-5121-F628-A14C09B4978F}"/>
              </a:ext>
            </a:extLst>
          </p:cNvPr>
          <p:cNvSpPr txBox="1"/>
          <p:nvPr/>
        </p:nvSpPr>
        <p:spPr>
          <a:xfrm>
            <a:off x="2930012" y="3607006"/>
            <a:ext cx="476412" cy="369332"/>
          </a:xfrm>
          <a:prstGeom prst="rect">
            <a:avLst/>
          </a:prstGeom>
          <a:noFill/>
        </p:spPr>
        <p:txBody>
          <a:bodyPr wrap="none" rtlCol="0">
            <a:spAutoFit/>
          </a:bodyPr>
          <a:lstStyle/>
          <a:p>
            <a:r>
              <a:rPr lang="en-US" dirty="0"/>
              <a:t>0.9</a:t>
            </a:r>
            <a:endParaRPr lang="en-IN" dirty="0"/>
          </a:p>
        </p:txBody>
      </p:sp>
      <p:sp>
        <p:nvSpPr>
          <p:cNvPr id="22" name="TextBox 21">
            <a:extLst>
              <a:ext uri="{FF2B5EF4-FFF2-40B4-BE49-F238E27FC236}">
                <a16:creationId xmlns:a16="http://schemas.microsoft.com/office/drawing/2014/main" id="{6325B206-D933-9381-0524-A5B1BB58B937}"/>
              </a:ext>
            </a:extLst>
          </p:cNvPr>
          <p:cNvSpPr txBox="1"/>
          <p:nvPr/>
        </p:nvSpPr>
        <p:spPr>
          <a:xfrm>
            <a:off x="4262283" y="3620327"/>
            <a:ext cx="476412" cy="369332"/>
          </a:xfrm>
          <a:prstGeom prst="rect">
            <a:avLst/>
          </a:prstGeom>
          <a:noFill/>
        </p:spPr>
        <p:txBody>
          <a:bodyPr wrap="none" rtlCol="0">
            <a:spAutoFit/>
          </a:bodyPr>
          <a:lstStyle/>
          <a:p>
            <a:r>
              <a:rPr lang="en-US" dirty="0"/>
              <a:t>0.8</a:t>
            </a:r>
            <a:endParaRPr lang="en-IN" dirty="0"/>
          </a:p>
        </p:txBody>
      </p:sp>
      <p:sp>
        <p:nvSpPr>
          <p:cNvPr id="23" name="TextBox 22">
            <a:extLst>
              <a:ext uri="{FF2B5EF4-FFF2-40B4-BE49-F238E27FC236}">
                <a16:creationId xmlns:a16="http://schemas.microsoft.com/office/drawing/2014/main" id="{0B2A714E-8380-0845-C705-0E9510E32FBC}"/>
              </a:ext>
            </a:extLst>
          </p:cNvPr>
          <p:cNvSpPr txBox="1"/>
          <p:nvPr/>
        </p:nvSpPr>
        <p:spPr>
          <a:xfrm>
            <a:off x="5701540" y="3646244"/>
            <a:ext cx="476412" cy="369332"/>
          </a:xfrm>
          <a:prstGeom prst="rect">
            <a:avLst/>
          </a:prstGeom>
          <a:noFill/>
        </p:spPr>
        <p:txBody>
          <a:bodyPr wrap="none" rtlCol="0">
            <a:spAutoFit/>
          </a:bodyPr>
          <a:lstStyle/>
          <a:p>
            <a:r>
              <a:rPr lang="en-US" dirty="0"/>
              <a:t>0.3</a:t>
            </a:r>
            <a:endParaRPr lang="en-IN" dirty="0"/>
          </a:p>
        </p:txBody>
      </p:sp>
      <p:sp>
        <p:nvSpPr>
          <p:cNvPr id="24" name="TextBox 23">
            <a:extLst>
              <a:ext uri="{FF2B5EF4-FFF2-40B4-BE49-F238E27FC236}">
                <a16:creationId xmlns:a16="http://schemas.microsoft.com/office/drawing/2014/main" id="{FCEF9274-81CD-DA73-3AF3-26616527AA47}"/>
              </a:ext>
            </a:extLst>
          </p:cNvPr>
          <p:cNvSpPr txBox="1"/>
          <p:nvPr/>
        </p:nvSpPr>
        <p:spPr>
          <a:xfrm>
            <a:off x="7123470" y="3656076"/>
            <a:ext cx="593432" cy="369332"/>
          </a:xfrm>
          <a:prstGeom prst="rect">
            <a:avLst/>
          </a:prstGeom>
          <a:noFill/>
        </p:spPr>
        <p:txBody>
          <a:bodyPr wrap="none" rtlCol="0">
            <a:spAutoFit/>
          </a:bodyPr>
          <a:lstStyle/>
          <a:p>
            <a:r>
              <a:rPr lang="en-US" dirty="0"/>
              <a:t>0.75</a:t>
            </a:r>
            <a:endParaRPr lang="en-IN" dirty="0"/>
          </a:p>
        </p:txBody>
      </p:sp>
      <p:sp>
        <p:nvSpPr>
          <p:cNvPr id="25" name="Rectangle 24">
            <a:extLst>
              <a:ext uri="{FF2B5EF4-FFF2-40B4-BE49-F238E27FC236}">
                <a16:creationId xmlns:a16="http://schemas.microsoft.com/office/drawing/2014/main" id="{54858CF5-F7CE-EFB4-5418-C4BA358593E2}"/>
              </a:ext>
            </a:extLst>
          </p:cNvPr>
          <p:cNvSpPr/>
          <p:nvPr/>
        </p:nvSpPr>
        <p:spPr>
          <a:xfrm>
            <a:off x="1913627" y="1986116"/>
            <a:ext cx="4049715" cy="2285179"/>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DB563329-3021-483D-C2D2-AC8CB3520686}"/>
              </a:ext>
            </a:extLst>
          </p:cNvPr>
          <p:cNvSpPr/>
          <p:nvPr/>
        </p:nvSpPr>
        <p:spPr>
          <a:xfrm>
            <a:off x="6225146" y="1986116"/>
            <a:ext cx="2722210" cy="2285179"/>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D3AE6647-8C4C-8F54-508B-18EF8526C01D}"/>
              </a:ext>
            </a:extLst>
          </p:cNvPr>
          <p:cNvSpPr txBox="1"/>
          <p:nvPr/>
        </p:nvSpPr>
        <p:spPr>
          <a:xfrm>
            <a:off x="3643371" y="1616784"/>
            <a:ext cx="965329" cy="369332"/>
          </a:xfrm>
          <a:prstGeom prst="rect">
            <a:avLst/>
          </a:prstGeom>
          <a:noFill/>
        </p:spPr>
        <p:txBody>
          <a:bodyPr wrap="none" rtlCol="0">
            <a:spAutoFit/>
          </a:bodyPr>
          <a:lstStyle/>
          <a:p>
            <a:r>
              <a:rPr lang="en-US" dirty="0"/>
              <a:t>Chunk-1</a:t>
            </a:r>
            <a:endParaRPr lang="en-IN" dirty="0"/>
          </a:p>
        </p:txBody>
      </p:sp>
      <p:sp>
        <p:nvSpPr>
          <p:cNvPr id="28" name="TextBox 27">
            <a:extLst>
              <a:ext uri="{FF2B5EF4-FFF2-40B4-BE49-F238E27FC236}">
                <a16:creationId xmlns:a16="http://schemas.microsoft.com/office/drawing/2014/main" id="{5E30B7CE-B4DA-9B76-CF02-FC2B74F91324}"/>
              </a:ext>
            </a:extLst>
          </p:cNvPr>
          <p:cNvSpPr txBox="1"/>
          <p:nvPr/>
        </p:nvSpPr>
        <p:spPr>
          <a:xfrm>
            <a:off x="7036553" y="1574686"/>
            <a:ext cx="965329" cy="369332"/>
          </a:xfrm>
          <a:prstGeom prst="rect">
            <a:avLst/>
          </a:prstGeom>
          <a:noFill/>
        </p:spPr>
        <p:txBody>
          <a:bodyPr wrap="none" rtlCol="0">
            <a:spAutoFit/>
          </a:bodyPr>
          <a:lstStyle/>
          <a:p>
            <a:r>
              <a:rPr lang="en-US" dirty="0"/>
              <a:t>Chunk-2</a:t>
            </a:r>
            <a:endParaRPr lang="en-IN" dirty="0"/>
          </a:p>
        </p:txBody>
      </p:sp>
      <p:sp>
        <p:nvSpPr>
          <p:cNvPr id="30" name="TextBox 29">
            <a:extLst>
              <a:ext uri="{FF2B5EF4-FFF2-40B4-BE49-F238E27FC236}">
                <a16:creationId xmlns:a16="http://schemas.microsoft.com/office/drawing/2014/main" id="{A2C991C2-0D0B-3A11-EEB5-B8799CA3AEAE}"/>
              </a:ext>
            </a:extLst>
          </p:cNvPr>
          <p:cNvSpPr txBox="1"/>
          <p:nvPr/>
        </p:nvSpPr>
        <p:spPr>
          <a:xfrm>
            <a:off x="243348" y="5157930"/>
            <a:ext cx="10387782" cy="1169551"/>
          </a:xfrm>
          <a:prstGeom prst="rect">
            <a:avLst/>
          </a:prstGeom>
          <a:noFill/>
        </p:spPr>
        <p:txBody>
          <a:bodyPr wrap="square">
            <a:spAutoFit/>
          </a:bodyPr>
          <a:lstStyle/>
          <a:p>
            <a:r>
              <a:rPr lang="en-US" sz="1400" dirty="0">
                <a:solidFill>
                  <a:schemeClr val="accent6">
                    <a:lumMod val="60000"/>
                    <a:lumOff val="40000"/>
                  </a:schemeClr>
                </a:solidFill>
              </a:rPr>
              <a:t>Dogs are loyal and friendly animals. They love to play and interact with humans. Cats, on the other hand, are more independent and curious.</a:t>
            </a:r>
          </a:p>
          <a:p>
            <a:endParaRPr lang="en-US" sz="1400" dirty="0">
              <a:solidFill>
                <a:schemeClr val="accent6">
                  <a:lumMod val="60000"/>
                  <a:lumOff val="40000"/>
                </a:schemeClr>
              </a:solidFill>
            </a:endParaRPr>
          </a:p>
          <a:p>
            <a:endParaRPr lang="en-US" sz="1400" dirty="0">
              <a:solidFill>
                <a:schemeClr val="accent6">
                  <a:lumMod val="60000"/>
                  <a:lumOff val="40000"/>
                </a:schemeClr>
              </a:solidFill>
            </a:endParaRPr>
          </a:p>
          <a:p>
            <a:r>
              <a:rPr lang="en-US" sz="1400" dirty="0">
                <a:solidFill>
                  <a:schemeClr val="accent6">
                    <a:lumMod val="60000"/>
                    <a:lumOff val="40000"/>
                  </a:schemeClr>
                </a:solidFill>
              </a:rPr>
              <a:t>Tigers are powerful wild cats known for their strength and striped fur. Elephants are the largest land animals and are famous for their intelligence and long trunks. </a:t>
            </a:r>
            <a:endParaRPr lang="en-IN" sz="1400" dirty="0">
              <a:solidFill>
                <a:schemeClr val="accent6">
                  <a:lumMod val="60000"/>
                  <a:lumOff val="40000"/>
                </a:schemeClr>
              </a:solidFill>
            </a:endParaRPr>
          </a:p>
        </p:txBody>
      </p:sp>
      <p:sp>
        <p:nvSpPr>
          <p:cNvPr id="31" name="Rectangle 30">
            <a:extLst>
              <a:ext uri="{FF2B5EF4-FFF2-40B4-BE49-F238E27FC236}">
                <a16:creationId xmlns:a16="http://schemas.microsoft.com/office/drawing/2014/main" id="{9B3A7957-4560-6F49-5703-F33EEC6CF7D0}"/>
              </a:ext>
            </a:extLst>
          </p:cNvPr>
          <p:cNvSpPr/>
          <p:nvPr/>
        </p:nvSpPr>
        <p:spPr>
          <a:xfrm>
            <a:off x="275270" y="5157930"/>
            <a:ext cx="5820730" cy="255719"/>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31">
            <a:extLst>
              <a:ext uri="{FF2B5EF4-FFF2-40B4-BE49-F238E27FC236}">
                <a16:creationId xmlns:a16="http://schemas.microsoft.com/office/drawing/2014/main" id="{E2F7E884-8757-0C04-50EF-FB5E462BC05A}"/>
              </a:ext>
            </a:extLst>
          </p:cNvPr>
          <p:cNvSpPr/>
          <p:nvPr/>
        </p:nvSpPr>
        <p:spPr>
          <a:xfrm>
            <a:off x="6127922" y="5166620"/>
            <a:ext cx="4402426" cy="255719"/>
          </a:xfrm>
          <a:prstGeom prst="rect">
            <a:avLst/>
          </a:prstGeom>
          <a:noFill/>
          <a:ln>
            <a:solidFill>
              <a:srgbClr val="008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6">
                  <a:lumMod val="60000"/>
                  <a:lumOff val="40000"/>
                </a:schemeClr>
              </a:solidFill>
            </a:endParaRPr>
          </a:p>
        </p:txBody>
      </p:sp>
      <p:sp>
        <p:nvSpPr>
          <p:cNvPr id="34" name="Rectangle 33">
            <a:extLst>
              <a:ext uri="{FF2B5EF4-FFF2-40B4-BE49-F238E27FC236}">
                <a16:creationId xmlns:a16="http://schemas.microsoft.com/office/drawing/2014/main" id="{ABD7C936-A80A-7DC4-294D-176A7B71F0D5}"/>
              </a:ext>
            </a:extLst>
          </p:cNvPr>
          <p:cNvSpPr/>
          <p:nvPr/>
        </p:nvSpPr>
        <p:spPr>
          <a:xfrm>
            <a:off x="258616" y="5808898"/>
            <a:ext cx="5099965" cy="255719"/>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6">
                  <a:lumMod val="60000"/>
                  <a:lumOff val="40000"/>
                </a:schemeClr>
              </a:solidFill>
            </a:endParaRPr>
          </a:p>
        </p:txBody>
      </p:sp>
      <p:sp>
        <p:nvSpPr>
          <p:cNvPr id="35" name="Rectangle 34">
            <a:extLst>
              <a:ext uri="{FF2B5EF4-FFF2-40B4-BE49-F238E27FC236}">
                <a16:creationId xmlns:a16="http://schemas.microsoft.com/office/drawing/2014/main" id="{50A1A32B-BEFF-0B50-1DC1-DC22A6CAED5E}"/>
              </a:ext>
            </a:extLst>
          </p:cNvPr>
          <p:cNvSpPr/>
          <p:nvPr/>
        </p:nvSpPr>
        <p:spPr>
          <a:xfrm>
            <a:off x="5348749" y="5808898"/>
            <a:ext cx="5181599" cy="255719"/>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6">
                  <a:lumMod val="60000"/>
                  <a:lumOff val="40000"/>
                </a:schemeClr>
              </a:solidFill>
            </a:endParaRPr>
          </a:p>
        </p:txBody>
      </p:sp>
      <p:sp>
        <p:nvSpPr>
          <p:cNvPr id="36" name="Rectangle 35">
            <a:extLst>
              <a:ext uri="{FF2B5EF4-FFF2-40B4-BE49-F238E27FC236}">
                <a16:creationId xmlns:a16="http://schemas.microsoft.com/office/drawing/2014/main" id="{DF5A2F3D-4121-4B5E-DB77-CC5B6367A8C6}"/>
              </a:ext>
            </a:extLst>
          </p:cNvPr>
          <p:cNvSpPr/>
          <p:nvPr/>
        </p:nvSpPr>
        <p:spPr>
          <a:xfrm>
            <a:off x="228598" y="6064617"/>
            <a:ext cx="2199969" cy="262864"/>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6">
                  <a:lumMod val="60000"/>
                  <a:lumOff val="40000"/>
                </a:schemeClr>
              </a:solidFill>
            </a:endParaRPr>
          </a:p>
        </p:txBody>
      </p:sp>
      <p:sp>
        <p:nvSpPr>
          <p:cNvPr id="38" name="TextBox 37">
            <a:extLst>
              <a:ext uri="{FF2B5EF4-FFF2-40B4-BE49-F238E27FC236}">
                <a16:creationId xmlns:a16="http://schemas.microsoft.com/office/drawing/2014/main" id="{AC5CFEB7-5379-8CAD-D243-F17A034EF092}"/>
              </a:ext>
            </a:extLst>
          </p:cNvPr>
          <p:cNvSpPr txBox="1"/>
          <p:nvPr/>
        </p:nvSpPr>
        <p:spPr>
          <a:xfrm>
            <a:off x="98836" y="4434248"/>
            <a:ext cx="11793615" cy="646331"/>
          </a:xfrm>
          <a:prstGeom prst="rect">
            <a:avLst/>
          </a:prstGeom>
          <a:noFill/>
        </p:spPr>
        <p:txBody>
          <a:bodyPr wrap="square">
            <a:spAutoFit/>
          </a:bodyPr>
          <a:lstStyle/>
          <a:p>
            <a:r>
              <a:rPr lang="en-US" dirty="0"/>
              <a:t>compute the </a:t>
            </a:r>
            <a:r>
              <a:rPr lang="en-US" b="1" dirty="0"/>
              <a:t>standard deviation of similarities</a:t>
            </a:r>
            <a:r>
              <a:rPr lang="en-US" dirty="0"/>
              <a:t>. If a similarity drop is more than </a:t>
            </a:r>
            <a:r>
              <a:rPr lang="en-US" b="1" dirty="0" err="1">
                <a:solidFill>
                  <a:schemeClr val="tx2">
                    <a:lumMod val="75000"/>
                  </a:schemeClr>
                </a:solidFill>
              </a:rPr>
              <a:t>n×std</a:t>
            </a:r>
            <a:r>
              <a:rPr lang="en-US" b="1" dirty="0">
                <a:solidFill>
                  <a:schemeClr val="tx2">
                    <a:lumMod val="75000"/>
                  </a:schemeClr>
                </a:solidFill>
              </a:rPr>
              <a:t> deviation</a:t>
            </a:r>
            <a:r>
              <a:rPr lang="en-US" dirty="0">
                <a:solidFill>
                  <a:schemeClr val="tx2">
                    <a:lumMod val="75000"/>
                  </a:schemeClr>
                </a:solidFill>
              </a:rPr>
              <a:t> </a:t>
            </a:r>
            <a:r>
              <a:rPr lang="en-US" dirty="0"/>
              <a:t>→ It's considered a </a:t>
            </a:r>
            <a:r>
              <a:rPr lang="en-US" b="1" dirty="0"/>
              <a:t>semantic breakpoint</a:t>
            </a:r>
            <a:endParaRPr lang="en-IN" dirty="0"/>
          </a:p>
        </p:txBody>
      </p:sp>
    </p:spTree>
    <p:extLst>
      <p:ext uri="{BB962C8B-B14F-4D97-AF65-F5344CB8AC3E}">
        <p14:creationId xmlns:p14="http://schemas.microsoft.com/office/powerpoint/2010/main" val="847010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5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250"/>
                                        <p:tgtEl>
                                          <p:spTgt spid="5"/>
                                        </p:tgtEl>
                                      </p:cBhvr>
                                    </p:animEffect>
                                  </p:childTnLst>
                                </p:cTn>
                              </p:par>
                            </p:childTnLst>
                          </p:cTn>
                        </p:par>
                        <p:par>
                          <p:cTn id="17" fill="hold">
                            <p:stCondLst>
                              <p:cond delay="250"/>
                            </p:stCondLst>
                            <p:childTnLst>
                              <p:par>
                                <p:cTn id="18" presetID="10" presetClass="entr" presetSubtype="0"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250"/>
                                        <p:tgtEl>
                                          <p:spTgt spid="6"/>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250"/>
                                        <p:tgtEl>
                                          <p:spTgt spid="7"/>
                                        </p:tgtEl>
                                      </p:cBhvr>
                                    </p:animEffect>
                                  </p:childTnLst>
                                </p:cTn>
                              </p:par>
                            </p:childTnLst>
                          </p:cTn>
                        </p:par>
                        <p:par>
                          <p:cTn id="25" fill="hold">
                            <p:stCondLst>
                              <p:cond delay="750"/>
                            </p:stCondLst>
                            <p:childTnLst>
                              <p:par>
                                <p:cTn id="26" presetID="10"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250"/>
                                        <p:tgtEl>
                                          <p:spTgt spid="8"/>
                                        </p:tgtEl>
                                      </p:cBhvr>
                                    </p:animEffect>
                                  </p:childTnLst>
                                </p:cTn>
                              </p:par>
                            </p:childTnLst>
                          </p:cTn>
                        </p:par>
                        <p:par>
                          <p:cTn id="29" fill="hold">
                            <p:stCondLst>
                              <p:cond delay="1000"/>
                            </p:stCondLst>
                            <p:childTnLst>
                              <p:par>
                                <p:cTn id="30" presetID="10" presetClass="entr" presetSubtype="0"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250"/>
                                        <p:tgtEl>
                                          <p:spTgt spid="9"/>
                                        </p:tgtEl>
                                      </p:cBhvr>
                                    </p:animEffect>
                                  </p:childTnLst>
                                </p:cTn>
                              </p:par>
                            </p:childTnLst>
                          </p:cTn>
                        </p:par>
                        <p:par>
                          <p:cTn id="33" fill="hold">
                            <p:stCondLst>
                              <p:cond delay="1250"/>
                            </p:stCondLst>
                            <p:childTnLst>
                              <p:par>
                                <p:cTn id="34" presetID="10" presetClass="entr" presetSubtype="0" fill="hold" nodeType="after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250"/>
                                        <p:tgtEl>
                                          <p:spTgt spid="11"/>
                                        </p:tgtEl>
                                      </p:cBhvr>
                                    </p:animEffect>
                                  </p:childTnLst>
                                </p:cTn>
                              </p:par>
                            </p:childTnLst>
                          </p:cTn>
                        </p:par>
                        <p:par>
                          <p:cTn id="37" fill="hold">
                            <p:stCondLst>
                              <p:cond delay="1500"/>
                            </p:stCondLst>
                            <p:childTnLst>
                              <p:par>
                                <p:cTn id="38" presetID="10" presetClass="entr" presetSubtype="0" fill="hold"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250"/>
                                        <p:tgtEl>
                                          <p:spTgt spid="14"/>
                                        </p:tgtEl>
                                      </p:cBhvr>
                                    </p:animEffect>
                                  </p:childTnLst>
                                </p:cTn>
                              </p:par>
                            </p:childTnLst>
                          </p:cTn>
                        </p:par>
                        <p:par>
                          <p:cTn id="41" fill="hold">
                            <p:stCondLst>
                              <p:cond delay="1750"/>
                            </p:stCondLst>
                            <p:childTnLst>
                              <p:par>
                                <p:cTn id="42" presetID="10" presetClass="entr" presetSubtype="0" fill="hold" nodeType="after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250"/>
                                        <p:tgtEl>
                                          <p:spTgt spid="16"/>
                                        </p:tgtEl>
                                      </p:cBhvr>
                                    </p:animEffect>
                                  </p:childTnLst>
                                </p:cTn>
                              </p:par>
                            </p:childTnLst>
                          </p:cTn>
                        </p:par>
                        <p:par>
                          <p:cTn id="45" fill="hold">
                            <p:stCondLst>
                              <p:cond delay="2000"/>
                            </p:stCondLst>
                            <p:childTnLst>
                              <p:par>
                                <p:cTn id="46" presetID="10" presetClass="entr" presetSubtype="0" fill="hold" nodeType="after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250"/>
                                        <p:tgtEl>
                                          <p:spTgt spid="18"/>
                                        </p:tgtEl>
                                      </p:cBhvr>
                                    </p:animEffect>
                                  </p:childTnLst>
                                </p:cTn>
                              </p:par>
                            </p:childTnLst>
                          </p:cTn>
                        </p:par>
                        <p:par>
                          <p:cTn id="49" fill="hold">
                            <p:stCondLst>
                              <p:cond delay="2250"/>
                            </p:stCondLst>
                            <p:childTnLst>
                              <p:par>
                                <p:cTn id="50" presetID="10" presetClass="entr" presetSubtype="0" fill="hold" grpId="0" nodeType="after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250"/>
                                        <p:tgtEl>
                                          <p:spTgt spid="19"/>
                                        </p:tgtEl>
                                      </p:cBhvr>
                                    </p:animEffect>
                                  </p:childTnLst>
                                </p:cTn>
                              </p:par>
                            </p:childTnLst>
                          </p:cTn>
                        </p:par>
                        <p:par>
                          <p:cTn id="53" fill="hold">
                            <p:stCondLst>
                              <p:cond delay="2500"/>
                            </p:stCondLst>
                            <p:childTnLst>
                              <p:par>
                                <p:cTn id="54" presetID="10" presetClass="entr" presetSubtype="0" fill="hold" grpId="0" nodeType="after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250"/>
                                        <p:tgtEl>
                                          <p:spTgt spid="20"/>
                                        </p:tgtEl>
                                      </p:cBhvr>
                                    </p:animEffect>
                                  </p:childTnLst>
                                </p:cTn>
                              </p:par>
                            </p:childTnLst>
                          </p:cTn>
                        </p:par>
                        <p:par>
                          <p:cTn id="57" fill="hold">
                            <p:stCondLst>
                              <p:cond delay="2750"/>
                            </p:stCondLst>
                            <p:childTnLst>
                              <p:par>
                                <p:cTn id="58" presetID="10" presetClass="entr" presetSubtype="0" fill="hold" grpId="0" nodeType="after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250"/>
                                        <p:tgtEl>
                                          <p:spTgt spid="21"/>
                                        </p:tgtEl>
                                      </p:cBhvr>
                                    </p:animEffect>
                                  </p:childTnLst>
                                </p:cTn>
                              </p:par>
                            </p:childTnLst>
                          </p:cTn>
                        </p:par>
                        <p:par>
                          <p:cTn id="61" fill="hold">
                            <p:stCondLst>
                              <p:cond delay="3000"/>
                            </p:stCondLst>
                            <p:childTnLst>
                              <p:par>
                                <p:cTn id="62" presetID="10" presetClass="entr" presetSubtype="0" fill="hold" grpId="0" nodeType="after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250"/>
                                        <p:tgtEl>
                                          <p:spTgt spid="22"/>
                                        </p:tgtEl>
                                      </p:cBhvr>
                                    </p:animEffect>
                                  </p:childTnLst>
                                </p:cTn>
                              </p:par>
                            </p:childTnLst>
                          </p:cTn>
                        </p:par>
                        <p:par>
                          <p:cTn id="65" fill="hold">
                            <p:stCondLst>
                              <p:cond delay="3250"/>
                            </p:stCondLst>
                            <p:childTnLst>
                              <p:par>
                                <p:cTn id="66" presetID="10" presetClass="entr" presetSubtype="0" fill="hold" grpId="0" nodeType="after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250"/>
                                        <p:tgtEl>
                                          <p:spTgt spid="23"/>
                                        </p:tgtEl>
                                      </p:cBhvr>
                                    </p:animEffect>
                                  </p:childTnLst>
                                </p:cTn>
                              </p:par>
                            </p:childTnLst>
                          </p:cTn>
                        </p:par>
                        <p:par>
                          <p:cTn id="69" fill="hold">
                            <p:stCondLst>
                              <p:cond delay="3500"/>
                            </p:stCondLst>
                            <p:childTnLst>
                              <p:par>
                                <p:cTn id="70" presetID="10" presetClass="entr" presetSubtype="0" fill="hold" grpId="0" nodeType="after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250"/>
                                        <p:tgtEl>
                                          <p:spTgt spid="24"/>
                                        </p:tgtEl>
                                      </p:cBhvr>
                                    </p:animEffect>
                                  </p:childTnLst>
                                </p:cTn>
                              </p:par>
                            </p:childTnLst>
                          </p:cTn>
                        </p:par>
                        <p:par>
                          <p:cTn id="73" fill="hold">
                            <p:stCondLst>
                              <p:cond delay="3750"/>
                            </p:stCondLst>
                            <p:childTnLst>
                              <p:par>
                                <p:cTn id="74" presetID="10" presetClass="entr" presetSubtype="0" fill="hold" grpId="0" nodeType="after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250"/>
                                        <p:tgtEl>
                                          <p:spTgt spid="25"/>
                                        </p:tgtEl>
                                      </p:cBhvr>
                                    </p:animEffect>
                                  </p:childTnLst>
                                </p:cTn>
                              </p:par>
                            </p:childTnLst>
                          </p:cTn>
                        </p:par>
                        <p:par>
                          <p:cTn id="77" fill="hold">
                            <p:stCondLst>
                              <p:cond delay="4000"/>
                            </p:stCondLst>
                            <p:childTnLst>
                              <p:par>
                                <p:cTn id="78" presetID="10" presetClass="entr" presetSubtype="0" fill="hold" grpId="0" nodeType="after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250"/>
                                        <p:tgtEl>
                                          <p:spTgt spid="38"/>
                                        </p:tgtEl>
                                      </p:cBhvr>
                                    </p:animEffect>
                                  </p:childTnLst>
                                </p:cTn>
                              </p:par>
                            </p:childTnLst>
                          </p:cTn>
                        </p:par>
                        <p:par>
                          <p:cTn id="81" fill="hold">
                            <p:stCondLst>
                              <p:cond delay="4250"/>
                            </p:stCondLst>
                            <p:childTnLst>
                              <p:par>
                                <p:cTn id="82" presetID="10" presetClass="entr" presetSubtype="0" fill="hold" grpId="0" nodeType="after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250"/>
                                        <p:tgtEl>
                                          <p:spTgt spid="26"/>
                                        </p:tgtEl>
                                      </p:cBhvr>
                                    </p:animEffect>
                                  </p:childTnLst>
                                </p:cTn>
                              </p:par>
                            </p:childTnLst>
                          </p:cTn>
                        </p:par>
                        <p:par>
                          <p:cTn id="85" fill="hold">
                            <p:stCondLst>
                              <p:cond delay="4500"/>
                            </p:stCondLst>
                            <p:childTnLst>
                              <p:par>
                                <p:cTn id="86" presetID="10" presetClass="entr" presetSubtype="0" fill="hold" grpId="0" nodeType="after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250"/>
                                        <p:tgtEl>
                                          <p:spTgt spid="27"/>
                                        </p:tgtEl>
                                      </p:cBhvr>
                                    </p:animEffect>
                                  </p:childTnLst>
                                </p:cTn>
                              </p:par>
                            </p:childTnLst>
                          </p:cTn>
                        </p:par>
                        <p:par>
                          <p:cTn id="89" fill="hold">
                            <p:stCondLst>
                              <p:cond delay="4750"/>
                            </p:stCondLst>
                            <p:childTnLst>
                              <p:par>
                                <p:cTn id="90" presetID="10" presetClass="entr" presetSubtype="0" fill="hold" grpId="0" nodeType="after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250"/>
                                        <p:tgtEl>
                                          <p:spTgt spid="28"/>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0"/>
                                        </p:tgtEl>
                                        <p:attrNameLst>
                                          <p:attrName>style.visibility</p:attrName>
                                        </p:attrNameLst>
                                      </p:cBhvr>
                                      <p:to>
                                        <p:strVal val="visible"/>
                                      </p:to>
                                    </p:set>
                                    <p:animEffect transition="in" filter="fade">
                                      <p:cBhvr>
                                        <p:cTn id="97" dur="250"/>
                                        <p:tgtEl>
                                          <p:spTgt spid="30"/>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1"/>
                                        </p:tgtEl>
                                        <p:attrNameLst>
                                          <p:attrName>style.visibility</p:attrName>
                                        </p:attrNameLst>
                                      </p:cBhvr>
                                      <p:to>
                                        <p:strVal val="visible"/>
                                      </p:to>
                                    </p:set>
                                    <p:animEffect transition="in" filter="fade">
                                      <p:cBhvr>
                                        <p:cTn id="102" dur="250"/>
                                        <p:tgtEl>
                                          <p:spTgt spid="31"/>
                                        </p:tgtEl>
                                      </p:cBhvr>
                                    </p:animEffect>
                                  </p:childTnLst>
                                </p:cTn>
                              </p:par>
                            </p:childTnLst>
                          </p:cTn>
                        </p:par>
                        <p:par>
                          <p:cTn id="103" fill="hold">
                            <p:stCondLst>
                              <p:cond delay="250"/>
                            </p:stCondLst>
                            <p:childTnLst>
                              <p:par>
                                <p:cTn id="104" presetID="10" presetClass="entr" presetSubtype="0" fill="hold" grpId="0" nodeType="afterEffect">
                                  <p:stCondLst>
                                    <p:cond delay="0"/>
                                  </p:stCondLst>
                                  <p:childTnLst>
                                    <p:set>
                                      <p:cBhvr>
                                        <p:cTn id="105" dur="1" fill="hold">
                                          <p:stCondLst>
                                            <p:cond delay="0"/>
                                          </p:stCondLst>
                                        </p:cTn>
                                        <p:tgtEl>
                                          <p:spTgt spid="32"/>
                                        </p:tgtEl>
                                        <p:attrNameLst>
                                          <p:attrName>style.visibility</p:attrName>
                                        </p:attrNameLst>
                                      </p:cBhvr>
                                      <p:to>
                                        <p:strVal val="visible"/>
                                      </p:to>
                                    </p:set>
                                    <p:animEffect transition="in" filter="fade">
                                      <p:cBhvr>
                                        <p:cTn id="106" dur="250"/>
                                        <p:tgtEl>
                                          <p:spTgt spid="32"/>
                                        </p:tgtEl>
                                      </p:cBhvr>
                                    </p:animEffect>
                                  </p:childTnLst>
                                </p:cTn>
                              </p:par>
                            </p:childTnLst>
                          </p:cTn>
                        </p:par>
                        <p:par>
                          <p:cTn id="107" fill="hold">
                            <p:stCondLst>
                              <p:cond delay="500"/>
                            </p:stCondLst>
                            <p:childTnLst>
                              <p:par>
                                <p:cTn id="108" presetID="10" presetClass="entr" presetSubtype="0" fill="hold" grpId="0" nodeType="afterEffect">
                                  <p:stCondLst>
                                    <p:cond delay="0"/>
                                  </p:stCondLst>
                                  <p:childTnLst>
                                    <p:set>
                                      <p:cBhvr>
                                        <p:cTn id="109" dur="1" fill="hold">
                                          <p:stCondLst>
                                            <p:cond delay="0"/>
                                          </p:stCondLst>
                                        </p:cTn>
                                        <p:tgtEl>
                                          <p:spTgt spid="34"/>
                                        </p:tgtEl>
                                        <p:attrNameLst>
                                          <p:attrName>style.visibility</p:attrName>
                                        </p:attrNameLst>
                                      </p:cBhvr>
                                      <p:to>
                                        <p:strVal val="visible"/>
                                      </p:to>
                                    </p:set>
                                    <p:animEffect transition="in" filter="fade">
                                      <p:cBhvr>
                                        <p:cTn id="110" dur="250"/>
                                        <p:tgtEl>
                                          <p:spTgt spid="34"/>
                                        </p:tgtEl>
                                      </p:cBhvr>
                                    </p:animEffect>
                                  </p:childTnLst>
                                </p:cTn>
                              </p:par>
                            </p:childTnLst>
                          </p:cTn>
                        </p:par>
                        <p:par>
                          <p:cTn id="111" fill="hold">
                            <p:stCondLst>
                              <p:cond delay="750"/>
                            </p:stCondLst>
                            <p:childTnLst>
                              <p:par>
                                <p:cTn id="112" presetID="10" presetClass="entr" presetSubtype="0" fill="hold" grpId="0" nodeType="afterEffect">
                                  <p:stCondLst>
                                    <p:cond delay="0"/>
                                  </p:stCondLst>
                                  <p:childTnLst>
                                    <p:set>
                                      <p:cBhvr>
                                        <p:cTn id="113" dur="1" fill="hold">
                                          <p:stCondLst>
                                            <p:cond delay="0"/>
                                          </p:stCondLst>
                                        </p:cTn>
                                        <p:tgtEl>
                                          <p:spTgt spid="35"/>
                                        </p:tgtEl>
                                        <p:attrNameLst>
                                          <p:attrName>style.visibility</p:attrName>
                                        </p:attrNameLst>
                                      </p:cBhvr>
                                      <p:to>
                                        <p:strVal val="visible"/>
                                      </p:to>
                                    </p:set>
                                    <p:animEffect transition="in" filter="fade">
                                      <p:cBhvr>
                                        <p:cTn id="114" dur="250"/>
                                        <p:tgtEl>
                                          <p:spTgt spid="35"/>
                                        </p:tgtEl>
                                      </p:cBhvr>
                                    </p:animEffect>
                                  </p:childTnLst>
                                </p:cTn>
                              </p:par>
                            </p:childTnLst>
                          </p:cTn>
                        </p:par>
                        <p:par>
                          <p:cTn id="115" fill="hold">
                            <p:stCondLst>
                              <p:cond delay="1000"/>
                            </p:stCondLst>
                            <p:childTnLst>
                              <p:par>
                                <p:cTn id="116" presetID="10" presetClass="entr" presetSubtype="0" fill="hold" grpId="0" nodeType="afterEffect">
                                  <p:stCondLst>
                                    <p:cond delay="0"/>
                                  </p:stCondLst>
                                  <p:childTnLst>
                                    <p:set>
                                      <p:cBhvr>
                                        <p:cTn id="117" dur="1" fill="hold">
                                          <p:stCondLst>
                                            <p:cond delay="0"/>
                                          </p:stCondLst>
                                        </p:cTn>
                                        <p:tgtEl>
                                          <p:spTgt spid="36"/>
                                        </p:tgtEl>
                                        <p:attrNameLst>
                                          <p:attrName>style.visibility</p:attrName>
                                        </p:attrNameLst>
                                      </p:cBhvr>
                                      <p:to>
                                        <p:strVal val="visible"/>
                                      </p:to>
                                    </p:set>
                                    <p:animEffect transition="in" filter="fade">
                                      <p:cBhvr>
                                        <p:cTn id="118" dur="2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animBg="1"/>
      <p:bldP spid="6" grpId="0" animBg="1"/>
      <p:bldP spid="7" grpId="0" animBg="1"/>
      <p:bldP spid="8" grpId="0" animBg="1"/>
      <p:bldP spid="9" grpId="0" animBg="1"/>
      <p:bldP spid="19" grpId="0"/>
      <p:bldP spid="20" grpId="0"/>
      <p:bldP spid="21" grpId="0"/>
      <p:bldP spid="22" grpId="0"/>
      <p:bldP spid="23" grpId="0"/>
      <p:bldP spid="24" grpId="0"/>
      <p:bldP spid="25" grpId="0" animBg="1"/>
      <p:bldP spid="26" grpId="0" animBg="1"/>
      <p:bldP spid="27" grpId="0"/>
      <p:bldP spid="28" grpId="0"/>
      <p:bldP spid="30" grpId="0"/>
      <p:bldP spid="31" grpId="0" animBg="1"/>
      <p:bldP spid="32" grpId="0" animBg="1"/>
      <p:bldP spid="34" grpId="0" animBg="1"/>
      <p:bldP spid="35" grpId="0" animBg="1"/>
      <p:bldP spid="36" grpId="0" animBg="1"/>
      <p:bldP spid="3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074CD-A326-87EA-BD83-3B0DBBE4157B}"/>
            </a:ext>
          </a:extLst>
        </p:cNvPr>
        <p:cNvGrpSpPr/>
        <p:nvPr/>
      </p:nvGrpSpPr>
      <p:grpSpPr>
        <a:xfrm>
          <a:off x="0" y="0"/>
          <a:ext cx="0" cy="0"/>
          <a:chOff x="0" y="0"/>
          <a:chExt cx="0" cy="0"/>
        </a:xfrm>
      </p:grpSpPr>
    </p:spTree>
    <p:extLst>
      <p:ext uri="{BB962C8B-B14F-4D97-AF65-F5344CB8AC3E}">
        <p14:creationId xmlns:p14="http://schemas.microsoft.com/office/powerpoint/2010/main" val="3187044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8B835-0DE9-6C99-5F93-CF30B7D42C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45B1EB-01BA-5632-B5A2-5AC4C96E1716}"/>
              </a:ext>
            </a:extLst>
          </p:cNvPr>
          <p:cNvSpPr txBox="1"/>
          <p:nvPr/>
        </p:nvSpPr>
        <p:spPr>
          <a:xfrm>
            <a:off x="3483864" y="3044952"/>
            <a:ext cx="6153912" cy="584775"/>
          </a:xfrm>
          <a:prstGeom prst="rect">
            <a:avLst/>
          </a:prstGeom>
          <a:noFill/>
        </p:spPr>
        <p:txBody>
          <a:bodyPr wrap="square" rtlCol="0">
            <a:spAutoFit/>
          </a:bodyPr>
          <a:lstStyle/>
          <a:p>
            <a:r>
              <a:rPr lang="en-US" sz="3200" dirty="0"/>
              <a:t>THANK YOU FOR YOUR TIME</a:t>
            </a:r>
            <a:endParaRPr lang="en-IN" sz="3200" dirty="0"/>
          </a:p>
        </p:txBody>
      </p:sp>
    </p:spTree>
    <p:extLst>
      <p:ext uri="{BB962C8B-B14F-4D97-AF65-F5344CB8AC3E}">
        <p14:creationId xmlns:p14="http://schemas.microsoft.com/office/powerpoint/2010/main" val="6434105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6851</TotalTime>
  <Words>873</Words>
  <Application>Microsoft Office PowerPoint</Application>
  <PresentationFormat>Widescreen</PresentationFormat>
  <Paragraphs>93</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Consolas</vt:lpstr>
      <vt:lpstr>Google Sans</vt:lpstr>
      <vt:lpstr>Manrope</vt:lpstr>
      <vt:lpstr>Damask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ghost</dc:creator>
  <cp:lastModifiedBy>Coder Zero</cp:lastModifiedBy>
  <cp:revision>178</cp:revision>
  <dcterms:created xsi:type="dcterms:W3CDTF">2020-07-09T14:04:16Z</dcterms:created>
  <dcterms:modified xsi:type="dcterms:W3CDTF">2025-06-14T22:51:21Z</dcterms:modified>
</cp:coreProperties>
</file>