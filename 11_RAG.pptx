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notesMasterIdLst>
    <p:notesMasterId r:id="rId10"/>
  </p:notesMasterIdLst>
  <p:sldIdLst>
    <p:sldId id="274" r:id="rId2"/>
    <p:sldId id="329" r:id="rId3"/>
    <p:sldId id="330" r:id="rId4"/>
    <p:sldId id="331" r:id="rId5"/>
    <p:sldId id="332" r:id="rId6"/>
    <p:sldId id="328" r:id="rId7"/>
    <p:sldId id="300" r:id="rId8"/>
    <p:sldId id="33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3348"/>
    <a:srgbClr val="008000"/>
    <a:srgbClr val="CC3300"/>
    <a:srgbClr val="E40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6987B-4077-41BF-97D4-EA38746EFAB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065E2-8AB8-4848-955E-6C0D5851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8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065E2-8AB8-4848-955E-6C0D5851B9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42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5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3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2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9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9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6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3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2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58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08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86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75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07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66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5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93930-47BE-40BC-A32D-4F995F4BBD55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78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gif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CABFDC-FBF9-BE8E-2A7D-FF9A1D04D407}"/>
              </a:ext>
            </a:extLst>
          </p:cNvPr>
          <p:cNvSpPr/>
          <p:nvPr/>
        </p:nvSpPr>
        <p:spPr>
          <a:xfrm>
            <a:off x="4774298" y="3354706"/>
            <a:ext cx="1616977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685071" y="2659559"/>
            <a:ext cx="4041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RAG</a:t>
            </a:r>
          </a:p>
        </p:txBody>
      </p:sp>
    </p:spTree>
    <p:extLst>
      <p:ext uri="{BB962C8B-B14F-4D97-AF65-F5344CB8AC3E}">
        <p14:creationId xmlns:p14="http://schemas.microsoft.com/office/powerpoint/2010/main" val="282041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35734-945E-DCE7-D43E-63613D296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0EB100C-287C-B32D-0239-A02D83E41A85}"/>
              </a:ext>
            </a:extLst>
          </p:cNvPr>
          <p:cNvGrpSpPr/>
          <p:nvPr/>
        </p:nvGrpSpPr>
        <p:grpSpPr>
          <a:xfrm>
            <a:off x="680880" y="909435"/>
            <a:ext cx="1376516" cy="1745848"/>
            <a:chOff x="1516625" y="528105"/>
            <a:chExt cx="1376516" cy="174584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24D21F3-27AE-C248-C4AE-E90D12F4E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6625" y="897437"/>
              <a:ext cx="1376516" cy="1376516"/>
            </a:xfrm>
            <a:prstGeom prst="round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E4EBECA-8AB2-D5B7-15BA-62FA68413719}"/>
                </a:ext>
              </a:extLst>
            </p:cNvPr>
            <p:cNvSpPr txBox="1"/>
            <p:nvPr/>
          </p:nvSpPr>
          <p:spPr>
            <a:xfrm>
              <a:off x="1671724" y="528105"/>
              <a:ext cx="1066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1/1/2025</a:t>
              </a:r>
              <a:endParaRPr lang="en-IN" dirty="0"/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EF6280-ECC3-075F-6C2C-C6D05ADBF989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2057396" y="1967025"/>
            <a:ext cx="1049593" cy="14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D3BF17D-1195-D427-B8A0-1E1463E625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989" y="1278767"/>
            <a:ext cx="1406257" cy="140625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1CE7CC-9224-9E26-7515-7E783182218D}"/>
              </a:ext>
            </a:extLst>
          </p:cNvPr>
          <p:cNvCxnSpPr>
            <a:stCxn id="10" idx="3"/>
            <a:endCxn id="3" idx="1"/>
          </p:cNvCxnSpPr>
          <p:nvPr/>
        </p:nvCxnSpPr>
        <p:spPr>
          <a:xfrm>
            <a:off x="4513246" y="1981896"/>
            <a:ext cx="1049593" cy="14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3A5DDB2-8550-B0D9-2518-406F5CF01007}"/>
              </a:ext>
            </a:extLst>
          </p:cNvPr>
          <p:cNvGrpSpPr/>
          <p:nvPr/>
        </p:nvGrpSpPr>
        <p:grpSpPr>
          <a:xfrm>
            <a:off x="5038042" y="1094101"/>
            <a:ext cx="1901313" cy="1710623"/>
            <a:chOff x="6866845" y="1838077"/>
            <a:chExt cx="1901313" cy="17106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743A063-9A3A-ADD6-A333-F22ABF84B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91642" y="2052484"/>
              <a:ext cx="1376516" cy="1376516"/>
            </a:xfrm>
            <a:prstGeom prst="round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E0574E4-8FBB-0BFC-EA46-FCD4EC776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6845" y="1838077"/>
              <a:ext cx="1376517" cy="1710623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32C8D12-8BA3-6F79-48B5-FBB3B710D70B}"/>
              </a:ext>
            </a:extLst>
          </p:cNvPr>
          <p:cNvSpPr txBox="1"/>
          <p:nvPr/>
        </p:nvSpPr>
        <p:spPr>
          <a:xfrm>
            <a:off x="680880" y="236048"/>
            <a:ext cx="1878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Pretraining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CBEAA8-EB96-34A1-03DA-63F58E1F9574}"/>
              </a:ext>
            </a:extLst>
          </p:cNvPr>
          <p:cNvSpPr txBox="1"/>
          <p:nvPr/>
        </p:nvSpPr>
        <p:spPr>
          <a:xfrm>
            <a:off x="7493892" y="2091567"/>
            <a:ext cx="5044266" cy="153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Question about events happened </a:t>
            </a:r>
            <a:r>
              <a:rPr lang="en-US" sz="1600" b="1" i="1" dirty="0">
                <a:solidFill>
                  <a:srgbClr val="FF0000"/>
                </a:solidFill>
              </a:rPr>
              <a:t>after 1/1/2025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About our </a:t>
            </a:r>
            <a:r>
              <a:rPr lang="en-US" sz="1600" b="1" i="1" dirty="0">
                <a:solidFill>
                  <a:srgbClr val="FF0000"/>
                </a:solidFill>
              </a:rPr>
              <a:t>private domain </a:t>
            </a:r>
            <a:r>
              <a:rPr lang="en-US" sz="1600" dirty="0"/>
              <a:t>specific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May hallucinate and give random answer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Unable to explain the source of it’s answer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A385DA-36D2-D4E7-F982-872131F918AD}"/>
              </a:ext>
            </a:extLst>
          </p:cNvPr>
          <p:cNvGrpSpPr/>
          <p:nvPr/>
        </p:nvGrpSpPr>
        <p:grpSpPr>
          <a:xfrm>
            <a:off x="9503468" y="427720"/>
            <a:ext cx="1005950" cy="990460"/>
            <a:chOff x="9503468" y="427720"/>
            <a:chExt cx="1005950" cy="99046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D37B979-8544-A9DD-2100-35E1B9C63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468" y="729922"/>
              <a:ext cx="688258" cy="688258"/>
            </a:xfrm>
            <a:prstGeom prst="round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DF62CF9-5817-FADA-71E4-24C6DFD70674}"/>
                </a:ext>
              </a:extLst>
            </p:cNvPr>
            <p:cNvSpPr txBox="1"/>
            <p:nvPr/>
          </p:nvSpPr>
          <p:spPr>
            <a:xfrm>
              <a:off x="10111552" y="427720"/>
              <a:ext cx="39786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FF0000"/>
                  </a:solidFill>
                </a:rPr>
                <a:t>?</a:t>
              </a:r>
              <a:endParaRPr lang="en-IN" sz="3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79C52E2-FC5D-58D6-29C0-25C8278C672A}"/>
              </a:ext>
            </a:extLst>
          </p:cNvPr>
          <p:cNvSpPr txBox="1"/>
          <p:nvPr/>
        </p:nvSpPr>
        <p:spPr>
          <a:xfrm>
            <a:off x="5503990" y="5264290"/>
            <a:ext cx="2236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Solutions before RAG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223F43-10DE-3BB3-E835-D84BE15BCC8A}"/>
              </a:ext>
            </a:extLst>
          </p:cNvPr>
          <p:cNvSpPr txBox="1"/>
          <p:nvPr/>
        </p:nvSpPr>
        <p:spPr>
          <a:xfrm>
            <a:off x="9503468" y="4450374"/>
            <a:ext cx="260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Fine-Tuning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0396DB-FACC-F689-D9A2-83961ED4AC2D}"/>
              </a:ext>
            </a:extLst>
          </p:cNvPr>
          <p:cNvSpPr txBox="1"/>
          <p:nvPr/>
        </p:nvSpPr>
        <p:spPr>
          <a:xfrm>
            <a:off x="9503468" y="5175084"/>
            <a:ext cx="36475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Pretraining with new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A8C6BE-81C0-D31D-7D35-9A0ACB91D522}"/>
              </a:ext>
            </a:extLst>
          </p:cNvPr>
          <p:cNvSpPr txBox="1"/>
          <p:nvPr/>
        </p:nvSpPr>
        <p:spPr>
          <a:xfrm>
            <a:off x="9503468" y="5889080"/>
            <a:ext cx="6270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Few-Shot Learning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058B4B-83DF-DE06-F78C-8E225C04FC0A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 flipV="1">
            <a:off x="7740115" y="4635040"/>
            <a:ext cx="1763353" cy="81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CDD25ED-15D2-85B4-A96B-4E70DD3214A8}"/>
              </a:ext>
            </a:extLst>
          </p:cNvPr>
          <p:cNvCxnSpPr>
            <a:stCxn id="23" idx="3"/>
            <a:endCxn id="26" idx="1"/>
          </p:cNvCxnSpPr>
          <p:nvPr/>
        </p:nvCxnSpPr>
        <p:spPr>
          <a:xfrm flipV="1">
            <a:off x="7740115" y="5359750"/>
            <a:ext cx="1763353" cy="89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B0DC598-239F-7815-41DE-1B25975658FD}"/>
              </a:ext>
            </a:extLst>
          </p:cNvPr>
          <p:cNvCxnSpPr>
            <a:stCxn id="23" idx="3"/>
            <a:endCxn id="28" idx="1"/>
          </p:cNvCxnSpPr>
          <p:nvPr/>
        </p:nvCxnSpPr>
        <p:spPr>
          <a:xfrm>
            <a:off x="7740115" y="5448956"/>
            <a:ext cx="1763353" cy="624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83B2BBF-7A2E-BD0F-93DC-EBD372781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492667"/>
              </p:ext>
            </p:extLst>
          </p:nvPr>
        </p:nvGraphicFramePr>
        <p:xfrm>
          <a:off x="441036" y="3009701"/>
          <a:ext cx="4785685" cy="3329575"/>
        </p:xfrm>
        <a:graphic>
          <a:graphicData uri="http://schemas.openxmlformats.org/drawingml/2006/table">
            <a:tbl>
              <a:tblPr/>
              <a:tblGrid>
                <a:gridCol w="550078">
                  <a:extLst>
                    <a:ext uri="{9D8B030D-6E8A-4147-A177-3AD203B41FA5}">
                      <a16:colId xmlns:a16="http://schemas.microsoft.com/office/drawing/2014/main" val="4195407259"/>
                    </a:ext>
                  </a:extLst>
                </a:gridCol>
                <a:gridCol w="519519">
                  <a:extLst>
                    <a:ext uri="{9D8B030D-6E8A-4147-A177-3AD203B41FA5}">
                      <a16:colId xmlns:a16="http://schemas.microsoft.com/office/drawing/2014/main" val="1123872947"/>
                    </a:ext>
                  </a:extLst>
                </a:gridCol>
                <a:gridCol w="1925275">
                  <a:extLst>
                    <a:ext uri="{9D8B030D-6E8A-4147-A177-3AD203B41FA5}">
                      <a16:colId xmlns:a16="http://schemas.microsoft.com/office/drawing/2014/main" val="3471534580"/>
                    </a:ext>
                  </a:extLst>
                </a:gridCol>
                <a:gridCol w="1790813">
                  <a:extLst>
                    <a:ext uri="{9D8B030D-6E8A-4147-A177-3AD203B41FA5}">
                      <a16:colId xmlns:a16="http://schemas.microsoft.com/office/drawing/2014/main" val="2066710265"/>
                    </a:ext>
                  </a:extLst>
                </a:gridCol>
              </a:tblGrid>
              <a:tr h="292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Model Family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Developer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/>
                        <a:t>Primary Training Data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/>
                        <a:t>Knowledge Cut-off Date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240801"/>
                  </a:ext>
                </a:extLst>
              </a:tr>
              <a:tr h="439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GPT-4 &amp; GPT-4o</a:t>
                      </a:r>
                      <a:endParaRPr lang="en-IN" sz="800"/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OpenAI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A massive dataset of text and code from the internet (e.g., Common Crawl), books, and licensed data.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GPT-4o: October 2023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560723"/>
                  </a:ext>
                </a:extLst>
              </a:tr>
              <a:tr h="686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Llama 3</a:t>
                      </a:r>
                      <a:endParaRPr lang="en-IN" sz="800"/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Meta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A new mix of publicly available online data, reportedly seven times larger than the dataset used for Llama 2. It includes a larger portion of non-English data and code.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8B model: March 2023 </a:t>
                      </a:r>
                      <a:br>
                        <a:rPr lang="en-IN" sz="800"/>
                      </a:br>
                      <a:r>
                        <a:rPr lang="en-IN" sz="800"/>
                        <a:t>70B model: December 2023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819927"/>
                  </a:ext>
                </a:extLst>
              </a:tr>
              <a:tr h="604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Gemini</a:t>
                      </a:r>
                      <a:endParaRPr lang="en-IN" sz="800"/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Google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 multimodal dataset that includes a diverse and vast collection of text from the web, books, code, as well as image, audio, and video data.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Varies by version, but generally around early 2023 for Gemini 1.0. Newer versions have more recent data.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750957"/>
                  </a:ext>
                </a:extLst>
              </a:tr>
              <a:tr h="769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Claude 3 &amp; 3.5</a:t>
                      </a:r>
                      <a:endParaRPr lang="en-IN" sz="800"/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Anthropic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A proprietary mix of publicly available information from the internet, data from third parties, and data generated internally by Anthropic. They explicitly state they do not use user data.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Claude 3 family: August 2023 </a:t>
                      </a:r>
                      <a:br>
                        <a:rPr lang="en-IN" sz="800"/>
                      </a:br>
                      <a:r>
                        <a:rPr lang="en-IN" sz="800"/>
                        <a:t>Claude 3.5 Sonnet: April 2024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39599"/>
                  </a:ext>
                </a:extLst>
              </a:tr>
              <a:tr h="537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Mistral</a:t>
                      </a:r>
                      <a:endParaRPr lang="en-IN" sz="800"/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Mistral AI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Publicly available data from the internet. The exact composition is not fully detailed but is known to be a large and diverse web scrape.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Varies significantly by model, with newer models having more recent cut-offs.</a:t>
                      </a:r>
                    </a:p>
                  </a:txBody>
                  <a:tcPr marL="33295" marR="33295" marT="16647" marB="166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360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62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5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3" grpId="0"/>
      <p:bldP spid="24" grpId="0"/>
      <p:bldP spid="26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E8A5C-AAA1-57E9-2F99-388D0804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E6B133-8C19-452E-A72B-2BD465A58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236" y="629264"/>
            <a:ext cx="7427527" cy="5444209"/>
          </a:xfrm>
          <a:prstGeom prst="roundRect">
            <a:avLst>
              <a:gd name="adj" fmla="val 10527"/>
            </a:avLst>
          </a:prstGeom>
        </p:spPr>
      </p:pic>
    </p:spTree>
    <p:extLst>
      <p:ext uri="{BB962C8B-B14F-4D97-AF65-F5344CB8AC3E}">
        <p14:creationId xmlns:p14="http://schemas.microsoft.com/office/powerpoint/2010/main" val="129188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601A8-D460-47E2-4BEC-58AEC4B3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8EBFAF-B586-E8E6-A7C8-FEB459CCF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074" y="961680"/>
            <a:ext cx="7001852" cy="4934639"/>
          </a:xfrm>
          <a:prstGeom prst="roundRect">
            <a:avLst>
              <a:gd name="adj" fmla="val 9295"/>
            </a:avLst>
          </a:prstGeom>
        </p:spPr>
      </p:pic>
    </p:spTree>
    <p:extLst>
      <p:ext uri="{BB962C8B-B14F-4D97-AF65-F5344CB8AC3E}">
        <p14:creationId xmlns:p14="http://schemas.microsoft.com/office/powerpoint/2010/main" val="412688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1CBDA-E52C-DDE1-E4BD-08B8F6E20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CC73A5-6DB9-AC21-18EE-B7CDA9086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49" y="265470"/>
            <a:ext cx="7723493" cy="5551565"/>
          </a:xfrm>
          <a:prstGeom prst="roundRect">
            <a:avLst>
              <a:gd name="adj" fmla="val 11416"/>
            </a:avLst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1B5410-5570-E053-8135-9E4475CB50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15"/>
          <a:stretch>
            <a:fillRect/>
          </a:stretch>
        </p:blipFill>
        <p:spPr>
          <a:xfrm>
            <a:off x="6366512" y="1757504"/>
            <a:ext cx="5423969" cy="315862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5406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C9DA3-CBEE-A7DE-3DCF-E4E44C03E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A2F21B-A52D-7CAA-B5B6-3FCD3088E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705" y="1448875"/>
            <a:ext cx="7268589" cy="2210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2228A5-9EED-C47D-B283-7550F40BB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706" y="3564250"/>
            <a:ext cx="7350888" cy="150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3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8B89-5367-2053-B021-660A67AD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C352C240-F0F2-1C05-66A6-A82E909F6A21}"/>
              </a:ext>
            </a:extLst>
          </p:cNvPr>
          <p:cNvSpPr/>
          <p:nvPr/>
        </p:nvSpPr>
        <p:spPr>
          <a:xfrm>
            <a:off x="2101645" y="340139"/>
            <a:ext cx="776748" cy="84557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lowchart: Multidocument 3">
            <a:extLst>
              <a:ext uri="{FF2B5EF4-FFF2-40B4-BE49-F238E27FC236}">
                <a16:creationId xmlns:a16="http://schemas.microsoft.com/office/drawing/2014/main" id="{3E54F5A2-29EC-B3A7-DC40-45D8990A0E18}"/>
              </a:ext>
            </a:extLst>
          </p:cNvPr>
          <p:cNvSpPr/>
          <p:nvPr/>
        </p:nvSpPr>
        <p:spPr>
          <a:xfrm>
            <a:off x="4375438" y="340139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8CD782C8-09CB-612B-E372-B55DB86DFC4A}"/>
              </a:ext>
            </a:extLst>
          </p:cNvPr>
          <p:cNvSpPr/>
          <p:nvPr/>
        </p:nvSpPr>
        <p:spPr>
          <a:xfrm>
            <a:off x="4031224" y="3626874"/>
            <a:ext cx="963562" cy="1123335"/>
          </a:xfrm>
          <a:prstGeom prst="can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E1124FC1-08FF-B4EB-1B18-EC75D4C1F7B0}"/>
              </a:ext>
            </a:extLst>
          </p:cNvPr>
          <p:cNvSpPr/>
          <p:nvPr/>
        </p:nvSpPr>
        <p:spPr>
          <a:xfrm>
            <a:off x="275304" y="5493154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FFDE75E-C2CA-4FFE-94B1-0435D24B1C0B}"/>
              </a:ext>
            </a:extLst>
          </p:cNvPr>
          <p:cNvSpPr/>
          <p:nvPr/>
        </p:nvSpPr>
        <p:spPr>
          <a:xfrm>
            <a:off x="2118852" y="5485169"/>
            <a:ext cx="1356851" cy="353961"/>
          </a:xfrm>
          <a:prstGeom prst="parallelogram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EAA0EA-8506-50E1-DCDD-D6EE669F485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878393" y="762927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717C93-88F2-555A-1691-AD8FFBCF2FC6}"/>
              </a:ext>
            </a:extLst>
          </p:cNvPr>
          <p:cNvSpPr txBox="1"/>
          <p:nvPr/>
        </p:nvSpPr>
        <p:spPr>
          <a:xfrm>
            <a:off x="5225845" y="2270630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42E39-8888-3345-9F63-ADEB9F74B54C}"/>
              </a:ext>
            </a:extLst>
          </p:cNvPr>
          <p:cNvSpPr txBox="1"/>
          <p:nvPr/>
        </p:nvSpPr>
        <p:spPr>
          <a:xfrm>
            <a:off x="5225845" y="801407"/>
            <a:ext cx="1273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chunks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60AFD-2E48-2090-90DA-08868A1FA8C5}"/>
              </a:ext>
            </a:extLst>
          </p:cNvPr>
          <p:cNvSpPr txBox="1"/>
          <p:nvPr/>
        </p:nvSpPr>
        <p:spPr>
          <a:xfrm>
            <a:off x="5235762" y="3855770"/>
            <a:ext cx="1720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Database</a:t>
            </a:r>
            <a:endParaRPr lang="en-IN" dirty="0"/>
          </a:p>
        </p:txBody>
      </p:sp>
      <p:sp>
        <p:nvSpPr>
          <p:cNvPr id="12" name="Rectangle: Beveled 11">
            <a:extLst>
              <a:ext uri="{FF2B5EF4-FFF2-40B4-BE49-F238E27FC236}">
                <a16:creationId xmlns:a16="http://schemas.microsoft.com/office/drawing/2014/main" id="{9AF9CDE6-94F4-E023-0FF7-C990F6F36424}"/>
              </a:ext>
            </a:extLst>
          </p:cNvPr>
          <p:cNvSpPr/>
          <p:nvPr/>
        </p:nvSpPr>
        <p:spPr>
          <a:xfrm>
            <a:off x="4490622" y="5493154"/>
            <a:ext cx="1160209" cy="687026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FF0000"/>
                </a:solidFill>
                <a:latin typeface="Google Sans"/>
              </a:rPr>
              <a:t>Retriever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E17A2-79B1-6C2F-69AE-871ADBBE8B14}"/>
              </a:ext>
            </a:extLst>
          </p:cNvPr>
          <p:cNvSpPr txBox="1"/>
          <p:nvPr/>
        </p:nvSpPr>
        <p:spPr>
          <a:xfrm>
            <a:off x="4232648" y="6312912"/>
            <a:ext cx="171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Semantic search</a:t>
            </a:r>
            <a:endParaRPr lang="en-IN" dirty="0"/>
          </a:p>
        </p:txBody>
      </p:sp>
      <p:sp>
        <p:nvSpPr>
          <p:cNvPr id="14" name="Flowchart: Multidocument 13">
            <a:extLst>
              <a:ext uri="{FF2B5EF4-FFF2-40B4-BE49-F238E27FC236}">
                <a16:creationId xmlns:a16="http://schemas.microsoft.com/office/drawing/2014/main" id="{5FC1B858-3608-C00C-74D5-B673E62C2B82}"/>
              </a:ext>
            </a:extLst>
          </p:cNvPr>
          <p:cNvSpPr/>
          <p:nvPr/>
        </p:nvSpPr>
        <p:spPr>
          <a:xfrm>
            <a:off x="6604396" y="5572428"/>
            <a:ext cx="704572" cy="549375"/>
          </a:xfrm>
          <a:prstGeom prst="flowChartMultidocumen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Multidocument 14">
            <a:extLst>
              <a:ext uri="{FF2B5EF4-FFF2-40B4-BE49-F238E27FC236}">
                <a16:creationId xmlns:a16="http://schemas.microsoft.com/office/drawing/2014/main" id="{A0F20342-5699-0F9E-4EC5-7D6332FE9E46}"/>
              </a:ext>
            </a:extLst>
          </p:cNvPr>
          <p:cNvSpPr/>
          <p:nvPr/>
        </p:nvSpPr>
        <p:spPr>
          <a:xfrm>
            <a:off x="3950235" y="900567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Multidocument 15">
            <a:extLst>
              <a:ext uri="{FF2B5EF4-FFF2-40B4-BE49-F238E27FC236}">
                <a16:creationId xmlns:a16="http://schemas.microsoft.com/office/drawing/2014/main" id="{45C86EA8-BE5E-13B8-055C-469034960223}"/>
              </a:ext>
            </a:extLst>
          </p:cNvPr>
          <p:cNvSpPr/>
          <p:nvPr/>
        </p:nvSpPr>
        <p:spPr>
          <a:xfrm>
            <a:off x="4375438" y="2097399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Multidocument 16">
            <a:extLst>
              <a:ext uri="{FF2B5EF4-FFF2-40B4-BE49-F238E27FC236}">
                <a16:creationId xmlns:a16="http://schemas.microsoft.com/office/drawing/2014/main" id="{764F3D06-C246-AB3A-6422-758F3CB217C6}"/>
              </a:ext>
            </a:extLst>
          </p:cNvPr>
          <p:cNvSpPr/>
          <p:nvPr/>
        </p:nvSpPr>
        <p:spPr>
          <a:xfrm>
            <a:off x="4031224" y="2577578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62EDC4-CBF8-9610-8BC1-F11BF5D08268}"/>
              </a:ext>
            </a:extLst>
          </p:cNvPr>
          <p:cNvCxnSpPr>
            <a:cxnSpLocks/>
          </p:cNvCxnSpPr>
          <p:nvPr/>
        </p:nvCxnSpPr>
        <p:spPr>
          <a:xfrm>
            <a:off x="4513004" y="1616360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37EA1-67DE-8776-D0BA-A5B0B5736D76}"/>
              </a:ext>
            </a:extLst>
          </p:cNvPr>
          <p:cNvCxnSpPr>
            <a:cxnSpLocks/>
          </p:cNvCxnSpPr>
          <p:nvPr/>
        </p:nvCxnSpPr>
        <p:spPr>
          <a:xfrm>
            <a:off x="4508085" y="3223248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69EEC879-1558-D378-B2D5-EEDACD5458FC}"/>
              </a:ext>
            </a:extLst>
          </p:cNvPr>
          <p:cNvSpPr/>
          <p:nvPr/>
        </p:nvSpPr>
        <p:spPr>
          <a:xfrm>
            <a:off x="7561725" y="5642485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BC704-292C-A75E-3CB9-132EF3132F40}"/>
              </a:ext>
            </a:extLst>
          </p:cNvPr>
          <p:cNvSpPr txBox="1"/>
          <p:nvPr/>
        </p:nvSpPr>
        <p:spPr>
          <a:xfrm>
            <a:off x="6341891" y="6312912"/>
            <a:ext cx="250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Result chunks  +  user query</a:t>
            </a:r>
            <a:endParaRPr lang="en-IN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02D8F5-38D7-D767-33E3-D7C4F74094A9}"/>
              </a:ext>
            </a:extLst>
          </p:cNvPr>
          <p:cNvSpPr txBox="1"/>
          <p:nvPr/>
        </p:nvSpPr>
        <p:spPr>
          <a:xfrm>
            <a:off x="275304" y="5975049"/>
            <a:ext cx="1229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query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DEAF85-05CC-B2BE-927E-ED703CFDDD7F}"/>
              </a:ext>
            </a:extLst>
          </p:cNvPr>
          <p:cNvSpPr txBox="1"/>
          <p:nvPr/>
        </p:nvSpPr>
        <p:spPr>
          <a:xfrm>
            <a:off x="2043980" y="5975049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6CD511D-C426-AA11-6B68-24D9E0465DE4}"/>
              </a:ext>
            </a:extLst>
          </p:cNvPr>
          <p:cNvSpPr/>
          <p:nvPr/>
        </p:nvSpPr>
        <p:spPr>
          <a:xfrm>
            <a:off x="6388196" y="5368413"/>
            <a:ext cx="2600265" cy="13863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93F7677-A2B8-038E-E81F-6F0952F92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034" y="5593799"/>
            <a:ext cx="1270899" cy="749351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B00F06-0603-19C7-06B0-B613013F6572}"/>
              </a:ext>
            </a:extLst>
          </p:cNvPr>
          <p:cNvSpPr/>
          <p:nvPr/>
        </p:nvSpPr>
        <p:spPr>
          <a:xfrm>
            <a:off x="11071123" y="5662149"/>
            <a:ext cx="1052051" cy="52848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Final output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0AD65E-63D7-29F5-6AB1-7859DB616CF5}"/>
              </a:ext>
            </a:extLst>
          </p:cNvPr>
          <p:cNvSpPr txBox="1"/>
          <p:nvPr/>
        </p:nvSpPr>
        <p:spPr>
          <a:xfrm>
            <a:off x="9865771" y="630442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3771E6-6BCD-8C31-4AC1-3B88C7EDD09E}"/>
              </a:ext>
            </a:extLst>
          </p:cNvPr>
          <p:cNvCxnSpPr>
            <a:cxnSpLocks/>
            <a:stCxn id="6" idx="2"/>
            <a:endCxn id="7" idx="5"/>
          </p:cNvCxnSpPr>
          <p:nvPr/>
        </p:nvCxnSpPr>
        <p:spPr>
          <a:xfrm flipV="1">
            <a:off x="1587910" y="5662150"/>
            <a:ext cx="575187" cy="798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D7C39A-3105-084D-BC28-91AF03178B9B}"/>
              </a:ext>
            </a:extLst>
          </p:cNvPr>
          <p:cNvCxnSpPr>
            <a:cxnSpLocks/>
            <a:stCxn id="7" idx="2"/>
            <a:endCxn id="12" idx="4"/>
          </p:cNvCxnSpPr>
          <p:nvPr/>
        </p:nvCxnSpPr>
        <p:spPr>
          <a:xfrm>
            <a:off x="3431458" y="5662150"/>
            <a:ext cx="1059164" cy="17451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B56B58-08BC-C245-D65F-CBF13C9687F2}"/>
              </a:ext>
            </a:extLst>
          </p:cNvPr>
          <p:cNvCxnSpPr>
            <a:cxnSpLocks/>
            <a:stCxn id="5" idx="3"/>
            <a:endCxn id="12" idx="6"/>
          </p:cNvCxnSpPr>
          <p:nvPr/>
        </p:nvCxnSpPr>
        <p:spPr>
          <a:xfrm>
            <a:off x="4513005" y="4750209"/>
            <a:ext cx="557722" cy="74294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C52B30-F7D9-844A-2AD1-F5A3F9444C27}"/>
              </a:ext>
            </a:extLst>
          </p:cNvPr>
          <p:cNvCxnSpPr>
            <a:cxnSpLocks/>
            <a:stCxn id="12" idx="0"/>
            <a:endCxn id="14" idx="1"/>
          </p:cNvCxnSpPr>
          <p:nvPr/>
        </p:nvCxnSpPr>
        <p:spPr>
          <a:xfrm>
            <a:off x="5650831" y="5836667"/>
            <a:ext cx="953565" cy="1044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1869A07-B48D-F080-44DA-72D90D393146}"/>
              </a:ext>
            </a:extLst>
          </p:cNvPr>
          <p:cNvCxnSpPr>
            <a:stCxn id="6" idx="0"/>
            <a:endCxn id="20" idx="0"/>
          </p:cNvCxnSpPr>
          <p:nvPr/>
        </p:nvCxnSpPr>
        <p:spPr>
          <a:xfrm rot="16200000" flipH="1">
            <a:off x="4522274" y="1924609"/>
            <a:ext cx="149331" cy="7286421"/>
          </a:xfrm>
          <a:prstGeom prst="bentConnector3">
            <a:avLst>
              <a:gd name="adj1" fmla="val -2650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5E4730E-FAD3-419D-0D80-F811CCF3A01F}"/>
              </a:ext>
            </a:extLst>
          </p:cNvPr>
          <p:cNvCxnSpPr>
            <a:cxnSpLocks/>
          </p:cNvCxnSpPr>
          <p:nvPr/>
        </p:nvCxnSpPr>
        <p:spPr>
          <a:xfrm>
            <a:off x="8993508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066384-6C10-E2CB-D584-086636491637}"/>
              </a:ext>
            </a:extLst>
          </p:cNvPr>
          <p:cNvCxnSpPr>
            <a:cxnSpLocks/>
          </p:cNvCxnSpPr>
          <p:nvPr/>
        </p:nvCxnSpPr>
        <p:spPr>
          <a:xfrm>
            <a:off x="10708047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98D784-D080-A067-A549-CABA9E5E1DB8}"/>
              </a:ext>
            </a:extLst>
          </p:cNvPr>
          <p:cNvSpPr txBox="1"/>
          <p:nvPr/>
        </p:nvSpPr>
        <p:spPr>
          <a:xfrm>
            <a:off x="1853338" y="1288146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Loaded PDF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A21C75-CFEF-BCE9-4ECE-E1C39F2D5D16}"/>
              </a:ext>
            </a:extLst>
          </p:cNvPr>
          <p:cNvSpPr txBox="1"/>
          <p:nvPr/>
        </p:nvSpPr>
        <p:spPr>
          <a:xfrm>
            <a:off x="7308968" y="5576286"/>
            <a:ext cx="427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+ </a:t>
            </a:r>
            <a:endParaRPr lang="en-IN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4C528CB-21CC-4B3A-0F04-C86E255F89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298715"/>
            <a:ext cx="916800" cy="9168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67BE16-2BD1-9CF2-FD68-D7E0D4714A27}"/>
              </a:ext>
            </a:extLst>
          </p:cNvPr>
          <p:cNvCxnSpPr>
            <a:cxnSpLocks/>
          </p:cNvCxnSpPr>
          <p:nvPr/>
        </p:nvCxnSpPr>
        <p:spPr>
          <a:xfrm>
            <a:off x="1262216" y="753173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C2CD088-059D-6BDC-7261-F9767B64D0CF}"/>
              </a:ext>
            </a:extLst>
          </p:cNvPr>
          <p:cNvSpPr txBox="1"/>
          <p:nvPr/>
        </p:nvSpPr>
        <p:spPr>
          <a:xfrm>
            <a:off x="401975" y="128046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1DE53C-1BD1-391A-10DC-18844D014597}"/>
              </a:ext>
            </a:extLst>
          </p:cNvPr>
          <p:cNvSpPr txBox="1"/>
          <p:nvPr/>
        </p:nvSpPr>
        <p:spPr>
          <a:xfrm>
            <a:off x="1173861" y="252009"/>
            <a:ext cx="946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Document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Loader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C557C1-D39E-FA79-9E0D-2B7334D3FD95}"/>
              </a:ext>
            </a:extLst>
          </p:cNvPr>
          <p:cNvSpPr txBox="1"/>
          <p:nvPr/>
        </p:nvSpPr>
        <p:spPr>
          <a:xfrm>
            <a:off x="2958444" y="285608"/>
            <a:ext cx="713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Text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Splitter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975A17-AC4B-5EF2-6E90-549F8648098F}"/>
              </a:ext>
            </a:extLst>
          </p:cNvPr>
          <p:cNvSpPr txBox="1"/>
          <p:nvPr/>
        </p:nvSpPr>
        <p:spPr>
          <a:xfrm>
            <a:off x="4559352" y="159952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60AE68-1AAE-AD0D-6480-8C918B9353A8}"/>
              </a:ext>
            </a:extLst>
          </p:cNvPr>
          <p:cNvSpPr txBox="1"/>
          <p:nvPr/>
        </p:nvSpPr>
        <p:spPr>
          <a:xfrm>
            <a:off x="1286401" y="514379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62E03B-35FD-40A5-EB8F-728FAFB8903E}"/>
              </a:ext>
            </a:extLst>
          </p:cNvPr>
          <p:cNvSpPr txBox="1"/>
          <p:nvPr/>
        </p:nvSpPr>
        <p:spPr>
          <a:xfrm>
            <a:off x="8406206" y="4992933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Prompt</a:t>
            </a:r>
          </a:p>
        </p:txBody>
      </p:sp>
      <p:sp>
        <p:nvSpPr>
          <p:cNvPr id="45" name="Cloud 44">
            <a:extLst>
              <a:ext uri="{FF2B5EF4-FFF2-40B4-BE49-F238E27FC236}">
                <a16:creationId xmlns:a16="http://schemas.microsoft.com/office/drawing/2014/main" id="{D23E2E95-B971-F4D6-106F-EA8AE19D1D09}"/>
              </a:ext>
            </a:extLst>
          </p:cNvPr>
          <p:cNvSpPr/>
          <p:nvPr/>
        </p:nvSpPr>
        <p:spPr>
          <a:xfrm>
            <a:off x="7736672" y="3519949"/>
            <a:ext cx="1572096" cy="645237"/>
          </a:xfrm>
          <a:prstGeom prst="clou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endParaRPr lang="en-IN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76A02B9-CF9E-2774-69EE-A9A644AC3B8A}"/>
              </a:ext>
            </a:extLst>
          </p:cNvPr>
          <p:cNvCxnSpPr>
            <a:stCxn id="26" idx="0"/>
            <a:endCxn id="45" idx="0"/>
          </p:cNvCxnSpPr>
          <p:nvPr/>
        </p:nvCxnSpPr>
        <p:spPr>
          <a:xfrm rot="16200000" flipV="1">
            <a:off x="9542514" y="3607513"/>
            <a:ext cx="1819581" cy="22896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1715BAA-6476-4DA4-F38C-FC5E53C7845F}"/>
              </a:ext>
            </a:extLst>
          </p:cNvPr>
          <p:cNvCxnSpPr>
            <a:stCxn id="45" idx="2"/>
            <a:endCxn id="36" idx="0"/>
          </p:cNvCxnSpPr>
          <p:nvPr/>
        </p:nvCxnSpPr>
        <p:spPr>
          <a:xfrm rot="10800000" flipV="1">
            <a:off x="7522820" y="3842568"/>
            <a:ext cx="218728" cy="17337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E3FD7721-1320-3A9D-01CD-7D66158D96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45" y="1692168"/>
            <a:ext cx="763127" cy="763127"/>
          </a:xfrm>
          <a:prstGeom prst="round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79B6831-3FD1-680E-8B98-174E338BF75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45" y="2687513"/>
            <a:ext cx="763121" cy="763121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045BF7E-6CC6-AF70-91B7-6412CE278903}"/>
              </a:ext>
            </a:extLst>
          </p:cNvPr>
          <p:cNvSpPr txBox="1"/>
          <p:nvPr/>
        </p:nvSpPr>
        <p:spPr>
          <a:xfrm>
            <a:off x="8433552" y="986073"/>
            <a:ext cx="1169616" cy="76944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RAG</a:t>
            </a:r>
            <a:endParaRPr lang="en-IN" sz="4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190F65-02BB-6EA6-EBA4-D4A1CA6D6693}"/>
              </a:ext>
            </a:extLst>
          </p:cNvPr>
          <p:cNvSpPr txBox="1"/>
          <p:nvPr/>
        </p:nvSpPr>
        <p:spPr>
          <a:xfrm>
            <a:off x="7480718" y="18217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F1F1F1"/>
                </a:solidFill>
                <a:effectLst/>
                <a:latin typeface="Roboto" panose="02000000000000000000" pitchFamily="2" charset="0"/>
              </a:rPr>
              <a:t>Retrieval Augmented Generation</a:t>
            </a:r>
          </a:p>
        </p:txBody>
      </p:sp>
    </p:spTree>
    <p:extLst>
      <p:ext uri="{BB962C8B-B14F-4D97-AF65-F5344CB8AC3E}">
        <p14:creationId xmlns:p14="http://schemas.microsoft.com/office/powerpoint/2010/main" val="289350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38736-725C-55F7-3752-B1CD94409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5004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11607</TotalTime>
  <Words>312</Words>
  <Application>Microsoft Office PowerPoint</Application>
  <PresentationFormat>Widescreen</PresentationFormat>
  <Paragraphs>60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Google Sans</vt:lpstr>
      <vt:lpstr>Roboto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ghost</dc:creator>
  <cp:lastModifiedBy>Coder Zero</cp:lastModifiedBy>
  <cp:revision>206</cp:revision>
  <dcterms:created xsi:type="dcterms:W3CDTF">2020-07-09T14:04:16Z</dcterms:created>
  <dcterms:modified xsi:type="dcterms:W3CDTF">2025-07-05T04:57:14Z</dcterms:modified>
</cp:coreProperties>
</file>