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notesMasterIdLst>
    <p:notesMasterId r:id="rId12"/>
  </p:notesMasterIdLst>
  <p:sldIdLst>
    <p:sldId id="274" r:id="rId2"/>
    <p:sldId id="300" r:id="rId3"/>
    <p:sldId id="302" r:id="rId4"/>
    <p:sldId id="304" r:id="rId5"/>
    <p:sldId id="301" r:id="rId6"/>
    <p:sldId id="306" r:id="rId7"/>
    <p:sldId id="307" r:id="rId8"/>
    <p:sldId id="308" r:id="rId9"/>
    <p:sldId id="305" r:id="rId10"/>
    <p:sldId id="30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E40CD5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6987B-4077-41BF-97D4-EA38746EFAB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065E2-8AB8-4848-955E-6C0D5851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8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5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3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2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9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9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6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3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2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58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08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86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75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07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66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5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78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.langchain.com/docs/integrations/document_loaders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ython.langchain.com/docs/integrations/document_loaders/pypdfloader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ython.langchain.com/docs/how_to/document_loader_directory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ython.langchain.com/docs/how_to/document_loader_directory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ython.langchain.com/docs/integrations/document_loaders/web_base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.langchain.com/docs/how_to/document_loader_custom/#overview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CABFDC-FBF9-BE8E-2A7D-FF9A1D04D407}"/>
              </a:ext>
            </a:extLst>
          </p:cNvPr>
          <p:cNvSpPr/>
          <p:nvPr/>
        </p:nvSpPr>
        <p:spPr>
          <a:xfrm>
            <a:off x="5102942" y="3383281"/>
            <a:ext cx="2674374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3442229" y="2659559"/>
            <a:ext cx="57794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Document Loader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82041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8B89-5367-2053-B021-660A67AD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C352C240-F0F2-1C05-66A6-A82E909F6A21}"/>
              </a:ext>
            </a:extLst>
          </p:cNvPr>
          <p:cNvSpPr/>
          <p:nvPr/>
        </p:nvSpPr>
        <p:spPr>
          <a:xfrm>
            <a:off x="2101645" y="340139"/>
            <a:ext cx="776748" cy="84557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lowchart: Multidocument 3">
            <a:extLst>
              <a:ext uri="{FF2B5EF4-FFF2-40B4-BE49-F238E27FC236}">
                <a16:creationId xmlns:a16="http://schemas.microsoft.com/office/drawing/2014/main" id="{3E54F5A2-29EC-B3A7-DC40-45D8990A0E18}"/>
              </a:ext>
            </a:extLst>
          </p:cNvPr>
          <p:cNvSpPr/>
          <p:nvPr/>
        </p:nvSpPr>
        <p:spPr>
          <a:xfrm>
            <a:off x="4375438" y="340139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8CD782C8-09CB-612B-E372-B55DB86DFC4A}"/>
              </a:ext>
            </a:extLst>
          </p:cNvPr>
          <p:cNvSpPr/>
          <p:nvPr/>
        </p:nvSpPr>
        <p:spPr>
          <a:xfrm>
            <a:off x="4031224" y="3626874"/>
            <a:ext cx="963562" cy="1123335"/>
          </a:xfrm>
          <a:prstGeom prst="can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E1124FC1-08FF-B4EB-1B18-EC75D4C1F7B0}"/>
              </a:ext>
            </a:extLst>
          </p:cNvPr>
          <p:cNvSpPr/>
          <p:nvPr/>
        </p:nvSpPr>
        <p:spPr>
          <a:xfrm>
            <a:off x="275304" y="5493154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FFDE75E-C2CA-4FFE-94B1-0435D24B1C0B}"/>
              </a:ext>
            </a:extLst>
          </p:cNvPr>
          <p:cNvSpPr/>
          <p:nvPr/>
        </p:nvSpPr>
        <p:spPr>
          <a:xfrm>
            <a:off x="2118852" y="5485169"/>
            <a:ext cx="1356851" cy="353961"/>
          </a:xfrm>
          <a:prstGeom prst="parallelogram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EAA0EA-8506-50E1-DCDD-D6EE669F485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878393" y="762927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717C93-88F2-555A-1691-AD8FFBCF2FC6}"/>
              </a:ext>
            </a:extLst>
          </p:cNvPr>
          <p:cNvSpPr txBox="1"/>
          <p:nvPr/>
        </p:nvSpPr>
        <p:spPr>
          <a:xfrm>
            <a:off x="5225845" y="2270630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42E39-8888-3345-9F63-ADEB9F74B54C}"/>
              </a:ext>
            </a:extLst>
          </p:cNvPr>
          <p:cNvSpPr txBox="1"/>
          <p:nvPr/>
        </p:nvSpPr>
        <p:spPr>
          <a:xfrm>
            <a:off x="5225845" y="801407"/>
            <a:ext cx="1273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chunks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60AFD-2E48-2090-90DA-08868A1FA8C5}"/>
              </a:ext>
            </a:extLst>
          </p:cNvPr>
          <p:cNvSpPr txBox="1"/>
          <p:nvPr/>
        </p:nvSpPr>
        <p:spPr>
          <a:xfrm>
            <a:off x="5235762" y="3855770"/>
            <a:ext cx="1720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Database</a:t>
            </a:r>
            <a:endParaRPr lang="en-IN" dirty="0"/>
          </a:p>
        </p:txBody>
      </p:sp>
      <p:sp>
        <p:nvSpPr>
          <p:cNvPr id="12" name="Rectangle: Beveled 11">
            <a:extLst>
              <a:ext uri="{FF2B5EF4-FFF2-40B4-BE49-F238E27FC236}">
                <a16:creationId xmlns:a16="http://schemas.microsoft.com/office/drawing/2014/main" id="{9AF9CDE6-94F4-E023-0FF7-C990F6F36424}"/>
              </a:ext>
            </a:extLst>
          </p:cNvPr>
          <p:cNvSpPr/>
          <p:nvPr/>
        </p:nvSpPr>
        <p:spPr>
          <a:xfrm>
            <a:off x="4490622" y="5493154"/>
            <a:ext cx="1160209" cy="687026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FF0000"/>
                </a:solidFill>
                <a:latin typeface="Google Sans"/>
              </a:rPr>
              <a:t>Retriever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E17A2-79B1-6C2F-69AE-871ADBBE8B14}"/>
              </a:ext>
            </a:extLst>
          </p:cNvPr>
          <p:cNvSpPr txBox="1"/>
          <p:nvPr/>
        </p:nvSpPr>
        <p:spPr>
          <a:xfrm>
            <a:off x="4232648" y="6312912"/>
            <a:ext cx="171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Semantic search</a:t>
            </a:r>
            <a:endParaRPr lang="en-IN" dirty="0"/>
          </a:p>
        </p:txBody>
      </p:sp>
      <p:sp>
        <p:nvSpPr>
          <p:cNvPr id="14" name="Flowchart: Multidocument 13">
            <a:extLst>
              <a:ext uri="{FF2B5EF4-FFF2-40B4-BE49-F238E27FC236}">
                <a16:creationId xmlns:a16="http://schemas.microsoft.com/office/drawing/2014/main" id="{5FC1B858-3608-C00C-74D5-B673E62C2B82}"/>
              </a:ext>
            </a:extLst>
          </p:cNvPr>
          <p:cNvSpPr/>
          <p:nvPr/>
        </p:nvSpPr>
        <p:spPr>
          <a:xfrm>
            <a:off x="6604396" y="5572428"/>
            <a:ext cx="704572" cy="549375"/>
          </a:xfrm>
          <a:prstGeom prst="flowChartMultidocumen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Multidocument 14">
            <a:extLst>
              <a:ext uri="{FF2B5EF4-FFF2-40B4-BE49-F238E27FC236}">
                <a16:creationId xmlns:a16="http://schemas.microsoft.com/office/drawing/2014/main" id="{A0F20342-5699-0F9E-4EC5-7D6332FE9E46}"/>
              </a:ext>
            </a:extLst>
          </p:cNvPr>
          <p:cNvSpPr/>
          <p:nvPr/>
        </p:nvSpPr>
        <p:spPr>
          <a:xfrm>
            <a:off x="3950235" y="900567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Multidocument 15">
            <a:extLst>
              <a:ext uri="{FF2B5EF4-FFF2-40B4-BE49-F238E27FC236}">
                <a16:creationId xmlns:a16="http://schemas.microsoft.com/office/drawing/2014/main" id="{45C86EA8-BE5E-13B8-055C-469034960223}"/>
              </a:ext>
            </a:extLst>
          </p:cNvPr>
          <p:cNvSpPr/>
          <p:nvPr/>
        </p:nvSpPr>
        <p:spPr>
          <a:xfrm>
            <a:off x="4375438" y="2097399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Multidocument 16">
            <a:extLst>
              <a:ext uri="{FF2B5EF4-FFF2-40B4-BE49-F238E27FC236}">
                <a16:creationId xmlns:a16="http://schemas.microsoft.com/office/drawing/2014/main" id="{764F3D06-C246-AB3A-6422-758F3CB217C6}"/>
              </a:ext>
            </a:extLst>
          </p:cNvPr>
          <p:cNvSpPr/>
          <p:nvPr/>
        </p:nvSpPr>
        <p:spPr>
          <a:xfrm>
            <a:off x="4031224" y="2577578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62EDC4-CBF8-9610-8BC1-F11BF5D08268}"/>
              </a:ext>
            </a:extLst>
          </p:cNvPr>
          <p:cNvCxnSpPr>
            <a:cxnSpLocks/>
          </p:cNvCxnSpPr>
          <p:nvPr/>
        </p:nvCxnSpPr>
        <p:spPr>
          <a:xfrm>
            <a:off x="4513004" y="1616360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37EA1-67DE-8776-D0BA-A5B0B5736D76}"/>
              </a:ext>
            </a:extLst>
          </p:cNvPr>
          <p:cNvCxnSpPr>
            <a:cxnSpLocks/>
          </p:cNvCxnSpPr>
          <p:nvPr/>
        </p:nvCxnSpPr>
        <p:spPr>
          <a:xfrm>
            <a:off x="4508085" y="3223248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69EEC879-1558-D378-B2D5-EEDACD5458FC}"/>
              </a:ext>
            </a:extLst>
          </p:cNvPr>
          <p:cNvSpPr/>
          <p:nvPr/>
        </p:nvSpPr>
        <p:spPr>
          <a:xfrm>
            <a:off x="7561725" y="5642485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BC704-292C-A75E-3CB9-132EF3132F40}"/>
              </a:ext>
            </a:extLst>
          </p:cNvPr>
          <p:cNvSpPr txBox="1"/>
          <p:nvPr/>
        </p:nvSpPr>
        <p:spPr>
          <a:xfrm>
            <a:off x="6341891" y="6312912"/>
            <a:ext cx="250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Result chunks  +  user query</a:t>
            </a:r>
            <a:endParaRPr lang="en-IN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02D8F5-38D7-D767-33E3-D7C4F74094A9}"/>
              </a:ext>
            </a:extLst>
          </p:cNvPr>
          <p:cNvSpPr txBox="1"/>
          <p:nvPr/>
        </p:nvSpPr>
        <p:spPr>
          <a:xfrm>
            <a:off x="275304" y="5975049"/>
            <a:ext cx="1229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query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DEAF85-05CC-B2BE-927E-ED703CFDDD7F}"/>
              </a:ext>
            </a:extLst>
          </p:cNvPr>
          <p:cNvSpPr txBox="1"/>
          <p:nvPr/>
        </p:nvSpPr>
        <p:spPr>
          <a:xfrm>
            <a:off x="2043980" y="5975049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6CD511D-C426-AA11-6B68-24D9E0465DE4}"/>
              </a:ext>
            </a:extLst>
          </p:cNvPr>
          <p:cNvSpPr/>
          <p:nvPr/>
        </p:nvSpPr>
        <p:spPr>
          <a:xfrm>
            <a:off x="6388196" y="5368413"/>
            <a:ext cx="2600265" cy="13863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93F7677-A2B8-038E-E81F-6F0952F92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034" y="5593799"/>
            <a:ext cx="1270899" cy="749351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B00F06-0603-19C7-06B0-B613013F6572}"/>
              </a:ext>
            </a:extLst>
          </p:cNvPr>
          <p:cNvSpPr/>
          <p:nvPr/>
        </p:nvSpPr>
        <p:spPr>
          <a:xfrm>
            <a:off x="11071123" y="5662149"/>
            <a:ext cx="1052051" cy="52848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Final output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0AD65E-63D7-29F5-6AB1-7859DB616CF5}"/>
              </a:ext>
            </a:extLst>
          </p:cNvPr>
          <p:cNvSpPr txBox="1"/>
          <p:nvPr/>
        </p:nvSpPr>
        <p:spPr>
          <a:xfrm>
            <a:off x="9865771" y="630442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3771E6-6BCD-8C31-4AC1-3B88C7EDD09E}"/>
              </a:ext>
            </a:extLst>
          </p:cNvPr>
          <p:cNvCxnSpPr>
            <a:cxnSpLocks/>
            <a:stCxn id="6" idx="2"/>
            <a:endCxn id="7" idx="5"/>
          </p:cNvCxnSpPr>
          <p:nvPr/>
        </p:nvCxnSpPr>
        <p:spPr>
          <a:xfrm flipV="1">
            <a:off x="1587910" y="5662150"/>
            <a:ext cx="575187" cy="798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D7C39A-3105-084D-BC28-91AF03178B9B}"/>
              </a:ext>
            </a:extLst>
          </p:cNvPr>
          <p:cNvCxnSpPr>
            <a:cxnSpLocks/>
            <a:stCxn id="7" idx="2"/>
            <a:endCxn id="12" idx="4"/>
          </p:cNvCxnSpPr>
          <p:nvPr/>
        </p:nvCxnSpPr>
        <p:spPr>
          <a:xfrm>
            <a:off x="3431458" y="5662150"/>
            <a:ext cx="1059164" cy="17451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B56B58-08BC-C245-D65F-CBF13C9687F2}"/>
              </a:ext>
            </a:extLst>
          </p:cNvPr>
          <p:cNvCxnSpPr>
            <a:cxnSpLocks/>
            <a:stCxn id="5" idx="3"/>
            <a:endCxn id="12" idx="6"/>
          </p:cNvCxnSpPr>
          <p:nvPr/>
        </p:nvCxnSpPr>
        <p:spPr>
          <a:xfrm>
            <a:off x="4513005" y="4750209"/>
            <a:ext cx="557722" cy="74294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C52B30-F7D9-844A-2AD1-F5A3F9444C27}"/>
              </a:ext>
            </a:extLst>
          </p:cNvPr>
          <p:cNvCxnSpPr>
            <a:cxnSpLocks/>
            <a:stCxn id="12" idx="0"/>
            <a:endCxn id="14" idx="1"/>
          </p:cNvCxnSpPr>
          <p:nvPr/>
        </p:nvCxnSpPr>
        <p:spPr>
          <a:xfrm>
            <a:off x="5650831" y="5836667"/>
            <a:ext cx="953565" cy="1044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1869A07-B48D-F080-44DA-72D90D393146}"/>
              </a:ext>
            </a:extLst>
          </p:cNvPr>
          <p:cNvCxnSpPr>
            <a:stCxn id="6" idx="0"/>
            <a:endCxn id="20" idx="0"/>
          </p:cNvCxnSpPr>
          <p:nvPr/>
        </p:nvCxnSpPr>
        <p:spPr>
          <a:xfrm rot="16200000" flipH="1">
            <a:off x="4522274" y="1924609"/>
            <a:ext cx="149331" cy="7286421"/>
          </a:xfrm>
          <a:prstGeom prst="bentConnector3">
            <a:avLst>
              <a:gd name="adj1" fmla="val -2650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5E4730E-FAD3-419D-0D80-F811CCF3A01F}"/>
              </a:ext>
            </a:extLst>
          </p:cNvPr>
          <p:cNvCxnSpPr>
            <a:cxnSpLocks/>
          </p:cNvCxnSpPr>
          <p:nvPr/>
        </p:nvCxnSpPr>
        <p:spPr>
          <a:xfrm>
            <a:off x="8993508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066384-6C10-E2CB-D584-086636491637}"/>
              </a:ext>
            </a:extLst>
          </p:cNvPr>
          <p:cNvCxnSpPr>
            <a:cxnSpLocks/>
          </p:cNvCxnSpPr>
          <p:nvPr/>
        </p:nvCxnSpPr>
        <p:spPr>
          <a:xfrm>
            <a:off x="10708047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98D784-D080-A067-A549-CABA9E5E1DB8}"/>
              </a:ext>
            </a:extLst>
          </p:cNvPr>
          <p:cNvSpPr txBox="1"/>
          <p:nvPr/>
        </p:nvSpPr>
        <p:spPr>
          <a:xfrm>
            <a:off x="1853338" y="1288146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Loaded PDF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A21C75-CFEF-BCE9-4ECE-E1C39F2D5D16}"/>
              </a:ext>
            </a:extLst>
          </p:cNvPr>
          <p:cNvSpPr txBox="1"/>
          <p:nvPr/>
        </p:nvSpPr>
        <p:spPr>
          <a:xfrm>
            <a:off x="7308968" y="5576286"/>
            <a:ext cx="427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+ </a:t>
            </a:r>
            <a:endParaRPr lang="en-IN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4C528CB-21CC-4B3A-0F04-C86E255F89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298715"/>
            <a:ext cx="916800" cy="9168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67BE16-2BD1-9CF2-FD68-D7E0D4714A27}"/>
              </a:ext>
            </a:extLst>
          </p:cNvPr>
          <p:cNvCxnSpPr>
            <a:cxnSpLocks/>
          </p:cNvCxnSpPr>
          <p:nvPr/>
        </p:nvCxnSpPr>
        <p:spPr>
          <a:xfrm>
            <a:off x="1262216" y="753173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C2CD088-059D-6BDC-7261-F9767B64D0CF}"/>
              </a:ext>
            </a:extLst>
          </p:cNvPr>
          <p:cNvSpPr txBox="1"/>
          <p:nvPr/>
        </p:nvSpPr>
        <p:spPr>
          <a:xfrm>
            <a:off x="401975" y="128046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1DE53C-1BD1-391A-10DC-18844D014597}"/>
              </a:ext>
            </a:extLst>
          </p:cNvPr>
          <p:cNvSpPr txBox="1"/>
          <p:nvPr/>
        </p:nvSpPr>
        <p:spPr>
          <a:xfrm>
            <a:off x="1173861" y="252009"/>
            <a:ext cx="946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Document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Loader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C557C1-D39E-FA79-9E0D-2B7334D3FD95}"/>
              </a:ext>
            </a:extLst>
          </p:cNvPr>
          <p:cNvSpPr txBox="1"/>
          <p:nvPr/>
        </p:nvSpPr>
        <p:spPr>
          <a:xfrm>
            <a:off x="2958444" y="285608"/>
            <a:ext cx="713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Text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Splitter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975A17-AC4B-5EF2-6E90-549F8648098F}"/>
              </a:ext>
            </a:extLst>
          </p:cNvPr>
          <p:cNvSpPr txBox="1"/>
          <p:nvPr/>
        </p:nvSpPr>
        <p:spPr>
          <a:xfrm>
            <a:off x="4559352" y="159952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60AE68-1AAE-AD0D-6480-8C918B9353A8}"/>
              </a:ext>
            </a:extLst>
          </p:cNvPr>
          <p:cNvSpPr txBox="1"/>
          <p:nvPr/>
        </p:nvSpPr>
        <p:spPr>
          <a:xfrm>
            <a:off x="1286401" y="514379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50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4A0B5-6DFD-734F-1DC3-28E8544CA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C3A490-1545-1DCD-9C30-0256CE4FF92F}"/>
              </a:ext>
            </a:extLst>
          </p:cNvPr>
          <p:cNvSpPr txBox="1"/>
          <p:nvPr/>
        </p:nvSpPr>
        <p:spPr>
          <a:xfrm>
            <a:off x="1229032" y="1268812"/>
            <a:ext cx="100485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In </a:t>
            </a:r>
            <a:r>
              <a:rPr lang="en-US" sz="3600" b="1" dirty="0" err="1"/>
              <a:t>LangChain</a:t>
            </a:r>
            <a:r>
              <a:rPr lang="en-US" sz="3600" dirty="0"/>
              <a:t>, a </a:t>
            </a:r>
            <a:r>
              <a:rPr lang="en-US" sz="3600" b="1" dirty="0">
                <a:solidFill>
                  <a:srgbClr val="FF0000"/>
                </a:solidFill>
              </a:rPr>
              <a:t>Document Loader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/>
              <a:t>is the component that helps you </a:t>
            </a:r>
            <a:r>
              <a:rPr lang="en-US" sz="3600" b="1" dirty="0"/>
              <a:t>load raw data (text, PDFs, websites, etc.) into </a:t>
            </a:r>
            <a:r>
              <a:rPr lang="en-US" sz="3600" b="1" dirty="0" err="1"/>
              <a:t>LangChain</a:t>
            </a:r>
            <a:r>
              <a:rPr lang="en-US" sz="3600" b="1" dirty="0"/>
              <a:t> as documents</a:t>
            </a:r>
            <a:r>
              <a:rPr lang="en-US" sz="3600" dirty="0"/>
              <a:t>. 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DC57B-DB33-430C-0895-432BAC8BA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460" y="3429000"/>
            <a:ext cx="8478433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8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51C1-176D-E311-43EE-1814CD332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F06979-E7B7-AA2C-C3C7-AEB96B6B8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8" y="1860443"/>
            <a:ext cx="6251210" cy="2939846"/>
          </a:xfrm>
          <a:prstGeom prst="roundRect">
            <a:avLst>
              <a:gd name="adj" fmla="val 9297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349EF2-6A75-4DD8-F2E3-FA3ABA1DA6FC}"/>
              </a:ext>
            </a:extLst>
          </p:cNvPr>
          <p:cNvSpPr txBox="1"/>
          <p:nvPr/>
        </p:nvSpPr>
        <p:spPr>
          <a:xfrm>
            <a:off x="8377084" y="868597"/>
            <a:ext cx="2192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FFFFFF"/>
                </a:solidFill>
                <a:effectLst/>
                <a:latin typeface="Roboto" panose="020F0502020204030204" pitchFamily="2" charset="0"/>
              </a:rPr>
              <a:t>Text Loader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2AC95E-D21B-93FF-9806-F232103CD6EE}"/>
              </a:ext>
            </a:extLst>
          </p:cNvPr>
          <p:cNvSpPr txBox="1"/>
          <p:nvPr/>
        </p:nvSpPr>
        <p:spPr>
          <a:xfrm>
            <a:off x="8878529" y="1675777"/>
            <a:ext cx="1917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PyPDFLoader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C7157F-12B0-2A68-FD97-4146640B00B3}"/>
              </a:ext>
            </a:extLst>
          </p:cNvPr>
          <p:cNvSpPr txBox="1"/>
          <p:nvPr/>
        </p:nvSpPr>
        <p:spPr>
          <a:xfrm>
            <a:off x="9473381" y="2684035"/>
            <a:ext cx="1976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Directory Loader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161E5-E017-3B65-5E44-BC9BC956BE2F}"/>
              </a:ext>
            </a:extLst>
          </p:cNvPr>
          <p:cNvSpPr txBox="1"/>
          <p:nvPr/>
        </p:nvSpPr>
        <p:spPr>
          <a:xfrm>
            <a:off x="8878529" y="3601063"/>
            <a:ext cx="2576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CSVLoader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30FF74-C5A2-D592-C565-7DA730322B32}"/>
              </a:ext>
            </a:extLst>
          </p:cNvPr>
          <p:cNvSpPr txBox="1"/>
          <p:nvPr/>
        </p:nvSpPr>
        <p:spPr>
          <a:xfrm>
            <a:off x="8721212" y="44309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WebBaseLoader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05E0020-925E-F942-9645-9A0A5BBE7972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6673998" y="1053263"/>
            <a:ext cx="1703086" cy="2277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6340A9-0260-7109-8802-AE178E8B619E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6673998" y="1860443"/>
            <a:ext cx="2204531" cy="1469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233EAC-66D3-AD70-62B7-15BA8848161B}"/>
              </a:ext>
            </a:extLst>
          </p:cNvPr>
          <p:cNvCxnSpPr>
            <a:stCxn id="3" idx="3"/>
            <a:endCxn id="9" idx="1"/>
          </p:cNvCxnSpPr>
          <p:nvPr/>
        </p:nvCxnSpPr>
        <p:spPr>
          <a:xfrm flipV="1">
            <a:off x="6673998" y="2868701"/>
            <a:ext cx="2799383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87C963-05E6-A261-0BB8-40BD4391835A}"/>
              </a:ext>
            </a:extLst>
          </p:cNvPr>
          <p:cNvCxnSpPr>
            <a:stCxn id="3" idx="3"/>
            <a:endCxn id="11" idx="1"/>
          </p:cNvCxnSpPr>
          <p:nvPr/>
        </p:nvCxnSpPr>
        <p:spPr>
          <a:xfrm>
            <a:off x="6673998" y="3330366"/>
            <a:ext cx="2204531" cy="455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9D26DD0-026B-1661-1265-42EEB5C51BA0}"/>
              </a:ext>
            </a:extLst>
          </p:cNvPr>
          <p:cNvCxnSpPr>
            <a:stCxn id="3" idx="3"/>
            <a:endCxn id="13" idx="1"/>
          </p:cNvCxnSpPr>
          <p:nvPr/>
        </p:nvCxnSpPr>
        <p:spPr>
          <a:xfrm>
            <a:off x="6673998" y="3330366"/>
            <a:ext cx="2047214" cy="1285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EF73D52-19D0-FF31-FA9C-B1814709F0B8}"/>
              </a:ext>
            </a:extLst>
          </p:cNvPr>
          <p:cNvSpPr txBox="1"/>
          <p:nvPr/>
        </p:nvSpPr>
        <p:spPr>
          <a:xfrm>
            <a:off x="367657" y="481750"/>
            <a:ext cx="74086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Document loaders: </a:t>
            </a:r>
          </a:p>
          <a:p>
            <a:endParaRPr lang="en-IN" dirty="0"/>
          </a:p>
          <a:p>
            <a:r>
              <a:rPr lang="en-IN" dirty="0">
                <a:hlinkClick r:id="rId3"/>
              </a:rPr>
              <a:t>https://python.langchain.com/docs/integrations/document_loaders/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39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25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3CA05-5CAE-A867-534C-1875D2542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C3F13A-F5EA-000D-316C-B5965A841B03}"/>
              </a:ext>
            </a:extLst>
          </p:cNvPr>
          <p:cNvSpPr txBox="1"/>
          <p:nvPr/>
        </p:nvSpPr>
        <p:spPr>
          <a:xfrm>
            <a:off x="924233" y="697694"/>
            <a:ext cx="870154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In </a:t>
            </a:r>
            <a:r>
              <a:rPr lang="en-US" sz="2800" dirty="0" err="1"/>
              <a:t>LangChain</a:t>
            </a:r>
            <a:r>
              <a:rPr lang="en-US" sz="2800" dirty="0"/>
              <a:t>, a </a:t>
            </a:r>
            <a:r>
              <a:rPr lang="en-US" sz="2800" dirty="0" err="1"/>
              <a:t>TextLoader</a:t>
            </a:r>
            <a:r>
              <a:rPr lang="en-US" sz="2800" dirty="0"/>
              <a:t> is a document loader used to load </a:t>
            </a:r>
            <a:r>
              <a:rPr lang="en-US" sz="2800" i="1" dirty="0">
                <a:solidFill>
                  <a:srgbClr val="FF0000"/>
                </a:solidFill>
              </a:rPr>
              <a:t>plain text files (.txt) </a:t>
            </a:r>
            <a:r>
              <a:rPr lang="en-US" sz="2800" dirty="0"/>
              <a:t>and convert them into a format that </a:t>
            </a:r>
            <a:r>
              <a:rPr lang="en-US" sz="2800" dirty="0" err="1"/>
              <a:t>LangChain</a:t>
            </a:r>
            <a:r>
              <a:rPr lang="en-US" sz="2800" dirty="0"/>
              <a:t> can work with — specifically, into a list of Document objects.</a:t>
            </a:r>
            <a:endParaRPr lang="en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C88C1-9C71-F7C1-5C7D-A956E92C5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86" y="2830248"/>
            <a:ext cx="6065875" cy="3710651"/>
          </a:xfrm>
          <a:prstGeom prst="roundRect">
            <a:avLst>
              <a:gd name="adj" fmla="val 6863"/>
            </a:avLst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AB6B07-2232-C266-7EB0-7E765E1BB4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364"/>
          <a:stretch>
            <a:fillRect/>
          </a:stretch>
        </p:blipFill>
        <p:spPr>
          <a:xfrm>
            <a:off x="6699001" y="2830248"/>
            <a:ext cx="5341604" cy="3330058"/>
          </a:xfrm>
          <a:prstGeom prst="round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223608-E277-65B7-FE23-C80931CE40EC}"/>
              </a:ext>
            </a:extLst>
          </p:cNvPr>
          <p:cNvSpPr txBox="1"/>
          <p:nvPr/>
        </p:nvSpPr>
        <p:spPr>
          <a:xfrm>
            <a:off x="6699001" y="6338478"/>
            <a:ext cx="53416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hlinkClick r:id="rId4"/>
              </a:rPr>
              <a:t>https://python.langchain.com/docs/integrations/document_loaders/pypdfloader/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30997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038AF-94EC-FB14-484E-D5960C31E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E2C80D-5066-9B51-4133-5CEE9EC71D94}"/>
              </a:ext>
            </a:extLst>
          </p:cNvPr>
          <p:cNvSpPr txBox="1"/>
          <p:nvPr/>
        </p:nvSpPr>
        <p:spPr>
          <a:xfrm>
            <a:off x="1012721" y="618188"/>
            <a:ext cx="88392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</a:t>
            </a:r>
            <a:r>
              <a:rPr lang="en-US" sz="2400" dirty="0" err="1"/>
              <a:t>LangChain</a:t>
            </a:r>
            <a:r>
              <a:rPr lang="en-US" sz="2400" dirty="0"/>
              <a:t>, the </a:t>
            </a:r>
            <a:r>
              <a:rPr lang="en-US" sz="2400" dirty="0" err="1"/>
              <a:t>PDFLoader</a:t>
            </a:r>
            <a:r>
              <a:rPr lang="en-US" sz="2400" dirty="0"/>
              <a:t> is a document loader used to </a:t>
            </a:r>
            <a:r>
              <a:rPr lang="en-US" sz="2400" i="1" dirty="0">
                <a:solidFill>
                  <a:srgbClr val="FF0000"/>
                </a:solidFill>
              </a:rPr>
              <a:t>read and extract text from PDF files</a:t>
            </a:r>
            <a:r>
              <a:rPr lang="en-US" sz="2400" dirty="0"/>
              <a:t> and convert them into Document objects for use in language model pipelines — like chunking, embedding, or RAG (Retrieval-Augmented Generation).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A7ECE3-6749-726C-6FA3-EE8D61B85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30" y="2559248"/>
            <a:ext cx="5858070" cy="3680564"/>
          </a:xfrm>
          <a:prstGeom prst="roundRect">
            <a:avLst>
              <a:gd name="adj" fmla="val 10790"/>
            </a:avLst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0D9A64-9F9B-8F0E-8D38-A600FC05B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96" y="2559248"/>
            <a:ext cx="4496427" cy="3162741"/>
          </a:xfrm>
          <a:prstGeom prst="roundRect">
            <a:avLst>
              <a:gd name="adj" fmla="val 10449"/>
            </a:avLst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234E70-D90A-CEC3-CC20-F3D0AB499CC8}"/>
              </a:ext>
            </a:extLst>
          </p:cNvPr>
          <p:cNvSpPr txBox="1"/>
          <p:nvPr/>
        </p:nvSpPr>
        <p:spPr>
          <a:xfrm>
            <a:off x="6502496" y="609338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linkClick r:id="rId4"/>
              </a:rPr>
              <a:t>https://python.langchain.com/docs/how_to/document_loader_directory/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4824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850AC-D569-3581-21DC-248F271A5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E34FCD-DC00-5993-FC07-C8CB806CC4EE}"/>
              </a:ext>
            </a:extLst>
          </p:cNvPr>
          <p:cNvSpPr txBox="1"/>
          <p:nvPr/>
        </p:nvSpPr>
        <p:spPr>
          <a:xfrm>
            <a:off x="943897" y="432223"/>
            <a:ext cx="97732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In </a:t>
            </a:r>
            <a:r>
              <a:rPr lang="en-US" sz="2800" dirty="0" err="1"/>
              <a:t>LangChain</a:t>
            </a:r>
            <a:r>
              <a:rPr lang="en-US" sz="2800" dirty="0"/>
              <a:t>, the </a:t>
            </a:r>
            <a:r>
              <a:rPr lang="en-US" sz="2800" dirty="0" err="1"/>
              <a:t>DirectoryLoader</a:t>
            </a:r>
            <a:r>
              <a:rPr lang="en-US" sz="2800" dirty="0"/>
              <a:t> is a utility that </a:t>
            </a:r>
            <a:r>
              <a:rPr lang="en-US" sz="2800" i="1" dirty="0">
                <a:solidFill>
                  <a:srgbClr val="FF0000"/>
                </a:solidFill>
              </a:rPr>
              <a:t>loads multiple files from a folder, </a:t>
            </a:r>
            <a:r>
              <a:rPr lang="en-US" sz="2800" dirty="0"/>
              <a:t>to each file based on its extension.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1F942D-B496-AAE1-2CAE-BDD68F0FD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84" y="2330245"/>
            <a:ext cx="5064433" cy="4340942"/>
          </a:xfrm>
          <a:prstGeom prst="roundRect">
            <a:avLst>
              <a:gd name="adj" fmla="val 8286"/>
            </a:avLst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D3C2FC-EF85-D240-97B2-54C21CFFB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991" y="2330245"/>
            <a:ext cx="4084186" cy="2969342"/>
          </a:xfrm>
          <a:prstGeom prst="roundRect">
            <a:avLst>
              <a:gd name="adj" fmla="val 8720"/>
            </a:avLst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F620F4-2B02-5F89-B714-B79C87E462A9}"/>
              </a:ext>
            </a:extLst>
          </p:cNvPr>
          <p:cNvSpPr txBox="1"/>
          <p:nvPr/>
        </p:nvSpPr>
        <p:spPr>
          <a:xfrm>
            <a:off x="6421991" y="577944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linkClick r:id="rId4"/>
              </a:rPr>
              <a:t>https://python.langchain.com/docs/how_to/document_loader_directory/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9886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C876F-ACBB-3F82-8BE5-FF219CD3D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35134A-9B97-423F-5F8F-D46E8D83E9AB}"/>
              </a:ext>
            </a:extLst>
          </p:cNvPr>
          <p:cNvSpPr txBox="1"/>
          <p:nvPr/>
        </p:nvSpPr>
        <p:spPr>
          <a:xfrm>
            <a:off x="855406" y="551057"/>
            <a:ext cx="95667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</a:t>
            </a:r>
            <a:r>
              <a:rPr lang="en-US" sz="2400" dirty="0" err="1"/>
              <a:t>LangChain</a:t>
            </a:r>
            <a:r>
              <a:rPr lang="en-US" sz="2400" dirty="0"/>
              <a:t>, a </a:t>
            </a:r>
            <a:r>
              <a:rPr lang="en-US" sz="2400" dirty="0" err="1"/>
              <a:t>WebBaseLoader</a:t>
            </a:r>
            <a:r>
              <a:rPr lang="en-US" sz="2400" dirty="0"/>
              <a:t> is a document loader that fetches and loads content directly </a:t>
            </a:r>
            <a:r>
              <a:rPr lang="en-US" sz="2400" i="1" dirty="0">
                <a:solidFill>
                  <a:srgbClr val="FF0000"/>
                </a:solidFill>
              </a:rPr>
              <a:t>from webpages (URLs) </a:t>
            </a:r>
            <a:r>
              <a:rPr lang="en-US" sz="2400" dirty="0"/>
              <a:t>into Document objects.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A6C82-3472-D5C4-B485-4372336E3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0" y="1873667"/>
            <a:ext cx="5913757" cy="4202669"/>
          </a:xfrm>
          <a:prstGeom prst="roundRect">
            <a:avLst>
              <a:gd name="adj" fmla="val 5203"/>
            </a:avLst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9A54AA-83EE-7709-A62C-D3DF8C3A2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378" y="1873667"/>
            <a:ext cx="4572638" cy="2962688"/>
          </a:xfrm>
          <a:prstGeom prst="roundRect">
            <a:avLst>
              <a:gd name="adj" fmla="val 11357"/>
            </a:avLst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3FEB5D-B5D2-A1C4-1928-A525C5B13861}"/>
              </a:ext>
            </a:extLst>
          </p:cNvPr>
          <p:cNvSpPr txBox="1"/>
          <p:nvPr/>
        </p:nvSpPr>
        <p:spPr>
          <a:xfrm>
            <a:off x="6582378" y="5586023"/>
            <a:ext cx="52753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hlinkClick r:id="rId4"/>
              </a:rPr>
              <a:t>https://python.langchain.com/docs/integrations/document_loaders/web_base/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74791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B299C-80E2-C5D8-A975-22CF27E1C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FEB88A-BB22-D97F-7D3E-A33B790CCC1A}"/>
              </a:ext>
            </a:extLst>
          </p:cNvPr>
          <p:cNvSpPr txBox="1"/>
          <p:nvPr/>
        </p:nvSpPr>
        <p:spPr>
          <a:xfrm>
            <a:off x="337541" y="144436"/>
            <a:ext cx="6153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Custom document loader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C64E54-5731-232B-CBB5-EC5C07345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20" y="729211"/>
            <a:ext cx="5582429" cy="5877745"/>
          </a:xfrm>
          <a:prstGeom prst="roundRect">
            <a:avLst>
              <a:gd name="adj" fmla="val 3457"/>
            </a:avLst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A162D3-2E0A-2C94-FEC4-F66C9EBA72B1}"/>
              </a:ext>
            </a:extLst>
          </p:cNvPr>
          <p:cNvSpPr txBox="1"/>
          <p:nvPr/>
        </p:nvSpPr>
        <p:spPr>
          <a:xfrm>
            <a:off x="137652" y="72921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hlinkClick r:id="rId3"/>
              </a:rPr>
              <a:t>https://python.langchain.com/docs/how_to/document_loader_custom/#overview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74226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2618-6219-22E2-E39C-41D58D2C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03E777-D480-DA8E-452C-2FEC7F7C707B}"/>
              </a:ext>
            </a:extLst>
          </p:cNvPr>
          <p:cNvSpPr txBox="1"/>
          <p:nvPr/>
        </p:nvSpPr>
        <p:spPr>
          <a:xfrm>
            <a:off x="3483864" y="3044952"/>
            <a:ext cx="6153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THANK YOU FOR YOUR TIME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0575562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3862</TotalTime>
  <Words>324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Google Sans</vt:lpstr>
      <vt:lpstr>Roboto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ghost</dc:creator>
  <cp:lastModifiedBy>Coder Zero</cp:lastModifiedBy>
  <cp:revision>170</cp:revision>
  <dcterms:created xsi:type="dcterms:W3CDTF">2020-07-09T14:04:16Z</dcterms:created>
  <dcterms:modified xsi:type="dcterms:W3CDTF">2025-06-11T17:36:39Z</dcterms:modified>
</cp:coreProperties>
</file>