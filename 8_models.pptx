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5"/>
  </p:notesMasterIdLst>
  <p:sldIdLst>
    <p:sldId id="274" r:id="rId2"/>
    <p:sldId id="300" r:id="rId3"/>
    <p:sldId id="301" r:id="rId4"/>
    <p:sldId id="302" r:id="rId5"/>
    <p:sldId id="303" r:id="rId6"/>
    <p:sldId id="307" r:id="rId7"/>
    <p:sldId id="305" r:id="rId8"/>
    <p:sldId id="306" r:id="rId9"/>
    <p:sldId id="315" r:id="rId10"/>
    <p:sldId id="309" r:id="rId11"/>
    <p:sldId id="310" r:id="rId12"/>
    <p:sldId id="311" r:id="rId13"/>
    <p:sldId id="30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CC3300"/>
    <a:srgbClr val="E40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065E2-8AB8-4848-955E-6C0D5851B9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42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onsole.anthropic.com/dashboard" TargetMode="External"/><Relationship Id="rId3" Type="http://schemas.openxmlformats.org/officeDocument/2006/relationships/hyperlink" Target="https://python.langchain.com/docs/integrations/chat/openai/" TargetMode="External"/><Relationship Id="rId7" Type="http://schemas.openxmlformats.org/officeDocument/2006/relationships/hyperlink" Target="https://huggingface.co/settings/tokens" TargetMode="External"/><Relationship Id="rId2" Type="http://schemas.openxmlformats.org/officeDocument/2006/relationships/hyperlink" Target="https://platform.openai.com/docs/model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istudio.google.com/apikey" TargetMode="External"/><Relationship Id="rId5" Type="http://schemas.openxmlformats.org/officeDocument/2006/relationships/hyperlink" Target="https://platform.openai.com/settings/organization/api-keys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istudio.google.com/apikey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ocs.anthropic.com/en/docs/about-claude/models/overview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4774298" y="3354706"/>
            <a:ext cx="1616977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404853" y="2630984"/>
            <a:ext cx="23785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8B89-5367-2053-B021-660A67A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352C240-F0F2-1C05-66A6-A82E909F6A21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E54F5A2-29EC-B3A7-DC40-45D8990A0E18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CD782C8-09CB-612B-E372-B55DB86DFC4A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1124FC1-08FF-B4EB-1B18-EC75D4C1F7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FFDE75E-C2CA-4FFE-94B1-0435D24B1C0B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EAA0EA-8506-50E1-DCDD-D6EE669F485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717C93-88F2-555A-1691-AD8FFBCF2FC6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42E39-8888-3345-9F63-ADEB9F74B54C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0AFD-2E48-2090-90DA-08868A1FA8C5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9AF9CDE6-94F4-E023-0FF7-C990F6F36424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E17A2-79B1-6C2F-69AE-871ADBBE8B14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5FC1B858-3608-C00C-74D5-B673E62C2B82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ultidocument 14">
            <a:extLst>
              <a:ext uri="{FF2B5EF4-FFF2-40B4-BE49-F238E27FC236}">
                <a16:creationId xmlns:a16="http://schemas.microsoft.com/office/drawing/2014/main" id="{A0F20342-5699-0F9E-4EC5-7D6332FE9E46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45C86EA8-BE5E-13B8-055C-469034960223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764F3D06-C246-AB3A-6422-758F3CB217C6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2EDC4-CBF8-9610-8BC1-F11BF5D08268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7EA1-67DE-8776-D0BA-A5B0B5736D76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69EEC879-1558-D378-B2D5-EEDACD5458FC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BC704-292C-A75E-3CB9-132EF3132F40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2D8F5-38D7-D767-33E3-D7C4F74094A9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EAF85-05CC-B2BE-927E-ED703CFDDD7F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D511D-C426-AA11-6B68-24D9E0465DE4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3F7677-A2B8-038E-E81F-6F0952F92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B00F06-0603-19C7-06B0-B613013F6572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AD65E-63D7-29F5-6AB1-7859DB616CF5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3771E6-6BCD-8C31-4AC1-3B88C7EDD09E}"/>
              </a:ext>
            </a:extLst>
          </p:cNvPr>
          <p:cNvCxnSpPr>
            <a:cxnSpLocks/>
            <a:stCxn id="6" idx="2"/>
            <a:endCxn id="7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D7C39A-3105-084D-BC28-91AF03178B9B}"/>
              </a:ext>
            </a:extLst>
          </p:cNvPr>
          <p:cNvCxnSpPr>
            <a:cxnSpLocks/>
            <a:stCxn id="7" idx="2"/>
            <a:endCxn id="12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B56B58-08BC-C245-D65F-CBF13C9687F2}"/>
              </a:ext>
            </a:extLst>
          </p:cNvPr>
          <p:cNvCxnSpPr>
            <a:cxnSpLocks/>
            <a:stCxn id="5" idx="3"/>
            <a:endCxn id="12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C52B30-F7D9-844A-2AD1-F5A3F9444C27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869A07-B48D-F080-44DA-72D90D393146}"/>
              </a:ext>
            </a:extLst>
          </p:cNvPr>
          <p:cNvCxnSpPr>
            <a:stCxn id="6" idx="0"/>
            <a:endCxn id="20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4730E-FAD3-419D-0D80-F811CCF3A01F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066384-6C10-E2CB-D584-086636491637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98D784-D080-A067-A549-CABA9E5E1DB8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1C75-CFEF-BCE9-4ECE-E1C39F2D5D16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C528CB-21CC-4B3A-0F04-C86E255F89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67BE16-2BD1-9CF2-FD68-D7E0D4714A27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2CD088-059D-6BDC-7261-F9767B64D0CF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DE53C-1BD1-391A-10DC-18844D014597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557C1-D39E-FA79-9E0D-2B7334D3FD95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75A17-AC4B-5EF2-6E90-549F8648098F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0AE68-1AAE-AD0D-6480-8C918B9353A8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2E03B-35FD-40A5-EB8F-728FAFB8903E}"/>
              </a:ext>
            </a:extLst>
          </p:cNvPr>
          <p:cNvSpPr txBox="1"/>
          <p:nvPr/>
        </p:nvSpPr>
        <p:spPr>
          <a:xfrm>
            <a:off x="8406206" y="4992933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Prompt</a:t>
            </a:r>
          </a:p>
        </p:txBody>
      </p:sp>
    </p:spTree>
    <p:extLst>
      <p:ext uri="{BB962C8B-B14F-4D97-AF65-F5344CB8AC3E}">
        <p14:creationId xmlns:p14="http://schemas.microsoft.com/office/powerpoint/2010/main" val="289350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78C0B-3230-ADF5-F391-94A84B6BA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F0B456-EE29-A49C-00F3-1D4281B9DB9B}"/>
              </a:ext>
            </a:extLst>
          </p:cNvPr>
          <p:cNvSpPr txBox="1"/>
          <p:nvPr/>
        </p:nvSpPr>
        <p:spPr>
          <a:xfrm>
            <a:off x="825908" y="438267"/>
            <a:ext cx="10382865" cy="123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model component in </a:t>
            </a:r>
            <a:r>
              <a:rPr lang="en-US" dirty="0" err="1"/>
              <a:t>LangChain</a:t>
            </a:r>
            <a:r>
              <a:rPr lang="en-US" dirty="0"/>
              <a:t> is a core part of the framework designed to </a:t>
            </a:r>
            <a:r>
              <a:rPr lang="en-US" i="1" dirty="0">
                <a:solidFill>
                  <a:srgbClr val="FF0000"/>
                </a:solidFill>
              </a:rPr>
              <a:t>facilitate interactions with various language models and embedding models</a:t>
            </a:r>
            <a:r>
              <a:rPr lang="en-US" dirty="0"/>
              <a:t>. It provides a </a:t>
            </a:r>
            <a:r>
              <a:rPr lang="en-US" i="1" dirty="0">
                <a:solidFill>
                  <a:srgbClr val="FF0000"/>
                </a:solidFill>
              </a:rPr>
              <a:t>standard interface to interact</a:t>
            </a:r>
            <a:r>
              <a:rPr lang="en-US" dirty="0"/>
              <a:t> with these models, so you can plug them into chains and agents easily — regardless of provider (OpenAI, Hugging Face, Cohere, etc.)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8F0FD4-BC5B-0F8E-9F8B-5D2FF717A004}"/>
              </a:ext>
            </a:extLst>
          </p:cNvPr>
          <p:cNvSpPr/>
          <p:nvPr/>
        </p:nvSpPr>
        <p:spPr>
          <a:xfrm>
            <a:off x="4788310" y="1669391"/>
            <a:ext cx="1946787" cy="52320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Models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18B9D8-AB22-2736-22D6-3C7B9B897A96}"/>
              </a:ext>
            </a:extLst>
          </p:cNvPr>
          <p:cNvSpPr/>
          <p:nvPr/>
        </p:nvSpPr>
        <p:spPr>
          <a:xfrm>
            <a:off x="2698955" y="2905797"/>
            <a:ext cx="1946787" cy="523203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Language models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A031AF-0F3D-5B24-0DBD-FB62DED98E31}"/>
              </a:ext>
            </a:extLst>
          </p:cNvPr>
          <p:cNvSpPr/>
          <p:nvPr/>
        </p:nvSpPr>
        <p:spPr>
          <a:xfrm>
            <a:off x="7354530" y="2905797"/>
            <a:ext cx="2138515" cy="52320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Embedding models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99C551-85D1-F1E8-A4CD-439E778ADB7A}"/>
              </a:ext>
            </a:extLst>
          </p:cNvPr>
          <p:cNvSpPr/>
          <p:nvPr/>
        </p:nvSpPr>
        <p:spPr>
          <a:xfrm>
            <a:off x="825908" y="3933268"/>
            <a:ext cx="1946787" cy="52320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LLMs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2503C1-549E-A779-1606-387C1B0881DA}"/>
              </a:ext>
            </a:extLst>
          </p:cNvPr>
          <p:cNvSpPr/>
          <p:nvPr/>
        </p:nvSpPr>
        <p:spPr>
          <a:xfrm>
            <a:off x="4149213" y="3969092"/>
            <a:ext cx="1946787" cy="52320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Chat models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0A4DA9-69F8-6499-B718-1317A948C7DF}"/>
              </a:ext>
            </a:extLst>
          </p:cNvPr>
          <p:cNvSpPr txBox="1"/>
          <p:nvPr/>
        </p:nvSpPr>
        <p:spPr>
          <a:xfrm>
            <a:off x="4149213" y="4660232"/>
            <a:ext cx="16419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GPT-4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Claude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Gemini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Mistral 7B Instruct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Phi-2 (chat-tuned)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FFF4B2-07FD-4414-075D-F08554AE71D3}"/>
              </a:ext>
            </a:extLst>
          </p:cNvPr>
          <p:cNvSpPr txBox="1"/>
          <p:nvPr/>
        </p:nvSpPr>
        <p:spPr>
          <a:xfrm>
            <a:off x="825908" y="4660231"/>
            <a:ext cx="2270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text-davinci-003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command-</a:t>
            </a:r>
            <a:r>
              <a:rPr lang="en-IN" dirty="0" err="1"/>
              <a:t>xlarge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Claude 1 (v1)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GPT-J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Falcon 7B (base)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LLaMA</a:t>
            </a:r>
            <a:r>
              <a:rPr lang="en-IN" dirty="0"/>
              <a:t> 2 (base)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9104F9-10BC-96AA-F1F1-7AE795852287}"/>
              </a:ext>
            </a:extLst>
          </p:cNvPr>
          <p:cNvSpPr txBox="1"/>
          <p:nvPr/>
        </p:nvSpPr>
        <p:spPr>
          <a:xfrm>
            <a:off x="7367983" y="3783068"/>
            <a:ext cx="24818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text-embedding-3-large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embed-english-v3.0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bge-small-en-v1.5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sentence-transformers/all-MiniLM-L6-v2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intfloat</a:t>
            </a:r>
            <a:r>
              <a:rPr lang="en-IN" dirty="0"/>
              <a:t>/e5-base-v2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GritLM-7B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82C446-790A-83CF-657E-F3B3129971DA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3672349" y="2192594"/>
            <a:ext cx="2089355" cy="713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F9426B-4244-AE97-2F17-82D78A867B88}"/>
              </a:ext>
            </a:extLst>
          </p:cNvPr>
          <p:cNvCxnSpPr>
            <a:endCxn id="10" idx="0"/>
          </p:cNvCxnSpPr>
          <p:nvPr/>
        </p:nvCxnSpPr>
        <p:spPr>
          <a:xfrm>
            <a:off x="5791202" y="2192594"/>
            <a:ext cx="2632586" cy="713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4DB470-435E-DAD6-1F08-8FF981BCC467}"/>
              </a:ext>
            </a:extLst>
          </p:cNvPr>
          <p:cNvCxnSpPr>
            <a:endCxn id="11" idx="0"/>
          </p:cNvCxnSpPr>
          <p:nvPr/>
        </p:nvCxnSpPr>
        <p:spPr>
          <a:xfrm flipH="1">
            <a:off x="1799302" y="3510116"/>
            <a:ext cx="1873047" cy="423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19CA09-3847-6418-682A-7010970B5CF2}"/>
              </a:ext>
            </a:extLst>
          </p:cNvPr>
          <p:cNvCxnSpPr>
            <a:endCxn id="12" idx="0"/>
          </p:cNvCxnSpPr>
          <p:nvPr/>
        </p:nvCxnSpPr>
        <p:spPr>
          <a:xfrm>
            <a:off x="3672349" y="3500284"/>
            <a:ext cx="1450258" cy="46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7F866E9-817E-81D8-5021-28CCF57CB00C}"/>
              </a:ext>
            </a:extLst>
          </p:cNvPr>
          <p:cNvSpPr txBox="1"/>
          <p:nvPr/>
        </p:nvSpPr>
        <p:spPr>
          <a:xfrm>
            <a:off x="137037" y="3500284"/>
            <a:ext cx="23511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prompt --- &gt; String output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1DB499-08F9-691E-4263-94DB26F29CA8}"/>
              </a:ext>
            </a:extLst>
          </p:cNvPr>
          <p:cNvSpPr txBox="1"/>
          <p:nvPr/>
        </p:nvSpPr>
        <p:spPr>
          <a:xfrm>
            <a:off x="5200232" y="3546450"/>
            <a:ext cx="2472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List of role-based messages --- &gt; Message-based response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2D716A-CE5E-A6CA-F32A-57E1C50325E1}"/>
              </a:ext>
            </a:extLst>
          </p:cNvPr>
          <p:cNvSpPr txBox="1"/>
          <p:nvPr/>
        </p:nvSpPr>
        <p:spPr>
          <a:xfrm>
            <a:off x="8317476" y="2549195"/>
            <a:ext cx="23511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 --- &gt; Vector (List[float])</a:t>
            </a:r>
          </a:p>
        </p:txBody>
      </p:sp>
    </p:spTree>
    <p:extLst>
      <p:ext uri="{BB962C8B-B14F-4D97-AF65-F5344CB8AC3E}">
        <p14:creationId xmlns:p14="http://schemas.microsoft.com/office/powerpoint/2010/main" val="60568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7E019-757F-05B0-600F-9E2F0588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28B575-2CBE-592A-100F-E41045A59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327816"/>
              </p:ext>
            </p:extLst>
          </p:nvPr>
        </p:nvGraphicFramePr>
        <p:xfrm>
          <a:off x="1681316" y="353960"/>
          <a:ext cx="7855974" cy="6159487"/>
        </p:xfrm>
        <a:graphic>
          <a:graphicData uri="http://schemas.openxmlformats.org/drawingml/2006/table">
            <a:tbl>
              <a:tblPr/>
              <a:tblGrid>
                <a:gridCol w="1120878">
                  <a:extLst>
                    <a:ext uri="{9D8B030D-6E8A-4147-A177-3AD203B41FA5}">
                      <a16:colId xmlns:a16="http://schemas.microsoft.com/office/drawing/2014/main" val="3921300640"/>
                    </a:ext>
                  </a:extLst>
                </a:gridCol>
                <a:gridCol w="3224980">
                  <a:extLst>
                    <a:ext uri="{9D8B030D-6E8A-4147-A177-3AD203B41FA5}">
                      <a16:colId xmlns:a16="http://schemas.microsoft.com/office/drawing/2014/main" val="1314703508"/>
                    </a:ext>
                  </a:extLst>
                </a:gridCol>
                <a:gridCol w="3510116">
                  <a:extLst>
                    <a:ext uri="{9D8B030D-6E8A-4147-A177-3AD203B41FA5}">
                      <a16:colId xmlns:a16="http://schemas.microsoft.com/office/drawing/2014/main" val="889832511"/>
                    </a:ext>
                  </a:extLst>
                </a:gridCol>
              </a:tblGrid>
              <a:tr h="251711">
                <a:tc>
                  <a:txBody>
                    <a:bodyPr/>
                    <a:lstStyle/>
                    <a:p>
                      <a:r>
                        <a:rPr lang="en-IN" sz="1000" dirty="0"/>
                        <a:t>Feature / Aspect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LLM (Base Model)</a:t>
                      </a:r>
                      <a:endParaRPr lang="en-IN" sz="100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Chat Model</a:t>
                      </a:r>
                      <a:endParaRPr lang="en-IN" sz="1000" dirty="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256804"/>
                  </a:ext>
                </a:extLst>
              </a:tr>
              <a:tr h="1208239">
                <a:tc>
                  <a:txBody>
                    <a:bodyPr/>
                    <a:lstStyle/>
                    <a:p>
                      <a:r>
                        <a:rPr lang="en-IN" sz="1000" b="1"/>
                        <a:t>1. What is it?</a:t>
                      </a:r>
                      <a:endParaRPr lang="en-IN" sz="100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 large language model trained to complete or generate text given a single prompt string.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Conversational AI models specifically designed for multi-turn dialogue. They understand conversation context and can maintain coherent exchanges with users.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995840"/>
                  </a:ext>
                </a:extLst>
              </a:tr>
              <a:tr h="319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dirty="0"/>
                        <a:t>2. Input/Output</a:t>
                      </a:r>
                      <a:endParaRPr lang="en-IN" sz="1000" dirty="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string → string</a:t>
                      </a:r>
                      <a:endParaRPr lang="en-US" sz="1000" dirty="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List[</a:t>
                      </a:r>
                      <a:r>
                        <a:rPr lang="en-US" sz="1000" dirty="0" err="1"/>
                        <a:t>BaseMessage</a:t>
                      </a:r>
                      <a:r>
                        <a:rPr lang="en-US" sz="1000" dirty="0"/>
                        <a:t>] → </a:t>
                      </a:r>
                      <a:r>
                        <a:rPr lang="en-US" sz="1000" dirty="0" err="1"/>
                        <a:t>AIMessage</a:t>
                      </a:r>
                      <a:r>
                        <a:rPr lang="en-US" sz="1000" dirty="0"/>
                        <a:t> (role-aware structured output)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52962"/>
                  </a:ext>
                </a:extLst>
              </a:tr>
              <a:tr h="825627">
                <a:tc>
                  <a:txBody>
                    <a:bodyPr/>
                    <a:lstStyle/>
                    <a:p>
                      <a:r>
                        <a:rPr lang="en-IN" sz="1000" b="1" dirty="0"/>
                        <a:t>3. Purpose</a:t>
                      </a:r>
                      <a:endParaRPr lang="en-IN" sz="1000" dirty="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Designed for single-shot or one-turn completions like summarization, translation, and basic Q&amp;A.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Built for ongoing conversations, instruction-following, and interactive dialogue.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66964"/>
                  </a:ext>
                </a:extLst>
              </a:tr>
              <a:tr h="634322">
                <a:tc>
                  <a:txBody>
                    <a:bodyPr/>
                    <a:lstStyle/>
                    <a:p>
                      <a:r>
                        <a:rPr lang="en-IN" sz="1000" b="1" dirty="0"/>
                        <a:t>4. Training</a:t>
                      </a:r>
                      <a:endParaRPr lang="en-IN" sz="1000" dirty="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Trained on large text corpora without specific structure or role context.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Fine-tuned on conversation datasets with roles: system, user, ai.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422767"/>
                  </a:ext>
                </a:extLst>
              </a:tr>
              <a:tr h="825627">
                <a:tc>
                  <a:txBody>
                    <a:bodyPr/>
                    <a:lstStyle/>
                    <a:p>
                      <a:r>
                        <a:rPr lang="en-IN" sz="1000" b="1" dirty="0"/>
                        <a:t>5. Memory Support</a:t>
                      </a:r>
                      <a:endParaRPr lang="en-IN" sz="1000" dirty="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 inherent support for memory; developers must stitch previous prompts/responses manually.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Native memory integration using MessagesPlaceholder or memory components in LangChain.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900334"/>
                  </a:ext>
                </a:extLst>
              </a:tr>
              <a:tr h="825627">
                <a:tc>
                  <a:txBody>
                    <a:bodyPr/>
                    <a:lstStyle/>
                    <a:p>
                      <a:r>
                        <a:rPr lang="en-IN" sz="1000" b="1" dirty="0"/>
                        <a:t>6. Role Awareness</a:t>
                      </a:r>
                      <a:endParaRPr lang="en-IN" sz="1000" dirty="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❌ Lacks concept of roles like "system", "user", or "ai". Treats all text as flat input.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✅ Fully aware of roles; can distinguish instructions, questions, and replies based on message type.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822166"/>
                  </a:ext>
                </a:extLst>
              </a:tr>
              <a:tr h="634322">
                <a:tc>
                  <a:txBody>
                    <a:bodyPr/>
                    <a:lstStyle/>
                    <a:p>
                      <a:r>
                        <a:rPr lang="en-IN" sz="1000" b="1" dirty="0"/>
                        <a:t>7. Example Models</a:t>
                      </a:r>
                      <a:endParaRPr lang="en-IN" sz="1000" dirty="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- text-davinci-003 (OpenAI) - GPT-J (EleutherAI) - MPT-7B (MosaicML)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- gpt-4 / gpt-3.5-turbo (OpenAI) - Claude 3 (Anthropic) - Mistral-Instruct, LLaMA 2 Chat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146909"/>
                  </a:ext>
                </a:extLst>
              </a:tr>
              <a:tr h="634322">
                <a:tc>
                  <a:txBody>
                    <a:bodyPr/>
                    <a:lstStyle/>
                    <a:p>
                      <a:r>
                        <a:rPr lang="en-IN" sz="1000" b="1" dirty="0"/>
                        <a:t>8. Use Cases</a:t>
                      </a:r>
                      <a:endParaRPr lang="en-IN" sz="1000" dirty="0"/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- One-shot summarization - Text classification - Creative writing - Code generation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- Chatbots - Conversational agents with memory - RAG pipelines - Tool-using AI agents</a:t>
                      </a:r>
                    </a:p>
                  </a:txBody>
                  <a:tcPr marL="38497" marR="38497" marT="19248" marB="19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525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07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F2CA6-493B-2F4A-17EC-3BA7E857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BD0805-7EC8-46ED-9F49-D66C9BEF37D2}"/>
              </a:ext>
            </a:extLst>
          </p:cNvPr>
          <p:cNvSpPr txBox="1"/>
          <p:nvPr/>
        </p:nvSpPr>
        <p:spPr>
          <a:xfrm>
            <a:off x="511277" y="233035"/>
            <a:ext cx="1116944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What Is a Chat Model?</a:t>
            </a:r>
          </a:p>
          <a:p>
            <a:endParaRPr lang="en-US" dirty="0"/>
          </a:p>
          <a:p>
            <a:r>
              <a:rPr lang="en-US" dirty="0"/>
              <a:t>Chat models are language models designed </a:t>
            </a:r>
            <a:r>
              <a:rPr lang="en-US" i="1" dirty="0">
                <a:solidFill>
                  <a:srgbClr val="FF0000"/>
                </a:solidFill>
              </a:rPr>
              <a:t>to interact through structured role-based messages </a:t>
            </a:r>
            <a:r>
              <a:rPr lang="en-US" dirty="0"/>
              <a:t>(e.g., system, user, ai). </a:t>
            </a:r>
            <a:r>
              <a:rPr lang="en-US" dirty="0" err="1"/>
              <a:t>LangChain</a:t>
            </a:r>
            <a:r>
              <a:rPr lang="en-US" dirty="0"/>
              <a:t> provides wrappers that make it easy to use them with standardized APIs. These models are ideal for multi-turn conversations, where the model must maintain context, obey system instructions, and respond based on role semantics.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4957DB-7265-DC28-935D-E7270B635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2696566"/>
            <a:ext cx="5780409" cy="3018658"/>
          </a:xfrm>
          <a:prstGeom prst="roundRect">
            <a:avLst>
              <a:gd name="adj" fmla="val 9400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329D7A-A6DA-8FA3-D19B-CF7D7139C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696566"/>
            <a:ext cx="6049413" cy="3018658"/>
          </a:xfrm>
          <a:prstGeom prst="roundRect">
            <a:avLst>
              <a:gd name="adj" fmla="val 12330"/>
            </a:avLst>
          </a:prstGeom>
        </p:spPr>
      </p:pic>
    </p:spTree>
    <p:extLst>
      <p:ext uri="{BB962C8B-B14F-4D97-AF65-F5344CB8AC3E}">
        <p14:creationId xmlns:p14="http://schemas.microsoft.com/office/powerpoint/2010/main" val="209563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C896B-11A4-1A89-4275-0A3E7B7C6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863A46-4FBE-B9EC-D1B2-7211DABE4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968" y="566338"/>
            <a:ext cx="7802064" cy="5725324"/>
          </a:xfrm>
          <a:prstGeom prst="roundRect">
            <a:avLst>
              <a:gd name="adj" fmla="val 10828"/>
            </a:avLst>
          </a:prstGeom>
        </p:spPr>
      </p:pic>
    </p:spTree>
    <p:extLst>
      <p:ext uri="{BB962C8B-B14F-4D97-AF65-F5344CB8AC3E}">
        <p14:creationId xmlns:p14="http://schemas.microsoft.com/office/powerpoint/2010/main" val="107210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C922-99B4-E285-37AD-B7EAC50A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D16A659-FDDB-02A7-DECB-7E34C3320E47}"/>
              </a:ext>
            </a:extLst>
          </p:cNvPr>
          <p:cNvSpPr txBox="1"/>
          <p:nvPr/>
        </p:nvSpPr>
        <p:spPr>
          <a:xfrm>
            <a:off x="899598" y="181698"/>
            <a:ext cx="89779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OpenAI models: </a:t>
            </a:r>
            <a:r>
              <a:rPr lang="en-IN" dirty="0">
                <a:hlinkClick r:id="rId2"/>
              </a:rPr>
              <a:t>https://platform.openai.com/docs/models</a:t>
            </a:r>
            <a:r>
              <a:rPr lang="en-IN" dirty="0"/>
              <a:t>		             	  	           </a:t>
            </a:r>
            <a:r>
              <a:rPr lang="en-IN" dirty="0">
                <a:hlinkClick r:id="rId3"/>
              </a:rPr>
              <a:t>https://python.langchain.com/docs/integrations/chat/openai</a:t>
            </a:r>
            <a:r>
              <a:rPr lang="en-IN" dirty="0"/>
              <a:t>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B5C9B-6A57-77B2-FCFE-24B59F67040B}"/>
              </a:ext>
            </a:extLst>
          </p:cNvPr>
          <p:cNvSpPr txBox="1"/>
          <p:nvPr/>
        </p:nvSpPr>
        <p:spPr>
          <a:xfrm>
            <a:off x="994787" y="1261233"/>
            <a:ext cx="8136652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langchain_openai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ChatOpenAI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LLM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ChatOpenAI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"gpt-3.5-turbo"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88C58-9E1F-A7F9-0343-248824830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23" y="2271536"/>
            <a:ext cx="5961835" cy="4192141"/>
          </a:xfrm>
          <a:prstGeom prst="roundRect">
            <a:avLst>
              <a:gd name="adj" fmla="val 11154"/>
            </a:avLst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882351-4DE1-84F6-45A2-B06B4F71DD07}"/>
              </a:ext>
            </a:extLst>
          </p:cNvPr>
          <p:cNvSpPr txBox="1"/>
          <p:nvPr/>
        </p:nvSpPr>
        <p:spPr>
          <a:xfrm>
            <a:off x="7138219" y="3087329"/>
            <a:ext cx="48866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API creation:</a:t>
            </a:r>
            <a:endParaRPr lang="en-IN" dirty="0">
              <a:hlinkClick r:id="rId5"/>
            </a:endParaRPr>
          </a:p>
          <a:p>
            <a:br>
              <a:rPr lang="en-IN" dirty="0">
                <a:hlinkClick r:id="rId5"/>
              </a:rPr>
            </a:br>
            <a:r>
              <a:rPr lang="en-IN" dirty="0">
                <a:hlinkClick r:id="rId5"/>
              </a:rPr>
              <a:t>https://platform.openai.com/settings/organization/api-keys</a:t>
            </a:r>
            <a:r>
              <a:rPr lang="en-IN" dirty="0"/>
              <a:t> </a:t>
            </a:r>
          </a:p>
          <a:p>
            <a:r>
              <a:rPr lang="en-IN" dirty="0">
                <a:hlinkClick r:id="rId6"/>
              </a:rPr>
              <a:t>https://aistudio.google.com/apikey</a:t>
            </a:r>
            <a:endParaRPr lang="en-IN" dirty="0"/>
          </a:p>
          <a:p>
            <a:r>
              <a:rPr lang="en-IN" dirty="0">
                <a:hlinkClick r:id="rId7"/>
              </a:rPr>
              <a:t>https://huggingface.co/settings/tokens</a:t>
            </a:r>
            <a:endParaRPr lang="en-IN" dirty="0"/>
          </a:p>
          <a:p>
            <a:r>
              <a:rPr lang="en-IN" dirty="0">
                <a:hlinkClick r:id="rId8"/>
              </a:rPr>
              <a:t>https://console.anthropic.com/dashboard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5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957B-46EB-1A45-6095-07D1DD70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7BB268-1737-DB11-8A33-48AC29B12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75" y="322626"/>
            <a:ext cx="6243250" cy="3521038"/>
          </a:xfrm>
          <a:prstGeom prst="roundRect">
            <a:avLst>
              <a:gd name="adj" fmla="val 13037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B7C047-D0B4-A528-F2F4-AFC4D1B16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312" y="4090470"/>
            <a:ext cx="5201376" cy="2610214"/>
          </a:xfrm>
          <a:prstGeom prst="roundRect">
            <a:avLst>
              <a:gd name="adj" fmla="val 13654"/>
            </a:avLst>
          </a:prstGeom>
        </p:spPr>
      </p:pic>
    </p:spTree>
    <p:extLst>
      <p:ext uri="{BB962C8B-B14F-4D97-AF65-F5344CB8AC3E}">
        <p14:creationId xmlns:p14="http://schemas.microsoft.com/office/powerpoint/2010/main" val="112864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D8613-7016-0319-F5B9-EF6138D3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913093-0697-34B9-086B-7ED4F82D1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34" y="176803"/>
            <a:ext cx="5991721" cy="3991803"/>
          </a:xfrm>
          <a:prstGeom prst="roundRect">
            <a:avLst>
              <a:gd name="adj" fmla="val 6907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125D66-F3E9-0AD5-DFBE-49C0F764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634" y="4310894"/>
            <a:ext cx="5991721" cy="2363137"/>
          </a:xfrm>
          <a:prstGeom prst="roundRect">
            <a:avLst>
              <a:gd name="adj" fmla="val 9996"/>
            </a:avLst>
          </a:prstGeom>
        </p:spPr>
      </p:pic>
    </p:spTree>
    <p:extLst>
      <p:ext uri="{BB962C8B-B14F-4D97-AF65-F5344CB8AC3E}">
        <p14:creationId xmlns:p14="http://schemas.microsoft.com/office/powerpoint/2010/main" val="386811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F53C-E572-1AF3-A32F-7B5BB3EA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5D3E5-57AA-4C22-D0EB-7FD734524AA7}"/>
              </a:ext>
            </a:extLst>
          </p:cNvPr>
          <p:cNvSpPr txBox="1"/>
          <p:nvPr/>
        </p:nvSpPr>
        <p:spPr>
          <a:xfrm>
            <a:off x="875071" y="2952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Gemini API: </a:t>
            </a:r>
            <a:r>
              <a:rPr lang="en-IN" dirty="0">
                <a:hlinkClick r:id="rId2"/>
              </a:rPr>
              <a:t>https://aistudio.google.com/apikey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97FAE-052D-231A-5245-80DB50444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047" y="1951678"/>
            <a:ext cx="7563906" cy="4744112"/>
          </a:xfrm>
          <a:prstGeom prst="roundRect">
            <a:avLst>
              <a:gd name="adj" fmla="val 10864"/>
            </a:avLst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237867-AB8C-79FA-3A85-241FCD331F80}"/>
              </a:ext>
            </a:extLst>
          </p:cNvPr>
          <p:cNvSpPr txBox="1"/>
          <p:nvPr/>
        </p:nvSpPr>
        <p:spPr>
          <a:xfrm>
            <a:off x="875071" y="941750"/>
            <a:ext cx="9665110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langchain_google_genai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ChatGoogleGenerativeAI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LLM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ChatGoogleGenerativeAI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'gemini-1.5-pro'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031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6FBE-1213-3284-6E23-ED429AB3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23CE79-A348-D210-24A2-86D94D2F0244}"/>
              </a:ext>
            </a:extLst>
          </p:cNvPr>
          <p:cNvSpPr txBox="1"/>
          <p:nvPr/>
        </p:nvSpPr>
        <p:spPr>
          <a:xfrm>
            <a:off x="599767" y="335596"/>
            <a:ext cx="8318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Anthropic: </a:t>
            </a:r>
            <a:r>
              <a:rPr lang="en-IN" dirty="0">
                <a:hlinkClick r:id="rId2"/>
              </a:rPr>
              <a:t>https://docs.anthropic.com/en/docs/about-claude/models/overview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091979-00EF-59ED-1111-30635678D0AC}"/>
              </a:ext>
            </a:extLst>
          </p:cNvPr>
          <p:cNvSpPr txBox="1"/>
          <p:nvPr/>
        </p:nvSpPr>
        <p:spPr>
          <a:xfrm>
            <a:off x="776748" y="923424"/>
            <a:ext cx="9153832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langchain_anthropic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ChatAnthropic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LLM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ChatAnthropic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'claude-sonnet-4-20250514'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936329-96B1-F9A1-E6BF-3EC17C010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336" y="2438134"/>
            <a:ext cx="7535327" cy="3810532"/>
          </a:xfrm>
          <a:prstGeom prst="roundRect">
            <a:avLst>
              <a:gd name="adj" fmla="val 11248"/>
            </a:avLst>
          </a:prstGeom>
        </p:spPr>
      </p:pic>
    </p:spTree>
    <p:extLst>
      <p:ext uri="{BB962C8B-B14F-4D97-AF65-F5344CB8AC3E}">
        <p14:creationId xmlns:p14="http://schemas.microsoft.com/office/powerpoint/2010/main" val="252557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83D2-100D-23F8-2753-D29EA434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C6A39B-CCF3-277A-446A-E78C205DFC8A}"/>
              </a:ext>
            </a:extLst>
          </p:cNvPr>
          <p:cNvSpPr/>
          <p:nvPr/>
        </p:nvSpPr>
        <p:spPr>
          <a:xfrm>
            <a:off x="4788310" y="1479391"/>
            <a:ext cx="1946787" cy="71320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Huggingface</a:t>
            </a:r>
            <a:r>
              <a:rPr lang="en-US" dirty="0">
                <a:solidFill>
                  <a:schemeClr val="bg1"/>
                </a:solidFill>
              </a:rPr>
              <a:t> models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4F6799-580B-50E1-B776-F1346DA1574E}"/>
              </a:ext>
            </a:extLst>
          </p:cNvPr>
          <p:cNvSpPr/>
          <p:nvPr/>
        </p:nvSpPr>
        <p:spPr>
          <a:xfrm>
            <a:off x="2698955" y="2905797"/>
            <a:ext cx="1946787" cy="523203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Using HF API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8EB672-1771-17E7-0D73-4F9BBB6E444C}"/>
              </a:ext>
            </a:extLst>
          </p:cNvPr>
          <p:cNvSpPr/>
          <p:nvPr/>
        </p:nvSpPr>
        <p:spPr>
          <a:xfrm>
            <a:off x="7354530" y="2905797"/>
            <a:ext cx="2138515" cy="63381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Download and run locally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60A2F2-0260-ADA4-9337-C6BE6DFB4AE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672349" y="2192594"/>
            <a:ext cx="2089355" cy="713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98AD87-851E-5365-A329-12D2384C5A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791202" y="2192594"/>
            <a:ext cx="2632586" cy="713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27753F-6948-1D83-29B2-93C876456471}"/>
              </a:ext>
            </a:extLst>
          </p:cNvPr>
          <p:cNvSpPr txBox="1"/>
          <p:nvPr/>
        </p:nvSpPr>
        <p:spPr>
          <a:xfrm>
            <a:off x="98321" y="3619000"/>
            <a:ext cx="6174659" cy="200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HuggingFaceEndpoint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repo_id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"HuggingFaceH4/zephyr-7b-beta"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"text-generation"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max_new_tokens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huggingfacehub_api_token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getenv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"HUGGINGFACEHUB_ACCESS_TOKEN"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72B3A1-3789-F292-62EC-7D220C0B20E0}"/>
              </a:ext>
            </a:extLst>
          </p:cNvPr>
          <p:cNvSpPr txBox="1"/>
          <p:nvPr/>
        </p:nvSpPr>
        <p:spPr>
          <a:xfrm>
            <a:off x="6184490" y="3619000"/>
            <a:ext cx="6096000" cy="338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 Load Local </a:t>
            </a:r>
            <a:r>
              <a:rPr lang="en-I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HuggingFace</a:t>
            </a:r>
            <a:r>
              <a:rPr lang="en-I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Model ===</a:t>
            </a:r>
            <a:endParaRPr lang="en-I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b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environ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'HF_HOME'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'E:/YOUTUBE_CODES/40_LLMs/</a:t>
            </a:r>
            <a:r>
              <a:rPr lang="en-IN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hugging_face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b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HuggingFacePipeline.from_model_id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model_id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'HuggingFaceH4/zephyr-7b-beta'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'text-generation'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pipeline_kwargs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max_new_tokens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endParaRPr lang="en-I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ct val="150000"/>
              </a:lnSpc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9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3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14AC-D10D-4775-B54C-BA8DD78D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A8D785-DD18-7A58-01CE-509114393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481" y="95173"/>
            <a:ext cx="5954576" cy="2610738"/>
          </a:xfrm>
          <a:prstGeom prst="round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94FA61-A8CB-06FD-B818-2B56E5504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649"/>
          <a:stretch>
            <a:fillRect/>
          </a:stretch>
        </p:blipFill>
        <p:spPr>
          <a:xfrm>
            <a:off x="477933" y="3313471"/>
            <a:ext cx="5058703" cy="1936954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EF94AE-74F3-C476-9E0E-2EF00C7F50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693"/>
          <a:stretch>
            <a:fillRect/>
          </a:stretch>
        </p:blipFill>
        <p:spPr>
          <a:xfrm>
            <a:off x="6326007" y="3313470"/>
            <a:ext cx="4941761" cy="193695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8524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10342</TotalTime>
  <Words>828</Words>
  <Application>Microsoft Office PowerPoint</Application>
  <PresentationFormat>Widescreen</PresentationFormat>
  <Paragraphs>115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Google Sans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199</cp:revision>
  <dcterms:created xsi:type="dcterms:W3CDTF">2020-07-09T14:04:16Z</dcterms:created>
  <dcterms:modified xsi:type="dcterms:W3CDTF">2025-08-01T14:14:20Z</dcterms:modified>
</cp:coreProperties>
</file>