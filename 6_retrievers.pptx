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3"/>
  </p:notesMasterIdLst>
  <p:sldIdLst>
    <p:sldId id="274" r:id="rId2"/>
    <p:sldId id="300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C3300"/>
    <a:srgbClr val="E40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.langchain.com/docs/integrations/retrievers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5128260" y="3354706"/>
            <a:ext cx="2378546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404853" y="2630984"/>
            <a:ext cx="2378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Retriever</a:t>
            </a:r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1D08-FA0D-3AF6-C3C7-7C71C823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DB6F3-01C8-EDF1-0C7C-111D060E72D9}"/>
              </a:ext>
            </a:extLst>
          </p:cNvPr>
          <p:cNvSpPr txBox="1"/>
          <p:nvPr/>
        </p:nvSpPr>
        <p:spPr>
          <a:xfrm>
            <a:off x="619431" y="461720"/>
            <a:ext cx="105303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b="1" dirty="0" err="1"/>
              <a:t>LangChain</a:t>
            </a:r>
            <a:r>
              <a:rPr lang="en-US" dirty="0"/>
              <a:t> and Retrieval-Augmented Generation (</a:t>
            </a:r>
            <a:r>
              <a:rPr lang="en-US" b="1" dirty="0"/>
              <a:t>RAG</a:t>
            </a:r>
            <a:r>
              <a:rPr lang="en-US" dirty="0"/>
              <a:t>) systems, a </a:t>
            </a:r>
            <a:r>
              <a:rPr lang="en-US" b="1" dirty="0"/>
              <a:t>retriever</a:t>
            </a:r>
            <a:r>
              <a:rPr lang="en-US" dirty="0"/>
              <a:t> is a component that </a:t>
            </a:r>
            <a:r>
              <a:rPr lang="en-US" b="1" i="1" dirty="0">
                <a:solidFill>
                  <a:srgbClr val="FF0000"/>
                </a:solidFill>
              </a:rPr>
              <a:t>fetches relevant documents or chunks</a:t>
            </a:r>
            <a:r>
              <a:rPr lang="en-US" dirty="0"/>
              <a:t> from a knowledge source (like a vector store) based on a user query.</a:t>
            </a:r>
            <a:br>
              <a:rPr lang="en-US" dirty="0"/>
            </a:br>
            <a:r>
              <a:rPr lang="en-US" dirty="0"/>
              <a:t>It is easily pluggable in </a:t>
            </a:r>
            <a:r>
              <a:rPr lang="en-US" dirty="0" err="1"/>
              <a:t>langchain</a:t>
            </a:r>
            <a:r>
              <a:rPr lang="en-US" dirty="0"/>
              <a:t> pipeline.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3A3CD-CDE3-DF56-EB13-30C3890490E7}"/>
              </a:ext>
            </a:extLst>
          </p:cNvPr>
          <p:cNvSpPr txBox="1"/>
          <p:nvPr/>
        </p:nvSpPr>
        <p:spPr>
          <a:xfrm>
            <a:off x="580102" y="1555641"/>
            <a:ext cx="893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All available retrievers: https://python.langchain.com/docs/integrations/retrievers/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108E16-7151-ACE0-05DF-DE0CDDDD7AF5}"/>
              </a:ext>
            </a:extLst>
          </p:cNvPr>
          <p:cNvSpPr txBox="1"/>
          <p:nvPr/>
        </p:nvSpPr>
        <p:spPr>
          <a:xfrm>
            <a:off x="1881894" y="3465251"/>
            <a:ext cx="1317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Retrievers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383ED-8F5A-4684-3397-1EAA466931B5}"/>
              </a:ext>
            </a:extLst>
          </p:cNvPr>
          <p:cNvSpPr txBox="1"/>
          <p:nvPr/>
        </p:nvSpPr>
        <p:spPr>
          <a:xfrm>
            <a:off x="5108842" y="2114163"/>
            <a:ext cx="2513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</a:pPr>
            <a:r>
              <a:rPr lang="en-IN" b="1" i="0" dirty="0" err="1">
                <a:solidFill>
                  <a:srgbClr val="E3E3E3"/>
                </a:solidFill>
                <a:effectLst/>
                <a:latin typeface="Manrope"/>
              </a:rPr>
              <a:t>WikipediaRetriever</a:t>
            </a:r>
            <a:endParaRPr lang="en-IN" b="1" i="0" dirty="0">
              <a:solidFill>
                <a:srgbClr val="E3E3E3"/>
              </a:solidFill>
              <a:effectLst/>
              <a:latin typeface="Manrop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7174C-16CD-5DE0-56FD-6257C913CEB4}"/>
              </a:ext>
            </a:extLst>
          </p:cNvPr>
          <p:cNvSpPr txBox="1"/>
          <p:nvPr/>
        </p:nvSpPr>
        <p:spPr>
          <a:xfrm>
            <a:off x="5811848" y="2654086"/>
            <a:ext cx="2513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</a:pPr>
            <a:r>
              <a:rPr lang="en-IN" b="1" i="0" dirty="0">
                <a:solidFill>
                  <a:srgbClr val="E3E3E3"/>
                </a:solidFill>
                <a:effectLst/>
                <a:latin typeface="Manrope"/>
              </a:rPr>
              <a:t>Vector Store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7CADEF-2A8D-DA03-28ED-9DC5307058D3}"/>
              </a:ext>
            </a:extLst>
          </p:cNvPr>
          <p:cNvSpPr txBox="1"/>
          <p:nvPr/>
        </p:nvSpPr>
        <p:spPr>
          <a:xfrm>
            <a:off x="6365404" y="3187539"/>
            <a:ext cx="100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solidFill>
                  <a:srgbClr val="E3E3E3"/>
                </a:solidFill>
                <a:effectLst/>
                <a:latin typeface="Roboto" panose="02000000000000000000" pitchFamily="2" charset="0"/>
              </a:rPr>
              <a:t>MMR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76260A-9A3B-25FF-2FDE-D8E8E0F3E93B}"/>
              </a:ext>
            </a:extLst>
          </p:cNvPr>
          <p:cNvSpPr txBox="1"/>
          <p:nvPr/>
        </p:nvSpPr>
        <p:spPr>
          <a:xfrm>
            <a:off x="6365404" y="38345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E3E3E3"/>
                </a:solidFill>
                <a:latin typeface="Roboto" panose="02000000000000000000" pitchFamily="2" charset="0"/>
              </a:rPr>
              <a:t>ContextualCompressionRetriever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FAC86A-146F-DC04-9CEC-AFD2B48E81E8}"/>
              </a:ext>
            </a:extLst>
          </p:cNvPr>
          <p:cNvSpPr txBox="1"/>
          <p:nvPr/>
        </p:nvSpPr>
        <p:spPr>
          <a:xfrm>
            <a:off x="5811848" y="44225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MultiQueryRetriever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145887-F374-712E-C92D-6B8412E4FE6A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3199417" y="2298829"/>
            <a:ext cx="1909425" cy="1351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7AE75B-E8FA-90A0-6AB8-A69FD56E79C7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3199417" y="2838752"/>
            <a:ext cx="2612431" cy="811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025BF7-C684-CBEC-54C5-7D9B738793B5}"/>
              </a:ext>
            </a:extLst>
          </p:cNvPr>
          <p:cNvCxnSpPr>
            <a:stCxn id="9" idx="3"/>
            <a:endCxn id="14" idx="1"/>
          </p:cNvCxnSpPr>
          <p:nvPr/>
        </p:nvCxnSpPr>
        <p:spPr>
          <a:xfrm flipV="1">
            <a:off x="3199417" y="3372205"/>
            <a:ext cx="3165987" cy="27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520549-5D6B-8BBF-D6D1-2772C643DB6A}"/>
              </a:ext>
            </a:extLst>
          </p:cNvPr>
          <p:cNvCxnSpPr>
            <a:stCxn id="9" idx="3"/>
            <a:endCxn id="16" idx="1"/>
          </p:cNvCxnSpPr>
          <p:nvPr/>
        </p:nvCxnSpPr>
        <p:spPr>
          <a:xfrm>
            <a:off x="3199417" y="3649917"/>
            <a:ext cx="3165987" cy="36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525ED3-77A2-8FB9-6C3D-048017F0194A}"/>
              </a:ext>
            </a:extLst>
          </p:cNvPr>
          <p:cNvCxnSpPr>
            <a:stCxn id="9" idx="3"/>
            <a:endCxn id="18" idx="1"/>
          </p:cNvCxnSpPr>
          <p:nvPr/>
        </p:nvCxnSpPr>
        <p:spPr>
          <a:xfrm>
            <a:off x="3199417" y="3649917"/>
            <a:ext cx="2612431" cy="957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9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  <p:bldP spid="11" grpId="0"/>
      <p:bldP spid="12" grpId="0"/>
      <p:bldP spid="14" grpId="0"/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932E-DB5D-C163-DC66-2A144EAAC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9CE63-D83A-C129-C5AC-54527B783755}"/>
              </a:ext>
            </a:extLst>
          </p:cNvPr>
          <p:cNvSpPr txBox="1"/>
          <p:nvPr/>
        </p:nvSpPr>
        <p:spPr>
          <a:xfrm>
            <a:off x="865238" y="582250"/>
            <a:ext cx="2025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75"/>
              </a:spcAft>
            </a:pPr>
            <a:r>
              <a:rPr lang="en-IN" b="1" i="0" dirty="0" err="1">
                <a:solidFill>
                  <a:srgbClr val="E3E3E3"/>
                </a:solidFill>
                <a:effectLst/>
                <a:latin typeface="Manrope"/>
              </a:rPr>
              <a:t>WikipediaRetriever</a:t>
            </a:r>
            <a:endParaRPr lang="en-IN" b="1" i="0" dirty="0">
              <a:solidFill>
                <a:srgbClr val="E3E3E3"/>
              </a:solidFill>
              <a:effectLst/>
              <a:latin typeface="Manrop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BC1E5-2A46-7EED-DEEC-6B40F8BC3F8B}"/>
              </a:ext>
            </a:extLst>
          </p:cNvPr>
          <p:cNvSpPr txBox="1"/>
          <p:nvPr/>
        </p:nvSpPr>
        <p:spPr>
          <a:xfrm>
            <a:off x="3146322" y="582250"/>
            <a:ext cx="88293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WikipediaRetriever</a:t>
            </a:r>
            <a:r>
              <a:rPr lang="en-US" dirty="0"/>
              <a:t> is a retriever class in </a:t>
            </a:r>
            <a:r>
              <a:rPr lang="en-US" dirty="0" err="1"/>
              <a:t>LangChain</a:t>
            </a:r>
            <a:r>
              <a:rPr lang="en-US" dirty="0"/>
              <a:t> that fetches relevant content from </a:t>
            </a:r>
            <a:r>
              <a:rPr lang="en-US" i="1" dirty="0">
                <a:solidFill>
                  <a:srgbClr val="FF0000"/>
                </a:solidFill>
              </a:rPr>
              <a:t>Wikipedia</a:t>
            </a:r>
            <a:r>
              <a:rPr lang="en-US" dirty="0"/>
              <a:t> in response to a user query. Instead of searching your local documents, it queries Wikipedia's online API in real time to retrieve contextual information based on the query.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2B7F79-FD89-36DA-DCE1-4D5D9F5A7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" y="2236014"/>
            <a:ext cx="10269383" cy="3124636"/>
          </a:xfrm>
          <a:prstGeom prst="roundRect">
            <a:avLst>
              <a:gd name="adj" fmla="val 11947"/>
            </a:avLst>
          </a:prstGeom>
        </p:spPr>
      </p:pic>
    </p:spTree>
    <p:extLst>
      <p:ext uri="{BB962C8B-B14F-4D97-AF65-F5344CB8AC3E}">
        <p14:creationId xmlns:p14="http://schemas.microsoft.com/office/powerpoint/2010/main" val="96167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DBC7-DE9B-06D1-072C-7E81D3C8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DE696-267D-B559-D860-BC49EB80C541}"/>
              </a:ext>
            </a:extLst>
          </p:cNvPr>
          <p:cNvSpPr txBox="1"/>
          <p:nvPr/>
        </p:nvSpPr>
        <p:spPr>
          <a:xfrm>
            <a:off x="943897" y="660908"/>
            <a:ext cx="229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75"/>
              </a:spcAft>
            </a:pPr>
            <a:r>
              <a:rPr lang="en-IN" b="1" i="0" dirty="0">
                <a:solidFill>
                  <a:srgbClr val="E3E3E3"/>
                </a:solidFill>
                <a:effectLst/>
                <a:latin typeface="Manrope"/>
              </a:rPr>
              <a:t>Vector Store</a:t>
            </a:r>
            <a:r>
              <a:rPr lang="en-IN" b="1" dirty="0">
                <a:solidFill>
                  <a:srgbClr val="E3E3E3"/>
                </a:solidFill>
                <a:latin typeface="Manrope"/>
              </a:rPr>
              <a:t> Retriever</a:t>
            </a:r>
            <a:endParaRPr lang="en-IN" b="1" i="0" dirty="0">
              <a:solidFill>
                <a:srgbClr val="E3E3E3"/>
              </a:solidFill>
              <a:effectLst/>
              <a:latin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566D3-77D7-6758-9FF2-93526D500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64" y="3165986"/>
            <a:ext cx="7786213" cy="3316031"/>
          </a:xfrm>
          <a:prstGeom prst="roundRect">
            <a:avLst>
              <a:gd name="adj" fmla="val 11330"/>
            </a:avLst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EA7787-886B-FDC2-FC8B-B46EAF403332}"/>
              </a:ext>
            </a:extLst>
          </p:cNvPr>
          <p:cNvSpPr txBox="1"/>
          <p:nvPr/>
        </p:nvSpPr>
        <p:spPr>
          <a:xfrm>
            <a:off x="3480619" y="660908"/>
            <a:ext cx="8229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Vector Store Retriever</a:t>
            </a:r>
            <a:r>
              <a:rPr lang="en-US" dirty="0"/>
              <a:t> in </a:t>
            </a:r>
            <a:r>
              <a:rPr lang="en-US" b="1" dirty="0" err="1"/>
              <a:t>LangChain</a:t>
            </a:r>
            <a:r>
              <a:rPr lang="en-US" dirty="0"/>
              <a:t> is a retriever that </a:t>
            </a:r>
            <a:r>
              <a:rPr lang="en-US" i="1" dirty="0">
                <a:solidFill>
                  <a:srgbClr val="FF0000"/>
                </a:solidFill>
              </a:rPr>
              <a:t>wraps around a </a:t>
            </a:r>
            <a:r>
              <a:rPr lang="en-US" b="1" i="1" dirty="0">
                <a:solidFill>
                  <a:srgbClr val="FF0000"/>
                </a:solidFill>
              </a:rPr>
              <a:t>vector database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(like FAISS, Chroma, Pinecone, etc.) and provides a standardized way to retrieve documents </a:t>
            </a:r>
            <a:r>
              <a:rPr lang="en-US" b="1" dirty="0"/>
              <a:t>using embeddings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BF1D8-4181-8D0E-FA97-C16EFD2C7C52}"/>
              </a:ext>
            </a:extLst>
          </p:cNvPr>
          <p:cNvSpPr txBox="1"/>
          <p:nvPr/>
        </p:nvSpPr>
        <p:spPr>
          <a:xfrm>
            <a:off x="943897" y="26863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You Need Retrievers (when You Have </a:t>
            </a:r>
            <a:r>
              <a:rPr lang="en-US" dirty="0" err="1"/>
              <a:t>similarity_search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98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63A1-4D96-9AD6-2E78-31468274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D08296-8C19-A8F2-5078-3C6A21263C37}"/>
              </a:ext>
            </a:extLst>
          </p:cNvPr>
          <p:cNvSpPr txBox="1"/>
          <p:nvPr/>
        </p:nvSpPr>
        <p:spPr>
          <a:xfrm>
            <a:off x="1091381" y="6510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Maximum Marginal Relevance - MMR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FB304-EEC0-0E92-8CDF-15DC9A71EAEF}"/>
              </a:ext>
            </a:extLst>
          </p:cNvPr>
          <p:cNvSpPr txBox="1"/>
          <p:nvPr/>
        </p:nvSpPr>
        <p:spPr>
          <a:xfrm>
            <a:off x="5309420" y="558743"/>
            <a:ext cx="68039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MMR-based Retriever</a:t>
            </a:r>
            <a:r>
              <a:rPr lang="en-US" dirty="0"/>
              <a:t> in </a:t>
            </a:r>
            <a:r>
              <a:rPr lang="en-US" dirty="0" err="1"/>
              <a:t>LangChain</a:t>
            </a:r>
            <a:r>
              <a:rPr lang="en-US" dirty="0"/>
              <a:t> uses </a:t>
            </a:r>
            <a:r>
              <a:rPr lang="en-US" b="1" dirty="0"/>
              <a:t>Maximal Marginal Relevance (MMR)</a:t>
            </a:r>
            <a:r>
              <a:rPr lang="en-US" dirty="0"/>
              <a:t> to retrieve documents that are </a:t>
            </a:r>
            <a:r>
              <a:rPr lang="en-US" i="1" dirty="0">
                <a:solidFill>
                  <a:srgbClr val="FF0000"/>
                </a:solidFill>
              </a:rPr>
              <a:t>not only </a:t>
            </a:r>
            <a:r>
              <a:rPr lang="en-US" b="1" i="1" dirty="0">
                <a:solidFill>
                  <a:srgbClr val="FF0000"/>
                </a:solidFill>
              </a:rPr>
              <a:t>relevant</a:t>
            </a:r>
            <a:r>
              <a:rPr lang="en-US" i="1" dirty="0">
                <a:solidFill>
                  <a:srgbClr val="FF0000"/>
                </a:solidFill>
              </a:rPr>
              <a:t> to the query but also </a:t>
            </a:r>
            <a:r>
              <a:rPr lang="en-US" b="1" i="1" dirty="0">
                <a:solidFill>
                  <a:srgbClr val="FF0000"/>
                </a:solidFill>
              </a:rPr>
              <a:t>diverse</a:t>
            </a:r>
            <a:r>
              <a:rPr lang="en-US" dirty="0"/>
              <a:t> from each other.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8B40ED-5187-3805-565A-571E5C307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08" y="1594081"/>
            <a:ext cx="5658721" cy="2230667"/>
          </a:xfrm>
          <a:prstGeom prst="round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C1163F-8C6E-B1D2-37AA-B6A88E75D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7" y="4389493"/>
            <a:ext cx="5658721" cy="1776717"/>
          </a:xfrm>
          <a:prstGeom prst="round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F948D2-FE78-10DB-EE39-6128C4ED7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378" y="1417105"/>
            <a:ext cx="5289914" cy="3410185"/>
          </a:xfrm>
          <a:prstGeom prst="round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50A631-51D0-2BFA-2225-101A5C7D6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9378" y="4939298"/>
            <a:ext cx="5025569" cy="1722906"/>
          </a:xfrm>
          <a:prstGeom prst="roundRect">
            <a:avLst>
              <a:gd name="adj" fmla="val 10390"/>
            </a:avLst>
          </a:prstGeom>
        </p:spPr>
      </p:pic>
    </p:spTree>
    <p:extLst>
      <p:ext uri="{BB962C8B-B14F-4D97-AF65-F5344CB8AC3E}">
        <p14:creationId xmlns:p14="http://schemas.microsoft.com/office/powerpoint/2010/main" val="159912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6B6F3-94C6-1A5A-C0E4-99149B0E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C52563-0BCC-78A6-F7BB-515984590097}"/>
              </a:ext>
            </a:extLst>
          </p:cNvPr>
          <p:cNvSpPr txBox="1"/>
          <p:nvPr/>
        </p:nvSpPr>
        <p:spPr>
          <a:xfrm>
            <a:off x="462116" y="444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E3E3E3"/>
                </a:solidFill>
                <a:latin typeface="Roboto" panose="02000000000000000000" pitchFamily="2" charset="0"/>
              </a:rPr>
              <a:t>ContextualCompressionRetriever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C62E5-5844-58BD-FBCD-78B623D4F15B}"/>
              </a:ext>
            </a:extLst>
          </p:cNvPr>
          <p:cNvSpPr txBox="1"/>
          <p:nvPr/>
        </p:nvSpPr>
        <p:spPr>
          <a:xfrm>
            <a:off x="110122" y="1351508"/>
            <a:ext cx="5268123" cy="280076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100" dirty="0"/>
              <a:t>chunks = [</a:t>
            </a:r>
          </a:p>
          <a:p>
            <a:r>
              <a:rPr lang="en-IN" sz="1100" dirty="0"/>
              <a:t>    "Beagles are small hounds with tricolored coats. They were bred in England for rabbit hunting.",</a:t>
            </a:r>
          </a:p>
          <a:p>
            <a:endParaRPr lang="en-IN" sz="1100" dirty="0"/>
          </a:p>
          <a:p>
            <a:r>
              <a:rPr lang="en-IN" sz="1100" dirty="0"/>
              <a:t>    "These dogs have floppy ears and expressive eyes. Their excellent nose helped hunters track prey.",</a:t>
            </a:r>
          </a:p>
          <a:p>
            <a:endParaRPr lang="en-IN" sz="1100" dirty="0"/>
          </a:p>
          <a:p>
            <a:r>
              <a:rPr lang="en-IN" sz="1100" dirty="0"/>
              <a:t>    "The Beagle's compact build and short legs make it agile. It’s also known for being playful and vocal.",</a:t>
            </a:r>
          </a:p>
          <a:p>
            <a:endParaRPr lang="en-IN" sz="1100" dirty="0"/>
          </a:p>
          <a:p>
            <a:r>
              <a:rPr lang="en-IN" sz="1100" dirty="0"/>
              <a:t>    "Known for their loyalty, Beagles are also easily recognizable by their white-tipped tails and sturdy bodies.",</a:t>
            </a:r>
          </a:p>
          <a:p>
            <a:endParaRPr lang="en-IN" sz="1100" dirty="0"/>
          </a:p>
          <a:p>
            <a:r>
              <a:rPr lang="en-IN" sz="1100" dirty="0"/>
              <a:t>    "Though they need regular exercise, their coat pattern and droopy ears make them stand out visually."</a:t>
            </a:r>
          </a:p>
          <a:p>
            <a:r>
              <a:rPr lang="en-IN" sz="1100" dirty="0"/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AF31E-4515-8242-8914-DA617CFBD6D2}"/>
              </a:ext>
            </a:extLst>
          </p:cNvPr>
          <p:cNvSpPr txBox="1"/>
          <p:nvPr/>
        </p:nvSpPr>
        <p:spPr>
          <a:xfrm>
            <a:off x="4432381" y="67056"/>
            <a:ext cx="74056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ContextualCompressionRetriever</a:t>
            </a:r>
            <a:r>
              <a:rPr lang="en-US" dirty="0"/>
              <a:t> is a special kind of retriever </a:t>
            </a:r>
            <a:r>
              <a:rPr lang="en-US" i="1" dirty="0">
                <a:solidFill>
                  <a:srgbClr val="FF0000"/>
                </a:solidFill>
              </a:rPr>
              <a:t>that compresses or filters the retrieved documents based on a user query</a:t>
            </a:r>
            <a:r>
              <a:rPr lang="en-US" dirty="0"/>
              <a:t>, to return only </a:t>
            </a:r>
            <a:r>
              <a:rPr lang="en-US" i="1" dirty="0">
                <a:solidFill>
                  <a:srgbClr val="FF0000"/>
                </a:solidFill>
              </a:rPr>
              <a:t>the most relevant parts </a:t>
            </a:r>
            <a:r>
              <a:rPr lang="en-US" dirty="0"/>
              <a:t>of each document.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75945-E6E4-5F4E-054D-B57CD849058F}"/>
              </a:ext>
            </a:extLst>
          </p:cNvPr>
          <p:cNvSpPr txBox="1"/>
          <p:nvPr/>
        </p:nvSpPr>
        <p:spPr>
          <a:xfrm>
            <a:off x="5622084" y="3493843"/>
            <a:ext cx="6459794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/>
              <a:t>"Beagles are small hounds with tricolored coats. They were bred in England for rabbit hunting.“</a:t>
            </a:r>
          </a:p>
          <a:p>
            <a:pPr marL="228600" indent="-228600">
              <a:buAutoNum type="arabicPeriod"/>
            </a:pPr>
            <a:endParaRPr lang="en-IN" sz="1200" dirty="0"/>
          </a:p>
          <a:p>
            <a:r>
              <a:rPr lang="en-IN" sz="1200" dirty="0"/>
              <a:t>2. "These dogs have floppy ears and expressive eyes. Their excellent nose helped hunters track prey.“</a:t>
            </a:r>
          </a:p>
          <a:p>
            <a:endParaRPr lang="en-IN" sz="1200" dirty="0"/>
          </a:p>
          <a:p>
            <a:r>
              <a:rPr lang="en-IN" sz="1200" dirty="0"/>
              <a:t>3. "The Beagle's compact build and short legs make it agile. It’s also known for being playful and vocal.“</a:t>
            </a:r>
          </a:p>
          <a:p>
            <a:endParaRPr lang="en-IN" sz="1200" dirty="0"/>
          </a:p>
          <a:p>
            <a:r>
              <a:rPr lang="en-IN" sz="1200" dirty="0"/>
              <a:t>4. "Though they need regular exercise, their coat pattern and droopy ears make them stand out visually."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85A553-81A2-1FE0-336C-CD44E875FDB6}"/>
              </a:ext>
            </a:extLst>
          </p:cNvPr>
          <p:cNvSpPr/>
          <p:nvPr/>
        </p:nvSpPr>
        <p:spPr>
          <a:xfrm>
            <a:off x="5946549" y="3429001"/>
            <a:ext cx="3018503" cy="35376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7F7727-7E57-C660-CFD1-C4EC5152658E}"/>
              </a:ext>
            </a:extLst>
          </p:cNvPr>
          <p:cNvSpPr/>
          <p:nvPr/>
        </p:nvSpPr>
        <p:spPr>
          <a:xfrm>
            <a:off x="8945387" y="3413434"/>
            <a:ext cx="3018503" cy="36933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FBAE02-E142-2D91-6F57-ABEF539E2A3F}"/>
              </a:ext>
            </a:extLst>
          </p:cNvPr>
          <p:cNvSpPr txBox="1"/>
          <p:nvPr/>
        </p:nvSpPr>
        <p:spPr>
          <a:xfrm>
            <a:off x="6506987" y="15847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query:</a:t>
            </a:r>
          </a:p>
          <a:p>
            <a:r>
              <a:rPr lang="en-US" dirty="0"/>
              <a:t> "What does a Beagle look like?"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C218ED-6A84-19DF-C47A-D1B070318CE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378245" y="1907892"/>
            <a:ext cx="1128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425588-7228-6DC3-44BB-95420F4AA992}"/>
              </a:ext>
            </a:extLst>
          </p:cNvPr>
          <p:cNvCxnSpPr/>
          <p:nvPr/>
        </p:nvCxnSpPr>
        <p:spPr>
          <a:xfrm>
            <a:off x="7973961" y="2209693"/>
            <a:ext cx="0" cy="542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EED087-0F2F-E209-E469-3FAE639E1E27}"/>
              </a:ext>
            </a:extLst>
          </p:cNvPr>
          <p:cNvSpPr txBox="1"/>
          <p:nvPr/>
        </p:nvSpPr>
        <p:spPr>
          <a:xfrm>
            <a:off x="9554987" y="3003898"/>
            <a:ext cx="197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 info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B412F9-7411-E67B-3233-D752C8CE1D99}"/>
              </a:ext>
            </a:extLst>
          </p:cNvPr>
          <p:cNvSpPr txBox="1"/>
          <p:nvPr/>
        </p:nvSpPr>
        <p:spPr>
          <a:xfrm>
            <a:off x="668594" y="5578212"/>
            <a:ext cx="5277955" cy="95410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1. "Beagles are small hounds with tricolored coats."</a:t>
            </a:r>
          </a:p>
          <a:p>
            <a:r>
              <a:rPr lang="en-IN" sz="1400" dirty="0"/>
              <a:t>2. "These dogs have floppy ears and expressive eyes."</a:t>
            </a:r>
          </a:p>
          <a:p>
            <a:r>
              <a:rPr lang="en-IN" sz="1400" dirty="0"/>
              <a:t>3. "The Beagle's compact build and short legs make it agile."</a:t>
            </a:r>
          </a:p>
          <a:p>
            <a:r>
              <a:rPr lang="en-IN" sz="1400" dirty="0"/>
              <a:t>4. "Their coat pattern and droopy ears make them stand out visually."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8D6A87A-E521-AE0D-5E42-E1DD841630EA}"/>
              </a:ext>
            </a:extLst>
          </p:cNvPr>
          <p:cNvCxnSpPr>
            <a:stCxn id="9" idx="1"/>
            <a:endCxn id="22" idx="0"/>
          </p:cNvCxnSpPr>
          <p:nvPr/>
        </p:nvCxnSpPr>
        <p:spPr>
          <a:xfrm rot="10800000" flipV="1">
            <a:off x="3307572" y="4371006"/>
            <a:ext cx="2314512" cy="12072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FC17DC2-7B32-1A25-94FA-D57F60118683}"/>
              </a:ext>
            </a:extLst>
          </p:cNvPr>
          <p:cNvSpPr txBox="1"/>
          <p:nvPr/>
        </p:nvSpPr>
        <p:spPr>
          <a:xfrm>
            <a:off x="2050026" y="4974609"/>
            <a:ext cx="6302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ContextualCompressionRetriever</a:t>
            </a:r>
            <a:endParaRPr lang="en-IN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D937DB-3C91-91C8-B92A-6EBCC372D92A}"/>
              </a:ext>
            </a:extLst>
          </p:cNvPr>
          <p:cNvSpPr txBox="1"/>
          <p:nvPr/>
        </p:nvSpPr>
        <p:spPr>
          <a:xfrm>
            <a:off x="6684952" y="3084307"/>
            <a:ext cx="197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Appearance info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79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7" grpId="0"/>
      <p:bldP spid="9" grpId="0" animBg="1"/>
      <p:bldP spid="10" grpId="0" animBg="1"/>
      <p:bldP spid="11" grpId="0" animBg="1"/>
      <p:bldP spid="14" grpId="0"/>
      <p:bldP spid="20" grpId="0"/>
      <p:bldP spid="22" grpId="0" animBg="1"/>
      <p:bldP spid="26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A50DA-EBBA-645C-6AFF-563B06EF6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801DF3-4EEA-6E3E-8D2E-AB3E1B973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602" y="737812"/>
            <a:ext cx="4810796" cy="5382376"/>
          </a:xfrm>
          <a:prstGeom prst="roundRect">
            <a:avLst>
              <a:gd name="adj" fmla="val 8901"/>
            </a:avLst>
          </a:prstGeom>
        </p:spPr>
      </p:pic>
    </p:spTree>
    <p:extLst>
      <p:ext uri="{BB962C8B-B14F-4D97-AF65-F5344CB8AC3E}">
        <p14:creationId xmlns:p14="http://schemas.microsoft.com/office/powerpoint/2010/main" val="159238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B26F-BAF8-DBBD-7DC5-4304F3DC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2F125C-C1BD-5E0D-12FA-BA4526564BFC}"/>
              </a:ext>
            </a:extLst>
          </p:cNvPr>
          <p:cNvSpPr txBox="1"/>
          <p:nvPr/>
        </p:nvSpPr>
        <p:spPr>
          <a:xfrm>
            <a:off x="540775" y="670741"/>
            <a:ext cx="233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MultiQueryRetriever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2D007-63F5-B8BC-9B9E-A2F86D371ADD}"/>
              </a:ext>
            </a:extLst>
          </p:cNvPr>
          <p:cNvSpPr txBox="1"/>
          <p:nvPr/>
        </p:nvSpPr>
        <p:spPr>
          <a:xfrm>
            <a:off x="3048000" y="255242"/>
            <a:ext cx="89768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/>
              <a:t>MultiQueryRetriever</a:t>
            </a:r>
            <a:r>
              <a:rPr lang="en-US" sz="1400" dirty="0"/>
              <a:t> is a clever and powerful tool in </a:t>
            </a:r>
            <a:r>
              <a:rPr lang="en-US" sz="1400" dirty="0" err="1"/>
              <a:t>LangChain</a:t>
            </a:r>
            <a:r>
              <a:rPr lang="en-US" sz="1400" dirty="0"/>
              <a:t> designed to improve the </a:t>
            </a:r>
            <a:r>
              <a:rPr lang="en-US" sz="1400" b="1" dirty="0"/>
              <a:t>recall</a:t>
            </a:r>
            <a:r>
              <a:rPr lang="en-US" sz="1400" dirty="0"/>
              <a:t> of your retrieval system by leveraging LLMs to generate </a:t>
            </a:r>
            <a:r>
              <a:rPr lang="en-US" sz="1400" b="1" dirty="0"/>
              <a:t>multiple diverse and semantically similar queries</a:t>
            </a:r>
            <a:r>
              <a:rPr lang="en-US" sz="1400" dirty="0"/>
              <a:t> from a single user query.</a:t>
            </a:r>
          </a:p>
          <a:p>
            <a:endParaRPr lang="en-US" sz="1400" dirty="0"/>
          </a:p>
          <a:p>
            <a:r>
              <a:rPr lang="en-US" sz="1400" dirty="0"/>
              <a:t>It then performs retrieval for each of those queries, </a:t>
            </a:r>
            <a:r>
              <a:rPr lang="en-US" sz="1400" b="1" dirty="0"/>
              <a:t>merges and deduplicates</a:t>
            </a:r>
            <a:r>
              <a:rPr lang="en-US" sz="1400" dirty="0"/>
              <a:t> the results to provide a richer and more complete answer set.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68AE9-4A68-79BC-AAAF-66FE89C347A9}"/>
              </a:ext>
            </a:extLst>
          </p:cNvPr>
          <p:cNvSpPr txBox="1"/>
          <p:nvPr/>
        </p:nvSpPr>
        <p:spPr>
          <a:xfrm>
            <a:off x="412954" y="2136338"/>
            <a:ext cx="7983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“What does a beagle look like?”</a:t>
            </a:r>
            <a:r>
              <a:rPr lang="en-US" dirty="0"/>
              <a:t> vs </a:t>
            </a:r>
            <a:r>
              <a:rPr lang="en-US" i="1" dirty="0"/>
              <a:t>“Describe the physical appearance of a beagle.”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434EBE-83AF-1E33-5961-2D35A0F3C6E5}"/>
              </a:ext>
            </a:extLst>
          </p:cNvPr>
          <p:cNvSpPr txBox="1"/>
          <p:nvPr/>
        </p:nvSpPr>
        <p:spPr>
          <a:xfrm>
            <a:off x="4984955" y="2505670"/>
            <a:ext cx="4424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Same meaning. User can ask question in any format. Not restricted to a particular format</a:t>
            </a:r>
            <a:endParaRPr lang="en-IN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82368-8FB2-AE5C-9ADB-04A2FF556BB6}"/>
              </a:ext>
            </a:extLst>
          </p:cNvPr>
          <p:cNvSpPr txBox="1"/>
          <p:nvPr/>
        </p:nvSpPr>
        <p:spPr>
          <a:xfrm>
            <a:off x="540775" y="4276272"/>
            <a:ext cx="3293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"What does a Beagle look like?"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F09ABE-06F5-01BB-E177-B7CAE8D9EFE0}"/>
              </a:ext>
            </a:extLst>
          </p:cNvPr>
          <p:cNvSpPr txBox="1"/>
          <p:nvPr/>
        </p:nvSpPr>
        <p:spPr>
          <a:xfrm>
            <a:off x="5132437" y="409160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"Describe the physical appearance of a Beagle.“</a:t>
            </a:r>
          </a:p>
          <a:p>
            <a:r>
              <a:rPr lang="en-US" dirty="0"/>
              <a:t>2. "What are the visual characteristics of Beagles?“</a:t>
            </a:r>
          </a:p>
          <a:p>
            <a:r>
              <a:rPr lang="en-US" dirty="0"/>
              <a:t>3. "How can you identify a Beagle dog by its looks?"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2F11E8-11BA-B06C-8856-DB423086173D}"/>
              </a:ext>
            </a:extLst>
          </p:cNvPr>
          <p:cNvSpPr txBox="1"/>
          <p:nvPr/>
        </p:nvSpPr>
        <p:spPr>
          <a:xfrm>
            <a:off x="3618271" y="3739479"/>
            <a:ext cx="790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Meaning can be any one of the followings:  (</a:t>
            </a:r>
            <a:r>
              <a:rPr lang="en-IN" dirty="0"/>
              <a:t>Ambiguity &amp; Multiple Interpretations)</a:t>
            </a:r>
          </a:p>
        </p:txBody>
      </p:sp>
    </p:spTree>
    <p:extLst>
      <p:ext uri="{BB962C8B-B14F-4D97-AF65-F5344CB8AC3E}">
        <p14:creationId xmlns:p14="http://schemas.microsoft.com/office/powerpoint/2010/main" val="115356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0" grpId="0"/>
      <p:bldP spid="19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334-91F0-1DA0-65BB-A6075C88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E904A0-B768-AD6E-5523-19FEBE2E5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09" y="383059"/>
            <a:ext cx="3851135" cy="6118182"/>
          </a:xfrm>
          <a:prstGeom prst="roundRect">
            <a:avLst>
              <a:gd name="adj" fmla="val 11561"/>
            </a:avLst>
          </a:prstGeom>
        </p:spPr>
      </p:pic>
    </p:spTree>
    <p:extLst>
      <p:ext uri="{BB962C8B-B14F-4D97-AF65-F5344CB8AC3E}">
        <p14:creationId xmlns:p14="http://schemas.microsoft.com/office/powerpoint/2010/main" val="171510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3457-2C05-83CF-96B7-88F38502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5453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8137</TotalTime>
  <Words>677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Google Sans</vt:lpstr>
      <vt:lpstr>Manrope</vt:lpstr>
      <vt:lpstr>Roboto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188</cp:revision>
  <dcterms:created xsi:type="dcterms:W3CDTF">2020-07-09T14:04:16Z</dcterms:created>
  <dcterms:modified xsi:type="dcterms:W3CDTF">2025-07-03T19:50:23Z</dcterms:modified>
</cp:coreProperties>
</file>