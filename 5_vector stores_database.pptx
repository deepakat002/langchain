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8"/>
  </p:notesMasterIdLst>
  <p:sldIdLst>
    <p:sldId id="274" r:id="rId2"/>
    <p:sldId id="300" r:id="rId3"/>
    <p:sldId id="307" r:id="rId4"/>
    <p:sldId id="308" r:id="rId5"/>
    <p:sldId id="309" r:id="rId6"/>
    <p:sldId id="31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6/12/2025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.langchain.com/docs/integrations/vectorstor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5128260" y="3354706"/>
            <a:ext cx="2378546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812027" y="2659559"/>
            <a:ext cx="59091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Vector stores / database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B9B0-30ED-AE1B-1FEF-793B5444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22DF87-8399-3E8B-BA5E-1BC6308BF61F}"/>
              </a:ext>
            </a:extLst>
          </p:cNvPr>
          <p:cNvSpPr txBox="1"/>
          <p:nvPr/>
        </p:nvSpPr>
        <p:spPr>
          <a:xfrm>
            <a:off x="78658" y="374583"/>
            <a:ext cx="116610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What are Vector Stores/Databases in </a:t>
            </a:r>
            <a:r>
              <a:rPr lang="en-US" b="1" dirty="0" err="1">
                <a:solidFill>
                  <a:schemeClr val="accent2">
                    <a:lumMod val="75000"/>
                  </a:schemeClr>
                </a:solidFill>
              </a:rPr>
              <a:t>LangChain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?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In </a:t>
            </a:r>
            <a:r>
              <a:rPr lang="en-US" dirty="0" err="1"/>
              <a:t>LangChain</a:t>
            </a:r>
            <a:r>
              <a:rPr lang="en-US" dirty="0"/>
              <a:t>, a </a:t>
            </a:r>
            <a:r>
              <a:rPr lang="en-US" b="1" dirty="0"/>
              <a:t>Vector Store (or Vector Database)</a:t>
            </a:r>
            <a:r>
              <a:rPr lang="en-US" dirty="0"/>
              <a:t> is a specialized database designed to efficiently </a:t>
            </a:r>
            <a:r>
              <a:rPr lang="en-US" i="1" dirty="0">
                <a:solidFill>
                  <a:srgbClr val="FF0000"/>
                </a:solidFill>
              </a:rPr>
              <a:t>store, manage, and query </a:t>
            </a:r>
            <a:r>
              <a:rPr lang="en-US" b="1" i="1" dirty="0">
                <a:solidFill>
                  <a:srgbClr val="FF0000"/>
                </a:solidFill>
              </a:rPr>
              <a:t>vector embeddings</a:t>
            </a:r>
            <a:r>
              <a:rPr lang="en-US" dirty="0"/>
              <a:t>. These embeddings are high-dimensional numerical representations of text, images, audio, or any other data type, where the numerical proximity of vectors implies semantic similarity between the original data points.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Think of it as a smart index for your data's meaning. Instead of searching by keywords or structured fields, you search by the </a:t>
            </a:r>
            <a:r>
              <a:rPr lang="en-US" i="1" dirty="0"/>
              <a:t>meaning</a:t>
            </a:r>
            <a:r>
              <a:rPr lang="en-US" dirty="0"/>
              <a:t> of your query.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5AFAFB-C7D1-876D-E980-716795F46F29}"/>
              </a:ext>
            </a:extLst>
          </p:cNvPr>
          <p:cNvSpPr txBox="1"/>
          <p:nvPr/>
        </p:nvSpPr>
        <p:spPr>
          <a:xfrm>
            <a:off x="196646" y="2824511"/>
            <a:ext cx="1129726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Key characteristics:</a:t>
            </a:r>
          </a:p>
          <a:p>
            <a:endParaRPr lang="en-US" b="1" dirty="0">
              <a:solidFill>
                <a:srgbClr val="FFC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Stores Embeddings: </a:t>
            </a:r>
            <a:r>
              <a:rPr lang="en-US" dirty="0">
                <a:solidFill>
                  <a:srgbClr val="92D050"/>
                </a:solidFill>
              </a:rPr>
              <a:t>Its primary content is vectors</a:t>
            </a:r>
            <a:r>
              <a:rPr lang="en-US" dirty="0"/>
              <a:t>, usually generated by embedding models (like OpenAI's text-embedding-ada-002, Google's text-embedding-004, etc.).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Similarity Search: Its core functionality is to perform </a:t>
            </a:r>
            <a:r>
              <a:rPr lang="en-US" dirty="0">
                <a:solidFill>
                  <a:srgbClr val="92D050"/>
                </a:solidFill>
              </a:rPr>
              <a:t>similarity searches </a:t>
            </a:r>
            <a:r>
              <a:rPr lang="en-US" dirty="0"/>
              <a:t>(e.g., nearest neighbor search, cosine similarity search). Given a query embedding, it quickly finds the stored embeddings that are numerically "closest" to it.</a:t>
            </a:r>
            <a:br>
              <a:rPr lang="en-US" dirty="0"/>
            </a:b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Metadata Storage: Often </a:t>
            </a:r>
            <a:r>
              <a:rPr lang="en-US" dirty="0">
                <a:solidFill>
                  <a:srgbClr val="92D050"/>
                </a:solidFill>
              </a:rPr>
              <a:t>stores associated metadata </a:t>
            </a:r>
            <a:r>
              <a:rPr lang="en-US" dirty="0"/>
              <a:t>alongside the vectors (e.g., the original text chunk, source URL, author, date) to provide context for the retrieved results.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Scalability: Designed to handle </a:t>
            </a:r>
            <a:r>
              <a:rPr lang="en-US" dirty="0">
                <a:solidFill>
                  <a:srgbClr val="92D050"/>
                </a:solidFill>
              </a:rPr>
              <a:t>billions of vectors and perform searches with low latency</a:t>
            </a:r>
            <a:r>
              <a:rPr lang="en-US" dirty="0"/>
              <a:t>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688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E40EB-17D9-F775-8A40-E3AF5EAE1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19980CE1-9B8D-10EF-A7CC-BA2D0F6C3390}"/>
              </a:ext>
            </a:extLst>
          </p:cNvPr>
          <p:cNvGrpSpPr/>
          <p:nvPr/>
        </p:nvGrpSpPr>
        <p:grpSpPr>
          <a:xfrm>
            <a:off x="1080167" y="236798"/>
            <a:ext cx="6824968" cy="6073179"/>
            <a:chOff x="529561" y="180081"/>
            <a:chExt cx="6824968" cy="607317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2799175-1FBD-5D31-6CAA-9E362B7D4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9561" y="180081"/>
              <a:ext cx="6824968" cy="312040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33844A-BEC9-DA9C-CF23-7D82A0CDF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9561" y="3300489"/>
              <a:ext cx="6824968" cy="2952771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39C6938-4BEF-0006-FB65-BB4DF4682D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5846" y="3511756"/>
            <a:ext cx="1686160" cy="2257740"/>
          </a:xfrm>
          <a:prstGeom prst="round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DB3A489-1BB7-0395-8E0F-B3F57B38A77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642" y="391718"/>
            <a:ext cx="2810568" cy="2810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6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31D08-FA0D-3AF6-C3C7-7C71C8232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618AC6-9D01-7538-1BD8-9D92BF4B2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629" y="403647"/>
            <a:ext cx="6668431" cy="5696745"/>
          </a:xfrm>
          <a:prstGeom prst="roundRect">
            <a:avLst>
              <a:gd name="adj" fmla="val 7002"/>
            </a:avLst>
          </a:prstGeom>
        </p:spPr>
      </p:pic>
    </p:spTree>
    <p:extLst>
      <p:ext uri="{BB962C8B-B14F-4D97-AF65-F5344CB8AC3E}">
        <p14:creationId xmlns:p14="http://schemas.microsoft.com/office/powerpoint/2010/main" val="224091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3BA5-D4AE-188F-0CD7-C2B8112E2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C176E0-0677-87AC-3C45-D117F5A23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921" y="175359"/>
            <a:ext cx="6888157" cy="2492790"/>
          </a:xfrm>
          <a:prstGeom prst="round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F45E85-E119-3351-41EC-5614174A96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921" y="2863639"/>
            <a:ext cx="6888157" cy="3230790"/>
          </a:xfrm>
          <a:prstGeom prst="round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A9D7D2-6C38-F060-2EB4-4822FF4BC155}"/>
              </a:ext>
            </a:extLst>
          </p:cNvPr>
          <p:cNvSpPr txBox="1"/>
          <p:nvPr/>
        </p:nvSpPr>
        <p:spPr>
          <a:xfrm>
            <a:off x="3047999" y="628991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https://python.langchain.com/docs/integrations/vectorstores/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942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6966</TotalTime>
  <Words>272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182</cp:revision>
  <dcterms:created xsi:type="dcterms:W3CDTF">2020-07-09T14:04:16Z</dcterms:created>
  <dcterms:modified xsi:type="dcterms:W3CDTF">2025-06-12T01:16:38Z</dcterms:modified>
</cp:coreProperties>
</file>