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5" r:id="rId1"/>
  </p:sldMasterIdLst>
  <p:notesMasterIdLst>
    <p:notesMasterId r:id="rId14"/>
  </p:notesMasterIdLst>
  <p:sldIdLst>
    <p:sldId id="274" r:id="rId2"/>
    <p:sldId id="300" r:id="rId3"/>
    <p:sldId id="319" r:id="rId4"/>
    <p:sldId id="321" r:id="rId5"/>
    <p:sldId id="326" r:id="rId6"/>
    <p:sldId id="322" r:id="rId7"/>
    <p:sldId id="323" r:id="rId8"/>
    <p:sldId id="328" r:id="rId9"/>
    <p:sldId id="325" r:id="rId10"/>
    <p:sldId id="327" r:id="rId11"/>
    <p:sldId id="324" r:id="rId12"/>
    <p:sldId id="33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CC3300"/>
    <a:srgbClr val="E40C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F6987B-4077-41BF-97D4-EA38746EFAB3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065E2-8AB8-4848-955E-6C0D5851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82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065E2-8AB8-4848-955E-6C0D5851B9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442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04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57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31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24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9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04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92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62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36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23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58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4088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86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75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07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66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54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93930-47BE-40BC-A32D-4F995F4BBD55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782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  <p:sldLayoutId id="2147483922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CCABFDC-FBF9-BE8E-2A7D-FF9A1D04D407}"/>
              </a:ext>
            </a:extLst>
          </p:cNvPr>
          <p:cNvSpPr/>
          <p:nvPr/>
        </p:nvSpPr>
        <p:spPr>
          <a:xfrm>
            <a:off x="4774298" y="3354706"/>
            <a:ext cx="1616977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4404853" y="2630984"/>
            <a:ext cx="23785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Prompt</a:t>
            </a:r>
          </a:p>
        </p:txBody>
      </p:sp>
    </p:spTree>
    <p:extLst>
      <p:ext uri="{BB962C8B-B14F-4D97-AF65-F5344CB8AC3E}">
        <p14:creationId xmlns:p14="http://schemas.microsoft.com/office/powerpoint/2010/main" val="282041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08B89-5367-2053-B021-660A67AD5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C352C240-F0F2-1C05-66A6-A82E909F6A21}"/>
              </a:ext>
            </a:extLst>
          </p:cNvPr>
          <p:cNvSpPr/>
          <p:nvPr/>
        </p:nvSpPr>
        <p:spPr>
          <a:xfrm>
            <a:off x="2101645" y="340139"/>
            <a:ext cx="776748" cy="845575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Flowchart: Multidocument 3">
            <a:extLst>
              <a:ext uri="{FF2B5EF4-FFF2-40B4-BE49-F238E27FC236}">
                <a16:creationId xmlns:a16="http://schemas.microsoft.com/office/drawing/2014/main" id="{3E54F5A2-29EC-B3A7-DC40-45D8990A0E18}"/>
              </a:ext>
            </a:extLst>
          </p:cNvPr>
          <p:cNvSpPr/>
          <p:nvPr/>
        </p:nvSpPr>
        <p:spPr>
          <a:xfrm>
            <a:off x="4375438" y="340139"/>
            <a:ext cx="707840" cy="715793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8CD782C8-09CB-612B-E372-B55DB86DFC4A}"/>
              </a:ext>
            </a:extLst>
          </p:cNvPr>
          <p:cNvSpPr/>
          <p:nvPr/>
        </p:nvSpPr>
        <p:spPr>
          <a:xfrm>
            <a:off x="4031224" y="3626874"/>
            <a:ext cx="963562" cy="1123335"/>
          </a:xfrm>
          <a:prstGeom prst="can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E1124FC1-08FF-B4EB-1B18-EC75D4C1F7B0}"/>
              </a:ext>
            </a:extLst>
          </p:cNvPr>
          <p:cNvSpPr/>
          <p:nvPr/>
        </p:nvSpPr>
        <p:spPr>
          <a:xfrm>
            <a:off x="275304" y="5493154"/>
            <a:ext cx="1356851" cy="353961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7FFDE75E-C2CA-4FFE-94B1-0435D24B1C0B}"/>
              </a:ext>
            </a:extLst>
          </p:cNvPr>
          <p:cNvSpPr/>
          <p:nvPr/>
        </p:nvSpPr>
        <p:spPr>
          <a:xfrm>
            <a:off x="2118852" y="5485169"/>
            <a:ext cx="1356851" cy="353961"/>
          </a:xfrm>
          <a:prstGeom prst="parallelogram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EAA0EA-8506-50E1-DCDD-D6EE669F4854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878393" y="762927"/>
            <a:ext cx="739878" cy="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C717C93-88F2-555A-1691-AD8FFBCF2FC6}"/>
              </a:ext>
            </a:extLst>
          </p:cNvPr>
          <p:cNvSpPr txBox="1"/>
          <p:nvPr/>
        </p:nvSpPr>
        <p:spPr>
          <a:xfrm>
            <a:off x="5225845" y="2270630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Embeddings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442E39-8888-3345-9F63-ADEB9F74B54C}"/>
              </a:ext>
            </a:extLst>
          </p:cNvPr>
          <p:cNvSpPr txBox="1"/>
          <p:nvPr/>
        </p:nvSpPr>
        <p:spPr>
          <a:xfrm>
            <a:off x="5225845" y="801407"/>
            <a:ext cx="1273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 chunks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B60AFD-2E48-2090-90DA-08868A1FA8C5}"/>
              </a:ext>
            </a:extLst>
          </p:cNvPr>
          <p:cNvSpPr txBox="1"/>
          <p:nvPr/>
        </p:nvSpPr>
        <p:spPr>
          <a:xfrm>
            <a:off x="5235762" y="3855770"/>
            <a:ext cx="1720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 Database</a:t>
            </a:r>
            <a:endParaRPr lang="en-IN" dirty="0"/>
          </a:p>
        </p:txBody>
      </p:sp>
      <p:sp>
        <p:nvSpPr>
          <p:cNvPr id="12" name="Rectangle: Beveled 11">
            <a:extLst>
              <a:ext uri="{FF2B5EF4-FFF2-40B4-BE49-F238E27FC236}">
                <a16:creationId xmlns:a16="http://schemas.microsoft.com/office/drawing/2014/main" id="{9AF9CDE6-94F4-E023-0FF7-C990F6F36424}"/>
              </a:ext>
            </a:extLst>
          </p:cNvPr>
          <p:cNvSpPr/>
          <p:nvPr/>
        </p:nvSpPr>
        <p:spPr>
          <a:xfrm>
            <a:off x="4490622" y="5493154"/>
            <a:ext cx="1160209" cy="687026"/>
          </a:xfrm>
          <a:prstGeom prst="bevel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FF0000"/>
                </a:solidFill>
                <a:latin typeface="Google Sans"/>
              </a:rPr>
              <a:t>Retriever</a:t>
            </a:r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CE17A2-79B1-6C2F-69AE-871ADBBE8B14}"/>
              </a:ext>
            </a:extLst>
          </p:cNvPr>
          <p:cNvSpPr txBox="1"/>
          <p:nvPr/>
        </p:nvSpPr>
        <p:spPr>
          <a:xfrm>
            <a:off x="4232648" y="6312912"/>
            <a:ext cx="1713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Semantic search</a:t>
            </a:r>
            <a:endParaRPr lang="en-IN" dirty="0"/>
          </a:p>
        </p:txBody>
      </p:sp>
      <p:sp>
        <p:nvSpPr>
          <p:cNvPr id="14" name="Flowchart: Multidocument 13">
            <a:extLst>
              <a:ext uri="{FF2B5EF4-FFF2-40B4-BE49-F238E27FC236}">
                <a16:creationId xmlns:a16="http://schemas.microsoft.com/office/drawing/2014/main" id="{5FC1B858-3608-C00C-74D5-B673E62C2B82}"/>
              </a:ext>
            </a:extLst>
          </p:cNvPr>
          <p:cNvSpPr/>
          <p:nvPr/>
        </p:nvSpPr>
        <p:spPr>
          <a:xfrm>
            <a:off x="6604396" y="5572428"/>
            <a:ext cx="704572" cy="549375"/>
          </a:xfrm>
          <a:prstGeom prst="flowChartMultidocumen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lowchart: Multidocument 14">
            <a:extLst>
              <a:ext uri="{FF2B5EF4-FFF2-40B4-BE49-F238E27FC236}">
                <a16:creationId xmlns:a16="http://schemas.microsoft.com/office/drawing/2014/main" id="{A0F20342-5699-0F9E-4EC5-7D6332FE9E46}"/>
              </a:ext>
            </a:extLst>
          </p:cNvPr>
          <p:cNvSpPr/>
          <p:nvPr/>
        </p:nvSpPr>
        <p:spPr>
          <a:xfrm>
            <a:off x="3950235" y="900567"/>
            <a:ext cx="707840" cy="715793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lowchart: Multidocument 15">
            <a:extLst>
              <a:ext uri="{FF2B5EF4-FFF2-40B4-BE49-F238E27FC236}">
                <a16:creationId xmlns:a16="http://schemas.microsoft.com/office/drawing/2014/main" id="{45C86EA8-BE5E-13B8-055C-469034960223}"/>
              </a:ext>
            </a:extLst>
          </p:cNvPr>
          <p:cNvSpPr/>
          <p:nvPr/>
        </p:nvSpPr>
        <p:spPr>
          <a:xfrm>
            <a:off x="4375438" y="2097399"/>
            <a:ext cx="707840" cy="715793"/>
          </a:xfrm>
          <a:prstGeom prst="flowChartMultidocument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lowchart: Multidocument 16">
            <a:extLst>
              <a:ext uri="{FF2B5EF4-FFF2-40B4-BE49-F238E27FC236}">
                <a16:creationId xmlns:a16="http://schemas.microsoft.com/office/drawing/2014/main" id="{764F3D06-C246-AB3A-6422-758F3CB217C6}"/>
              </a:ext>
            </a:extLst>
          </p:cNvPr>
          <p:cNvSpPr/>
          <p:nvPr/>
        </p:nvSpPr>
        <p:spPr>
          <a:xfrm>
            <a:off x="4031224" y="2577578"/>
            <a:ext cx="707840" cy="715793"/>
          </a:xfrm>
          <a:prstGeom prst="flowChartMultidocument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62EDC4-CBF8-9610-8BC1-F11BF5D08268}"/>
              </a:ext>
            </a:extLst>
          </p:cNvPr>
          <p:cNvCxnSpPr>
            <a:cxnSpLocks/>
          </p:cNvCxnSpPr>
          <p:nvPr/>
        </p:nvCxnSpPr>
        <p:spPr>
          <a:xfrm>
            <a:off x="4513004" y="1616360"/>
            <a:ext cx="0" cy="411504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A037EA1-67DE-8776-D0BA-A5B0B5736D76}"/>
              </a:ext>
            </a:extLst>
          </p:cNvPr>
          <p:cNvCxnSpPr>
            <a:cxnSpLocks/>
          </p:cNvCxnSpPr>
          <p:nvPr/>
        </p:nvCxnSpPr>
        <p:spPr>
          <a:xfrm>
            <a:off x="4508085" y="3223248"/>
            <a:ext cx="0" cy="411504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69EEC879-1558-D378-B2D5-EEDACD5458FC}"/>
              </a:ext>
            </a:extLst>
          </p:cNvPr>
          <p:cNvSpPr/>
          <p:nvPr/>
        </p:nvSpPr>
        <p:spPr>
          <a:xfrm>
            <a:off x="7561725" y="5642485"/>
            <a:ext cx="1356851" cy="353961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EBC704-292C-A75E-3CB9-132EF3132F40}"/>
              </a:ext>
            </a:extLst>
          </p:cNvPr>
          <p:cNvSpPr txBox="1"/>
          <p:nvPr/>
        </p:nvSpPr>
        <p:spPr>
          <a:xfrm>
            <a:off x="6341891" y="6312912"/>
            <a:ext cx="2506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Result chunks  +  user query</a:t>
            </a:r>
            <a:endParaRPr lang="en-IN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02D8F5-38D7-D767-33E3-D7C4F74094A9}"/>
              </a:ext>
            </a:extLst>
          </p:cNvPr>
          <p:cNvSpPr txBox="1"/>
          <p:nvPr/>
        </p:nvSpPr>
        <p:spPr>
          <a:xfrm>
            <a:off x="275304" y="5975049"/>
            <a:ext cx="1229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user query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DEAF85-05CC-B2BE-927E-ED703CFDDD7F}"/>
              </a:ext>
            </a:extLst>
          </p:cNvPr>
          <p:cNvSpPr txBox="1"/>
          <p:nvPr/>
        </p:nvSpPr>
        <p:spPr>
          <a:xfrm>
            <a:off x="2043980" y="5975049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Embeddings</a:t>
            </a:r>
            <a:endParaRPr lang="en-IN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6CD511D-C426-AA11-6B68-24D9E0465DE4}"/>
              </a:ext>
            </a:extLst>
          </p:cNvPr>
          <p:cNvSpPr/>
          <p:nvPr/>
        </p:nvSpPr>
        <p:spPr>
          <a:xfrm>
            <a:off x="6388196" y="5368413"/>
            <a:ext cx="2600265" cy="13863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93F7677-A2B8-038E-E81F-6F0952F928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8034" y="5593799"/>
            <a:ext cx="1270899" cy="749351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8B00F06-0603-19C7-06B0-B613013F6572}"/>
              </a:ext>
            </a:extLst>
          </p:cNvPr>
          <p:cNvSpPr/>
          <p:nvPr/>
        </p:nvSpPr>
        <p:spPr>
          <a:xfrm>
            <a:off x="11071123" y="5662149"/>
            <a:ext cx="1052051" cy="528480"/>
          </a:xfrm>
          <a:prstGeom prst="round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Final output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0AD65E-63D7-29F5-6AB1-7859DB616CF5}"/>
              </a:ext>
            </a:extLst>
          </p:cNvPr>
          <p:cNvSpPr txBox="1"/>
          <p:nvPr/>
        </p:nvSpPr>
        <p:spPr>
          <a:xfrm>
            <a:off x="9865771" y="6304423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</a:t>
            </a:r>
            <a:endParaRPr lang="en-IN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E3771E6-6BCD-8C31-4AC1-3B88C7EDD09E}"/>
              </a:ext>
            </a:extLst>
          </p:cNvPr>
          <p:cNvCxnSpPr>
            <a:cxnSpLocks/>
            <a:stCxn id="6" idx="2"/>
            <a:endCxn id="7" idx="5"/>
          </p:cNvCxnSpPr>
          <p:nvPr/>
        </p:nvCxnSpPr>
        <p:spPr>
          <a:xfrm flipV="1">
            <a:off x="1587910" y="5662150"/>
            <a:ext cx="575187" cy="7985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7D7C39A-3105-084D-BC28-91AF03178B9B}"/>
              </a:ext>
            </a:extLst>
          </p:cNvPr>
          <p:cNvCxnSpPr>
            <a:cxnSpLocks/>
            <a:stCxn id="7" idx="2"/>
            <a:endCxn id="12" idx="4"/>
          </p:cNvCxnSpPr>
          <p:nvPr/>
        </p:nvCxnSpPr>
        <p:spPr>
          <a:xfrm>
            <a:off x="3431458" y="5662150"/>
            <a:ext cx="1059164" cy="174517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1B56B58-08BC-C245-D65F-CBF13C9687F2}"/>
              </a:ext>
            </a:extLst>
          </p:cNvPr>
          <p:cNvCxnSpPr>
            <a:cxnSpLocks/>
            <a:stCxn id="5" idx="3"/>
            <a:endCxn id="12" idx="6"/>
          </p:cNvCxnSpPr>
          <p:nvPr/>
        </p:nvCxnSpPr>
        <p:spPr>
          <a:xfrm>
            <a:off x="4513005" y="4750209"/>
            <a:ext cx="557722" cy="742945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DC52B30-F7D9-844A-2AD1-F5A3F9444C27}"/>
              </a:ext>
            </a:extLst>
          </p:cNvPr>
          <p:cNvCxnSpPr>
            <a:cxnSpLocks/>
            <a:stCxn id="12" idx="0"/>
            <a:endCxn id="14" idx="1"/>
          </p:cNvCxnSpPr>
          <p:nvPr/>
        </p:nvCxnSpPr>
        <p:spPr>
          <a:xfrm>
            <a:off x="5650831" y="5836667"/>
            <a:ext cx="953565" cy="1044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D1869A07-B48D-F080-44DA-72D90D393146}"/>
              </a:ext>
            </a:extLst>
          </p:cNvPr>
          <p:cNvCxnSpPr>
            <a:stCxn id="6" idx="0"/>
            <a:endCxn id="20" idx="0"/>
          </p:cNvCxnSpPr>
          <p:nvPr/>
        </p:nvCxnSpPr>
        <p:spPr>
          <a:xfrm rot="16200000" flipH="1">
            <a:off x="4522274" y="1924609"/>
            <a:ext cx="149331" cy="7286421"/>
          </a:xfrm>
          <a:prstGeom prst="bentConnector3">
            <a:avLst>
              <a:gd name="adj1" fmla="val -26501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5E4730E-FAD3-419D-0D80-F811CCF3A01F}"/>
              </a:ext>
            </a:extLst>
          </p:cNvPr>
          <p:cNvCxnSpPr>
            <a:cxnSpLocks/>
          </p:cNvCxnSpPr>
          <p:nvPr/>
        </p:nvCxnSpPr>
        <p:spPr>
          <a:xfrm>
            <a:off x="8993508" y="5993367"/>
            <a:ext cx="287594" cy="307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066384-6C10-E2CB-D584-086636491637}"/>
              </a:ext>
            </a:extLst>
          </p:cNvPr>
          <p:cNvCxnSpPr>
            <a:cxnSpLocks/>
          </p:cNvCxnSpPr>
          <p:nvPr/>
        </p:nvCxnSpPr>
        <p:spPr>
          <a:xfrm>
            <a:off x="10708047" y="5993367"/>
            <a:ext cx="287594" cy="307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598D784-D080-A067-A549-CABA9E5E1DB8}"/>
              </a:ext>
            </a:extLst>
          </p:cNvPr>
          <p:cNvSpPr txBox="1"/>
          <p:nvPr/>
        </p:nvSpPr>
        <p:spPr>
          <a:xfrm>
            <a:off x="1853338" y="1288146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Loaded PDF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A21C75-CFEF-BCE9-4ECE-E1C39F2D5D16}"/>
              </a:ext>
            </a:extLst>
          </p:cNvPr>
          <p:cNvSpPr txBox="1"/>
          <p:nvPr/>
        </p:nvSpPr>
        <p:spPr>
          <a:xfrm>
            <a:off x="7308968" y="5576286"/>
            <a:ext cx="427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+ </a:t>
            </a:r>
            <a:endParaRPr lang="en-IN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4C528CB-21CC-4B3A-0F04-C86E255F89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4" y="298715"/>
            <a:ext cx="916800" cy="916800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C67BE16-2BD1-9CF2-FD68-D7E0D4714A27}"/>
              </a:ext>
            </a:extLst>
          </p:cNvPr>
          <p:cNvCxnSpPr>
            <a:cxnSpLocks/>
          </p:cNvCxnSpPr>
          <p:nvPr/>
        </p:nvCxnSpPr>
        <p:spPr>
          <a:xfrm>
            <a:off x="1262216" y="753173"/>
            <a:ext cx="739878" cy="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C2CD088-059D-6BDC-7261-F9767B64D0CF}"/>
              </a:ext>
            </a:extLst>
          </p:cNvPr>
          <p:cNvSpPr txBox="1"/>
          <p:nvPr/>
        </p:nvSpPr>
        <p:spPr>
          <a:xfrm>
            <a:off x="401975" y="128046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PDF</a:t>
            </a:r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1DE53C-1BD1-391A-10DC-18844D014597}"/>
              </a:ext>
            </a:extLst>
          </p:cNvPr>
          <p:cNvSpPr txBox="1"/>
          <p:nvPr/>
        </p:nvSpPr>
        <p:spPr>
          <a:xfrm>
            <a:off x="1173861" y="252009"/>
            <a:ext cx="946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Document</a:t>
            </a:r>
          </a:p>
          <a:p>
            <a:r>
              <a:rPr lang="en-US" sz="1400" dirty="0">
                <a:solidFill>
                  <a:srgbClr val="FF0000"/>
                </a:solidFill>
              </a:rPr>
              <a:t>Loader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C557C1-D39E-FA79-9E0D-2B7334D3FD95}"/>
              </a:ext>
            </a:extLst>
          </p:cNvPr>
          <p:cNvSpPr txBox="1"/>
          <p:nvPr/>
        </p:nvSpPr>
        <p:spPr>
          <a:xfrm>
            <a:off x="2958444" y="285608"/>
            <a:ext cx="7139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Text</a:t>
            </a:r>
          </a:p>
          <a:p>
            <a:r>
              <a:rPr lang="en-US" sz="1400" dirty="0">
                <a:solidFill>
                  <a:srgbClr val="FF0000"/>
                </a:solidFill>
              </a:rPr>
              <a:t>Splitter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975A17-AC4B-5EF2-6E90-549F8648098F}"/>
              </a:ext>
            </a:extLst>
          </p:cNvPr>
          <p:cNvSpPr txBox="1"/>
          <p:nvPr/>
        </p:nvSpPr>
        <p:spPr>
          <a:xfrm>
            <a:off x="4559352" y="1599523"/>
            <a:ext cx="1515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embedding model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60AE68-1AAE-AD0D-6480-8C918B9353A8}"/>
              </a:ext>
            </a:extLst>
          </p:cNvPr>
          <p:cNvSpPr txBox="1"/>
          <p:nvPr/>
        </p:nvSpPr>
        <p:spPr>
          <a:xfrm>
            <a:off x="1286401" y="5143793"/>
            <a:ext cx="1515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embedding model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62E03B-35FD-40A5-EB8F-728FAFB8903E}"/>
              </a:ext>
            </a:extLst>
          </p:cNvPr>
          <p:cNvSpPr txBox="1"/>
          <p:nvPr/>
        </p:nvSpPr>
        <p:spPr>
          <a:xfrm>
            <a:off x="8406206" y="4992933"/>
            <a:ext cx="883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Prompt</a:t>
            </a:r>
          </a:p>
        </p:txBody>
      </p:sp>
    </p:spTree>
    <p:extLst>
      <p:ext uri="{BB962C8B-B14F-4D97-AF65-F5344CB8AC3E}">
        <p14:creationId xmlns:p14="http://schemas.microsoft.com/office/powerpoint/2010/main" val="289350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C3457-2C05-83CF-96B7-88F385026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70E14A-864D-40B5-AA86-9E8E42F0C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8" y="0"/>
            <a:ext cx="4499273" cy="2842212"/>
          </a:xfrm>
          <a:prstGeom prst="roundRect">
            <a:avLst>
              <a:gd name="adj" fmla="val 12559"/>
            </a:avLst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E68B2D-6E7F-426A-3755-37C262D7B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36561"/>
            <a:ext cx="4916129" cy="3932903"/>
          </a:xfrm>
          <a:prstGeom prst="roundRect">
            <a:avLst>
              <a:gd name="adj" fmla="val 6876"/>
            </a:avLst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CCC0E3D-A64B-DB0D-4D83-BCE3377F9AA6}"/>
              </a:ext>
            </a:extLst>
          </p:cNvPr>
          <p:cNvGrpSpPr/>
          <p:nvPr/>
        </p:nvGrpSpPr>
        <p:grpSpPr>
          <a:xfrm>
            <a:off x="5574891" y="675053"/>
            <a:ext cx="6151046" cy="5246579"/>
            <a:chOff x="2452179" y="593783"/>
            <a:chExt cx="7287642" cy="578248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FD4CD92-775D-ABC3-021B-37EDAC48E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52179" y="593783"/>
              <a:ext cx="7287642" cy="5782482"/>
            </a:xfrm>
            <a:prstGeom prst="roundRect">
              <a:avLst>
                <a:gd name="adj" fmla="val 10376"/>
              </a:avLst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C5BE6E1-5C60-35FA-E777-CA6AB94EDA67}"/>
                </a:ext>
              </a:extLst>
            </p:cNvPr>
            <p:cNvSpPr txBox="1"/>
            <p:nvPr/>
          </p:nvSpPr>
          <p:spPr>
            <a:xfrm>
              <a:off x="6174658" y="2831690"/>
              <a:ext cx="191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Place holders</a:t>
              </a:r>
              <a:endParaRPr lang="en-IN" dirty="0">
                <a:solidFill>
                  <a:srgbClr val="FF0000"/>
                </a:solidFill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888E02B-EBDE-899B-1345-61DBBFB03AC8}"/>
                </a:ext>
              </a:extLst>
            </p:cNvPr>
            <p:cNvCxnSpPr/>
            <p:nvPr/>
          </p:nvCxnSpPr>
          <p:spPr>
            <a:xfrm flipH="1" flipV="1">
              <a:off x="5260258" y="2821858"/>
              <a:ext cx="835742" cy="1671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CABBB66-FBCB-00A8-99F9-7B6CB2736A7E}"/>
                </a:ext>
              </a:extLst>
            </p:cNvPr>
            <p:cNvCxnSpPr/>
            <p:nvPr/>
          </p:nvCxnSpPr>
          <p:spPr>
            <a:xfrm flipH="1">
              <a:off x="4925961" y="3048000"/>
              <a:ext cx="117003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1A21191-CC9B-627B-9666-48B13F028C53}"/>
                </a:ext>
              </a:extLst>
            </p:cNvPr>
            <p:cNvCxnSpPr/>
            <p:nvPr/>
          </p:nvCxnSpPr>
          <p:spPr>
            <a:xfrm flipH="1">
              <a:off x="5417574" y="3057832"/>
              <a:ext cx="678426" cy="2163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45545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60DF7-8D75-BD0E-AA1D-976F7C064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008965-8FAA-1911-0128-7965EC6864A8}"/>
              </a:ext>
            </a:extLst>
          </p:cNvPr>
          <p:cNvSpPr txBox="1"/>
          <p:nvPr/>
        </p:nvSpPr>
        <p:spPr>
          <a:xfrm>
            <a:off x="2212257" y="2367878"/>
            <a:ext cx="21139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Templates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9B0B57-2933-9CCD-BD99-010CA67ABE10}"/>
              </a:ext>
            </a:extLst>
          </p:cNvPr>
          <p:cNvSpPr txBox="1"/>
          <p:nvPr/>
        </p:nvSpPr>
        <p:spPr>
          <a:xfrm>
            <a:off x="6233652" y="1358999"/>
            <a:ext cx="21139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PromptTemplate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9AF58C-8950-1042-2D38-370547EF2A91}"/>
              </a:ext>
            </a:extLst>
          </p:cNvPr>
          <p:cNvSpPr txBox="1"/>
          <p:nvPr/>
        </p:nvSpPr>
        <p:spPr>
          <a:xfrm>
            <a:off x="6744929" y="29124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ChatPromptTemplate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F5BD1C-F8B3-5C1A-5DAA-DDD0DE91300B}"/>
              </a:ext>
            </a:extLst>
          </p:cNvPr>
          <p:cNvCxnSpPr>
            <a:stCxn id="3" idx="3"/>
            <a:endCxn id="5" idx="1"/>
          </p:cNvCxnSpPr>
          <p:nvPr/>
        </p:nvCxnSpPr>
        <p:spPr>
          <a:xfrm flipV="1">
            <a:off x="4326192" y="1543665"/>
            <a:ext cx="1907460" cy="1055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B716886-1A53-7835-DB26-091B2611E2BB}"/>
              </a:ext>
            </a:extLst>
          </p:cNvPr>
          <p:cNvCxnSpPr>
            <a:stCxn id="3" idx="3"/>
            <a:endCxn id="7" idx="1"/>
          </p:cNvCxnSpPr>
          <p:nvPr/>
        </p:nvCxnSpPr>
        <p:spPr>
          <a:xfrm>
            <a:off x="4326192" y="2598711"/>
            <a:ext cx="2418737" cy="498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4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F8A2A-6660-6252-92BB-25073AE38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A79A3E-7DAC-4894-AE32-90CDDD4BE6C4}"/>
              </a:ext>
            </a:extLst>
          </p:cNvPr>
          <p:cNvSpPr txBox="1"/>
          <p:nvPr/>
        </p:nvSpPr>
        <p:spPr>
          <a:xfrm>
            <a:off x="414821" y="318305"/>
            <a:ext cx="21139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PromptTemplate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62FB41-CE99-B912-0F77-D488F31D9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855" y="1311533"/>
            <a:ext cx="8888290" cy="3142226"/>
          </a:xfrm>
          <a:prstGeom prst="roundRect">
            <a:avLst>
              <a:gd name="adj" fmla="val 9475"/>
            </a:avLst>
          </a:prstGeom>
        </p:spPr>
      </p:pic>
    </p:spTree>
    <p:extLst>
      <p:ext uri="{BB962C8B-B14F-4D97-AF65-F5344CB8AC3E}">
        <p14:creationId xmlns:p14="http://schemas.microsoft.com/office/powerpoint/2010/main" val="3528430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E8301-041C-2109-5E70-E86D295F5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D0CAC8-6682-3931-096F-BB64646D4A6C}"/>
              </a:ext>
            </a:extLst>
          </p:cNvPr>
          <p:cNvSpPr txBox="1"/>
          <p:nvPr/>
        </p:nvSpPr>
        <p:spPr>
          <a:xfrm>
            <a:off x="462116" y="198708"/>
            <a:ext cx="3108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PromptTemplate</a:t>
            </a:r>
            <a:r>
              <a:rPr lang="en-IN" dirty="0"/>
              <a:t>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251960-0014-4CC8-83FC-B1258823A679}"/>
              </a:ext>
            </a:extLst>
          </p:cNvPr>
          <p:cNvSpPr txBox="1"/>
          <p:nvPr/>
        </p:nvSpPr>
        <p:spPr>
          <a:xfrm>
            <a:off x="1042220" y="3007862"/>
            <a:ext cx="9360310" cy="1709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PromptTemplate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'create a 20 words summary on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{dog}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using</a:t>
            </a:r>
            <a:r>
              <a:rPr lang="en-I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dog_essay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input_variables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"dog"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dog_essay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F3164A-55A9-EF7C-A67F-4B26A7399DB8}"/>
              </a:ext>
            </a:extLst>
          </p:cNvPr>
          <p:cNvSpPr/>
          <p:nvPr/>
        </p:nvSpPr>
        <p:spPr>
          <a:xfrm>
            <a:off x="6410631" y="3470787"/>
            <a:ext cx="825911" cy="491611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95B243A-B15B-C552-8F82-0DEB2834FF7F}"/>
              </a:ext>
            </a:extLst>
          </p:cNvPr>
          <p:cNvSpPr/>
          <p:nvPr/>
        </p:nvSpPr>
        <p:spPr>
          <a:xfrm>
            <a:off x="8264011" y="3470786"/>
            <a:ext cx="1558415" cy="491611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259302-4811-B655-449C-A5ABE6FA7B6B}"/>
              </a:ext>
            </a:extLst>
          </p:cNvPr>
          <p:cNvSpPr txBox="1"/>
          <p:nvPr/>
        </p:nvSpPr>
        <p:spPr>
          <a:xfrm>
            <a:off x="7098891" y="2715494"/>
            <a:ext cx="1465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placeholders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C58C161-DCA3-3B6E-6941-A86CE39896D8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823586" y="3084826"/>
            <a:ext cx="1007808" cy="385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5D0AC1-C31B-CF79-249A-7C10BCE0934B}"/>
              </a:ext>
            </a:extLst>
          </p:cNvPr>
          <p:cNvCxnSpPr>
            <a:stCxn id="7" idx="2"/>
            <a:endCxn id="6" idx="0"/>
          </p:cNvCxnSpPr>
          <p:nvPr/>
        </p:nvCxnSpPr>
        <p:spPr>
          <a:xfrm>
            <a:off x="7831394" y="3084826"/>
            <a:ext cx="1211825" cy="385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F225E47-791F-E097-E6CD-02F984B115E7}"/>
              </a:ext>
            </a:extLst>
          </p:cNvPr>
          <p:cNvSpPr txBox="1"/>
          <p:nvPr/>
        </p:nvSpPr>
        <p:spPr>
          <a:xfrm>
            <a:off x="1002890" y="5010057"/>
            <a:ext cx="10589341" cy="463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final_prompt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.invoke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dog_essay'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page_content,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"dog"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"husky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0535D2-62FE-3653-5A5B-D004B7D373BC}"/>
              </a:ext>
            </a:extLst>
          </p:cNvPr>
          <p:cNvSpPr txBox="1"/>
          <p:nvPr/>
        </p:nvSpPr>
        <p:spPr>
          <a:xfrm>
            <a:off x="7359764" y="6125391"/>
            <a:ext cx="2418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Values for placeholders</a:t>
            </a:r>
            <a:endParaRPr lang="en-IN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3C6F5DB-1045-CDDA-ECB6-E308F2AD9AD8}"/>
              </a:ext>
            </a:extLst>
          </p:cNvPr>
          <p:cNvCxnSpPr>
            <a:stCxn id="15" idx="0"/>
            <a:endCxn id="15" idx="0"/>
          </p:cNvCxnSpPr>
          <p:nvPr/>
        </p:nvCxnSpPr>
        <p:spPr>
          <a:xfrm>
            <a:off x="8568974" y="6125391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810A196-E6D7-5BB9-4DBE-414FC8D4B497}"/>
              </a:ext>
            </a:extLst>
          </p:cNvPr>
          <p:cNvSpPr/>
          <p:nvPr/>
        </p:nvSpPr>
        <p:spPr>
          <a:xfrm>
            <a:off x="6341806" y="5010057"/>
            <a:ext cx="2566220" cy="516429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19BD13B-E9D4-72B2-9617-A3146D9C5F79}"/>
              </a:ext>
            </a:extLst>
          </p:cNvPr>
          <p:cNvSpPr/>
          <p:nvPr/>
        </p:nvSpPr>
        <p:spPr>
          <a:xfrm>
            <a:off x="9753602" y="5063154"/>
            <a:ext cx="894736" cy="463333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1146EA-06B8-9616-201C-5F9F4F8866A5}"/>
              </a:ext>
            </a:extLst>
          </p:cNvPr>
          <p:cNvCxnSpPr>
            <a:stCxn id="15" idx="0"/>
            <a:endCxn id="18" idx="2"/>
          </p:cNvCxnSpPr>
          <p:nvPr/>
        </p:nvCxnSpPr>
        <p:spPr>
          <a:xfrm flipH="1" flipV="1">
            <a:off x="7624916" y="5526486"/>
            <a:ext cx="944058" cy="598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E23371C-BD69-9FBE-1C01-8F938C8F3DB7}"/>
              </a:ext>
            </a:extLst>
          </p:cNvPr>
          <p:cNvCxnSpPr>
            <a:stCxn id="15" idx="0"/>
            <a:endCxn id="19" idx="2"/>
          </p:cNvCxnSpPr>
          <p:nvPr/>
        </p:nvCxnSpPr>
        <p:spPr>
          <a:xfrm flipV="1">
            <a:off x="8568974" y="5526487"/>
            <a:ext cx="1631996" cy="598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915D71D-6EED-B01B-9264-BB7C1EAED187}"/>
              </a:ext>
            </a:extLst>
          </p:cNvPr>
          <p:cNvSpPr txBox="1"/>
          <p:nvPr/>
        </p:nvSpPr>
        <p:spPr>
          <a:xfrm>
            <a:off x="3113627" y="144911"/>
            <a:ext cx="7534711" cy="1531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/>
              <a:t>With </a:t>
            </a:r>
            <a:r>
              <a:rPr lang="en-US" sz="1600" dirty="0" err="1"/>
              <a:t>PromptTemplate</a:t>
            </a:r>
            <a:r>
              <a:rPr lang="en-US" sz="1600" dirty="0"/>
              <a:t>, you construct a single, continuous string that includes both your instructions and the content you want the LLM to process.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b="1" dirty="0"/>
              <a:t>Best For:</a:t>
            </a:r>
            <a:r>
              <a:rPr lang="en-US" sz="1600" dirty="0"/>
              <a:t> Simple, one-off tasks with LLMs that primarily handle string-in, string-out operations (older models or those not specifically fine-tuned for chat).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943289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25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 animBg="1"/>
      <p:bldP spid="6" grpId="0" animBg="1"/>
      <p:bldP spid="7" grpId="0"/>
      <p:bldP spid="14" grpId="0"/>
      <p:bldP spid="15" grpId="0"/>
      <p:bldP spid="18" grpId="0" animBg="1"/>
      <p:bldP spid="19" grpId="0" animBg="1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E5B23-D688-DA58-E9D2-7F4F9264D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7631C4-399E-76E7-9C7C-7167346EC0A8}"/>
              </a:ext>
            </a:extLst>
          </p:cNvPr>
          <p:cNvSpPr txBox="1"/>
          <p:nvPr/>
        </p:nvSpPr>
        <p:spPr>
          <a:xfrm>
            <a:off x="540774" y="542920"/>
            <a:ext cx="2330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ChatPromptTemplate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52B9CF-DAC1-B9A1-A209-E4373F8C2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768" y="727586"/>
            <a:ext cx="7897327" cy="5601482"/>
          </a:xfrm>
          <a:prstGeom prst="roundRect">
            <a:avLst>
              <a:gd name="adj" fmla="val 8593"/>
            </a:avLst>
          </a:prstGeom>
        </p:spPr>
      </p:pic>
    </p:spTree>
    <p:extLst>
      <p:ext uri="{BB962C8B-B14F-4D97-AF65-F5344CB8AC3E}">
        <p14:creationId xmlns:p14="http://schemas.microsoft.com/office/powerpoint/2010/main" val="3282687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5DE47-C62B-CB82-C8C8-3D8F472D1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088FC9-09D3-444B-CB8A-E0236B591591}"/>
              </a:ext>
            </a:extLst>
          </p:cNvPr>
          <p:cNvSpPr txBox="1"/>
          <p:nvPr/>
        </p:nvSpPr>
        <p:spPr>
          <a:xfrm>
            <a:off x="2153264" y="703510"/>
            <a:ext cx="10038736" cy="2725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chat_summary_prompt_template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ChatPromptTemplate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System message: Role "system", content is the instruction string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"system"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 are an expert news summarizer. Your task is to provide a concise summary, strictly limited to 50 words, ensuring accuracy and neutrality."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Human message: Role "human", content is the template string with placeholder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"human"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"Here is the news article to summarize:</a:t>
            </a:r>
            <a:r>
              <a:rPr lang="en-US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article_text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F2DCBC-BFFE-C7B5-E34D-0F1DBDF242D3}"/>
              </a:ext>
            </a:extLst>
          </p:cNvPr>
          <p:cNvSpPr txBox="1"/>
          <p:nvPr/>
        </p:nvSpPr>
        <p:spPr>
          <a:xfrm>
            <a:off x="806245" y="4298444"/>
            <a:ext cx="11100619" cy="42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final_chat_messages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chat_summary_prompt_template</a:t>
            </a:r>
            <a:r>
              <a:rPr lang="en-US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.invoke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"article_text"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news_article_content</a:t>
            </a:r>
            <a: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48B9B9-8376-C69D-A09F-4842C1C28CB0}"/>
              </a:ext>
            </a:extLst>
          </p:cNvPr>
          <p:cNvSpPr txBox="1"/>
          <p:nvPr/>
        </p:nvSpPr>
        <p:spPr>
          <a:xfrm>
            <a:off x="806245" y="1268362"/>
            <a:ext cx="71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role</a:t>
            </a:r>
            <a:endParaRPr lang="en-I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FCA4860-0AF5-9541-7885-2F7B7CC33D49}"/>
              </a:ext>
            </a:extLst>
          </p:cNvPr>
          <p:cNvCxnSpPr>
            <a:stCxn id="6" idx="3"/>
          </p:cNvCxnSpPr>
          <p:nvPr/>
        </p:nvCxnSpPr>
        <p:spPr>
          <a:xfrm>
            <a:off x="1524000" y="1453028"/>
            <a:ext cx="1268361" cy="228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2A8FFB4-2A75-B729-6ACE-23D7F9DBAEC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524000" y="1453028"/>
            <a:ext cx="1268361" cy="1328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2C74C45-569F-797B-7BC2-B46CA358F677}"/>
              </a:ext>
            </a:extLst>
          </p:cNvPr>
          <p:cNvSpPr/>
          <p:nvPr/>
        </p:nvSpPr>
        <p:spPr>
          <a:xfrm>
            <a:off x="2812026" y="1435511"/>
            <a:ext cx="884903" cy="462116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7C23860-CB11-56C3-6BAE-895C65329042}"/>
              </a:ext>
            </a:extLst>
          </p:cNvPr>
          <p:cNvSpPr/>
          <p:nvPr/>
        </p:nvSpPr>
        <p:spPr>
          <a:xfrm>
            <a:off x="2792361" y="2550760"/>
            <a:ext cx="884903" cy="462116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469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BD359-B573-11C9-35B6-25A3FACB5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414448-1F8E-E371-4996-26543DDFF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430" y="444851"/>
            <a:ext cx="7607139" cy="5742939"/>
          </a:xfrm>
          <a:prstGeom prst="roundRect">
            <a:avLst>
              <a:gd name="adj" fmla="val 7251"/>
            </a:avLst>
          </a:prstGeom>
        </p:spPr>
      </p:pic>
    </p:spTree>
    <p:extLst>
      <p:ext uri="{BB962C8B-B14F-4D97-AF65-F5344CB8AC3E}">
        <p14:creationId xmlns:p14="http://schemas.microsoft.com/office/powerpoint/2010/main" val="1515114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F907F-C11A-B96F-4BF5-CB30A82DD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9D79F0-097C-C4EE-A1B5-DEC740A38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548" y="537759"/>
            <a:ext cx="6658904" cy="5782482"/>
          </a:xfrm>
          <a:prstGeom prst="roundRect">
            <a:avLst>
              <a:gd name="adj" fmla="val 8505"/>
            </a:avLst>
          </a:prstGeom>
        </p:spPr>
      </p:pic>
    </p:spTree>
    <p:extLst>
      <p:ext uri="{BB962C8B-B14F-4D97-AF65-F5344CB8AC3E}">
        <p14:creationId xmlns:p14="http://schemas.microsoft.com/office/powerpoint/2010/main" val="195561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388B2-6883-BCD2-5D9C-88EF65B1E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50838B-DC00-90AC-2BAB-188E548E7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792" y="861654"/>
            <a:ext cx="9440592" cy="5134692"/>
          </a:xfrm>
          <a:prstGeom prst="roundRect">
            <a:avLst>
              <a:gd name="adj" fmla="val 7859"/>
            </a:avLst>
          </a:prstGeom>
        </p:spPr>
      </p:pic>
    </p:spTree>
    <p:extLst>
      <p:ext uri="{BB962C8B-B14F-4D97-AF65-F5344CB8AC3E}">
        <p14:creationId xmlns:p14="http://schemas.microsoft.com/office/powerpoint/2010/main" val="86135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B1C06-4CF3-B278-9206-FA6E981D7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808557-C173-BEB1-108A-9357834E8577}"/>
              </a:ext>
            </a:extLst>
          </p:cNvPr>
          <p:cNvSpPr txBox="1"/>
          <p:nvPr/>
        </p:nvSpPr>
        <p:spPr>
          <a:xfrm>
            <a:off x="1573161" y="2696675"/>
            <a:ext cx="9812594" cy="2956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chat_prompt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ChatPromptTemplate.from_messages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"system"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 are an expert news summarizer. Your task is to provide a concise summary, strictly limited to 50 words, ensuring accuracy and neutrality."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MessagesPlaceholder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variable_name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chat_history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"human"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user_input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39CEA-6EB7-2364-A726-522B79506A41}"/>
              </a:ext>
            </a:extLst>
          </p:cNvPr>
          <p:cNvSpPr txBox="1"/>
          <p:nvPr/>
        </p:nvSpPr>
        <p:spPr>
          <a:xfrm>
            <a:off x="1032386" y="727191"/>
            <a:ext cx="94193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MessagesPlaceholder</a:t>
            </a:r>
            <a:r>
              <a:rPr lang="en-US" sz="1600" dirty="0"/>
              <a:t> is a special component used inside a </a:t>
            </a:r>
            <a:r>
              <a:rPr lang="en-US" sz="1600" dirty="0" err="1"/>
              <a:t>ChatPromptTemplate</a:t>
            </a:r>
            <a:r>
              <a:rPr lang="en-US" sz="1600" dirty="0"/>
              <a:t> that allows you to dynamically inject a list of chat messages (i.e., conversation history) into your prompt at runtime.</a:t>
            </a:r>
            <a:endParaRPr lang="en-IN" sz="16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FDB9E12-D31D-E839-AF6E-762FAE98C2DB}"/>
              </a:ext>
            </a:extLst>
          </p:cNvPr>
          <p:cNvCxnSpPr/>
          <p:nvPr/>
        </p:nvCxnSpPr>
        <p:spPr>
          <a:xfrm>
            <a:off x="2192594" y="1238865"/>
            <a:ext cx="1317522" cy="3283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2698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12275</TotalTime>
  <Words>375</Words>
  <Application>Microsoft Office PowerPoint</Application>
  <PresentationFormat>Widescreen</PresentationFormat>
  <Paragraphs>52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Google Sans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ghost</dc:creator>
  <cp:lastModifiedBy>Coder Zero</cp:lastModifiedBy>
  <cp:revision>193</cp:revision>
  <dcterms:created xsi:type="dcterms:W3CDTF">2020-07-09T14:04:16Z</dcterms:created>
  <dcterms:modified xsi:type="dcterms:W3CDTF">2025-07-03T19:18:26Z</dcterms:modified>
</cp:coreProperties>
</file>