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05" r:id="rId1"/>
  </p:sldMasterIdLst>
  <p:notesMasterIdLst>
    <p:notesMasterId r:id="rId10"/>
  </p:notesMasterIdLst>
  <p:sldIdLst>
    <p:sldId id="274" r:id="rId2"/>
    <p:sldId id="341" r:id="rId3"/>
    <p:sldId id="343" r:id="rId4"/>
    <p:sldId id="342" r:id="rId5"/>
    <p:sldId id="344" r:id="rId6"/>
    <p:sldId id="345" r:id="rId7"/>
    <p:sldId id="346" r:id="rId8"/>
    <p:sldId id="347"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40CD5"/>
    <a:srgbClr val="183348"/>
    <a:srgbClr val="008000"/>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293" y="62"/>
      </p:cViewPr>
      <p:guideLst/>
    </p:cSldViewPr>
  </p:slideViewPr>
  <p:notesTextViewPr>
    <p:cViewPr>
      <p:scale>
        <a:sx n="66" d="100"/>
        <a:sy n="66"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F6987B-4077-41BF-97D4-EA38746EFAB3}" type="datetimeFigureOut">
              <a:rPr lang="en-US" smtClean="0"/>
              <a:t>7/29/2025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1065E2-8AB8-4848-955E-6C0D5851B9F0}" type="slidenum">
              <a:rPr lang="en-US" smtClean="0"/>
              <a:t>‹#›</a:t>
            </a:fld>
            <a:endParaRPr lang="en-US"/>
          </a:p>
        </p:txBody>
      </p:sp>
    </p:spTree>
    <p:extLst>
      <p:ext uri="{BB962C8B-B14F-4D97-AF65-F5344CB8AC3E}">
        <p14:creationId xmlns:p14="http://schemas.microsoft.com/office/powerpoint/2010/main" val="19574824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493930-47BE-40BC-A32D-4F995F4BBD55}" type="datetimeFigureOut">
              <a:rPr lang="en-US" smtClean="0"/>
              <a:t>7/29/2025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B41980-23F0-4728-8D90-69C6C1C21305}" type="slidenum">
              <a:rPr lang="en-US" smtClean="0"/>
              <a:t>‹#›</a:t>
            </a:fld>
            <a:endParaRPr lang="en-US"/>
          </a:p>
        </p:txBody>
      </p:sp>
    </p:spTree>
    <p:extLst>
      <p:ext uri="{BB962C8B-B14F-4D97-AF65-F5344CB8AC3E}">
        <p14:creationId xmlns:p14="http://schemas.microsoft.com/office/powerpoint/2010/main" val="30301047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493930-47BE-40BC-A32D-4F995F4BBD55}" type="datetimeFigureOut">
              <a:rPr lang="en-US" smtClean="0"/>
              <a:t>7/29/2025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B41980-23F0-4728-8D90-69C6C1C21305}" type="slidenum">
              <a:rPr lang="en-US" smtClean="0"/>
              <a:t>‹#›</a:t>
            </a:fld>
            <a:endParaRPr lang="en-US"/>
          </a:p>
        </p:txBody>
      </p:sp>
    </p:spTree>
    <p:extLst>
      <p:ext uri="{BB962C8B-B14F-4D97-AF65-F5344CB8AC3E}">
        <p14:creationId xmlns:p14="http://schemas.microsoft.com/office/powerpoint/2010/main" val="4152357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493930-47BE-40BC-A32D-4F995F4BBD55}" type="datetimeFigureOut">
              <a:rPr lang="en-US" smtClean="0"/>
              <a:t>7/29/2025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B41980-23F0-4728-8D90-69C6C1C21305}" type="slidenum">
              <a:rPr lang="en-US" smtClean="0"/>
              <a:t>‹#›</a:t>
            </a:fld>
            <a:endParaRPr lang="en-US"/>
          </a:p>
        </p:txBody>
      </p:sp>
    </p:spTree>
    <p:extLst>
      <p:ext uri="{BB962C8B-B14F-4D97-AF65-F5344CB8AC3E}">
        <p14:creationId xmlns:p14="http://schemas.microsoft.com/office/powerpoint/2010/main" val="28832315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493930-47BE-40BC-A32D-4F995F4BBD55}" type="datetimeFigureOut">
              <a:rPr lang="en-US" smtClean="0"/>
              <a:t>7/29/2025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B41980-23F0-4728-8D90-69C6C1C21305}" type="slidenum">
              <a:rPr lang="en-US" smtClean="0"/>
              <a:t>‹#›</a:t>
            </a:fld>
            <a:endParaRPr lang="en-US"/>
          </a:p>
        </p:txBody>
      </p:sp>
    </p:spTree>
    <p:extLst>
      <p:ext uri="{BB962C8B-B14F-4D97-AF65-F5344CB8AC3E}">
        <p14:creationId xmlns:p14="http://schemas.microsoft.com/office/powerpoint/2010/main" val="9284246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493930-47BE-40BC-A32D-4F995F4BBD55}" type="datetimeFigureOut">
              <a:rPr lang="en-US" smtClean="0"/>
              <a:t>7/29/2025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EB41980-23F0-4728-8D90-69C6C1C21305}" type="slidenum">
              <a:rPr lang="en-US" smtClean="0"/>
              <a:t>‹#›</a:t>
            </a:fld>
            <a:endParaRPr lang="en-US"/>
          </a:p>
        </p:txBody>
      </p:sp>
    </p:spTree>
    <p:extLst>
      <p:ext uri="{BB962C8B-B14F-4D97-AF65-F5344CB8AC3E}">
        <p14:creationId xmlns:p14="http://schemas.microsoft.com/office/powerpoint/2010/main" val="8925969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493930-47BE-40BC-A32D-4F995F4BBD55}" type="datetimeFigureOut">
              <a:rPr lang="en-US" smtClean="0"/>
              <a:t>7/29/2025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EB41980-23F0-4728-8D90-69C6C1C21305}" type="slidenum">
              <a:rPr lang="en-US" smtClean="0"/>
              <a:t>‹#›</a:t>
            </a:fld>
            <a:endParaRPr lang="en-US"/>
          </a:p>
        </p:txBody>
      </p:sp>
    </p:spTree>
    <p:extLst>
      <p:ext uri="{BB962C8B-B14F-4D97-AF65-F5344CB8AC3E}">
        <p14:creationId xmlns:p14="http://schemas.microsoft.com/office/powerpoint/2010/main" val="33397045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493930-47BE-40BC-A32D-4F995F4BBD55}" type="datetimeFigureOut">
              <a:rPr lang="en-US" smtClean="0"/>
              <a:t>7/29/2025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EB41980-23F0-4728-8D90-69C6C1C21305}" type="slidenum">
              <a:rPr lang="en-US" smtClean="0"/>
              <a:t>‹#›</a:t>
            </a:fld>
            <a:endParaRPr lang="en-US"/>
          </a:p>
        </p:txBody>
      </p:sp>
    </p:spTree>
    <p:extLst>
      <p:ext uri="{BB962C8B-B14F-4D97-AF65-F5344CB8AC3E}">
        <p14:creationId xmlns:p14="http://schemas.microsoft.com/office/powerpoint/2010/main" val="34569920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493930-47BE-40BC-A32D-4F995F4BBD55}" type="datetimeFigureOut">
              <a:rPr lang="en-US" smtClean="0"/>
              <a:t>7/29/2025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B41980-23F0-4728-8D90-69C6C1C21305}" type="slidenum">
              <a:rPr lang="en-US" smtClean="0"/>
              <a:t>‹#›</a:t>
            </a:fld>
            <a:endParaRPr lang="en-US"/>
          </a:p>
        </p:txBody>
      </p:sp>
    </p:spTree>
    <p:extLst>
      <p:ext uri="{BB962C8B-B14F-4D97-AF65-F5344CB8AC3E}">
        <p14:creationId xmlns:p14="http://schemas.microsoft.com/office/powerpoint/2010/main" val="18630625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493930-47BE-40BC-A32D-4F995F4BBD55}" type="datetimeFigureOut">
              <a:rPr lang="en-US" smtClean="0"/>
              <a:t>7/29/2025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B41980-23F0-4728-8D90-69C6C1C21305}" type="slidenum">
              <a:rPr lang="en-US" smtClean="0"/>
              <a:t>‹#›</a:t>
            </a:fld>
            <a:endParaRPr lang="en-US"/>
          </a:p>
        </p:txBody>
      </p:sp>
    </p:spTree>
    <p:extLst>
      <p:ext uri="{BB962C8B-B14F-4D97-AF65-F5344CB8AC3E}">
        <p14:creationId xmlns:p14="http://schemas.microsoft.com/office/powerpoint/2010/main" val="9891369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493930-47BE-40BC-A32D-4F995F4BBD55}" type="datetimeFigureOut">
              <a:rPr lang="en-US" smtClean="0"/>
              <a:t>7/29/2025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B41980-23F0-4728-8D90-69C6C1C21305}" type="slidenum">
              <a:rPr lang="en-US" smtClean="0"/>
              <a:t>‹#›</a:t>
            </a:fld>
            <a:endParaRPr lang="en-US"/>
          </a:p>
        </p:txBody>
      </p:sp>
    </p:spTree>
    <p:extLst>
      <p:ext uri="{BB962C8B-B14F-4D97-AF65-F5344CB8AC3E}">
        <p14:creationId xmlns:p14="http://schemas.microsoft.com/office/powerpoint/2010/main" val="9138233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493930-47BE-40BC-A32D-4F995F4BBD55}" type="datetimeFigureOut">
              <a:rPr lang="en-US" smtClean="0"/>
              <a:t>7/29/2025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B41980-23F0-4728-8D90-69C6C1C21305}" type="slidenum">
              <a:rPr lang="en-US" smtClean="0"/>
              <a:t>‹#›</a:t>
            </a:fld>
            <a:endParaRPr lang="en-US"/>
          </a:p>
        </p:txBody>
      </p:sp>
    </p:spTree>
    <p:extLst>
      <p:ext uri="{BB962C8B-B14F-4D97-AF65-F5344CB8AC3E}">
        <p14:creationId xmlns:p14="http://schemas.microsoft.com/office/powerpoint/2010/main" val="29917586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493930-47BE-40BC-A32D-4F995F4BBD55}" type="datetimeFigureOut">
              <a:rPr lang="en-US" smtClean="0"/>
              <a:t>7/29/2025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B41980-23F0-4728-8D90-69C6C1C21305}" type="slidenum">
              <a:rPr lang="en-US" smtClean="0"/>
              <a:t>‹#›</a:t>
            </a:fld>
            <a:endParaRPr lang="en-US"/>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9240886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493930-47BE-40BC-A32D-4F995F4BBD55}" type="datetimeFigureOut">
              <a:rPr lang="en-US" smtClean="0"/>
              <a:t>7/29/2025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B41980-23F0-4728-8D90-69C6C1C21305}" type="slidenum">
              <a:rPr lang="en-US" smtClean="0"/>
              <a:t>‹#›</a:t>
            </a:fld>
            <a:endParaRPr lang="en-US"/>
          </a:p>
        </p:txBody>
      </p:sp>
    </p:spTree>
    <p:extLst>
      <p:ext uri="{BB962C8B-B14F-4D97-AF65-F5344CB8AC3E}">
        <p14:creationId xmlns:p14="http://schemas.microsoft.com/office/powerpoint/2010/main" val="32402866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493930-47BE-40BC-A32D-4F995F4BBD55}" type="datetimeFigureOut">
              <a:rPr lang="en-US" smtClean="0"/>
              <a:t>7/29/2025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EB41980-23F0-4728-8D90-69C6C1C21305}" type="slidenum">
              <a:rPr lang="en-US" smtClean="0"/>
              <a:t>‹#›</a:t>
            </a:fld>
            <a:endParaRPr lang="en-US"/>
          </a:p>
        </p:txBody>
      </p:sp>
    </p:spTree>
    <p:extLst>
      <p:ext uri="{BB962C8B-B14F-4D97-AF65-F5344CB8AC3E}">
        <p14:creationId xmlns:p14="http://schemas.microsoft.com/office/powerpoint/2010/main" val="18048756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493930-47BE-40BC-A32D-4F995F4BBD55}" type="datetimeFigureOut">
              <a:rPr lang="en-US" smtClean="0"/>
              <a:t>7/29/2025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EB41980-23F0-4728-8D90-69C6C1C21305}" type="slidenum">
              <a:rPr lang="en-US" smtClean="0"/>
              <a:t>‹#›</a:t>
            </a:fld>
            <a:endParaRPr lang="en-US"/>
          </a:p>
        </p:txBody>
      </p:sp>
    </p:spTree>
    <p:extLst>
      <p:ext uri="{BB962C8B-B14F-4D97-AF65-F5344CB8AC3E}">
        <p14:creationId xmlns:p14="http://schemas.microsoft.com/office/powerpoint/2010/main" val="18022074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493930-47BE-40BC-A32D-4F995F4BBD55}" type="datetimeFigureOut">
              <a:rPr lang="en-US" smtClean="0"/>
              <a:t>7/29/2025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B41980-23F0-4728-8D90-69C6C1C21305}" type="slidenum">
              <a:rPr lang="en-US" smtClean="0"/>
              <a:t>‹#›</a:t>
            </a:fld>
            <a:endParaRPr lang="en-US"/>
          </a:p>
        </p:txBody>
      </p:sp>
    </p:spTree>
    <p:extLst>
      <p:ext uri="{BB962C8B-B14F-4D97-AF65-F5344CB8AC3E}">
        <p14:creationId xmlns:p14="http://schemas.microsoft.com/office/powerpoint/2010/main" val="376646668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493930-47BE-40BC-A32D-4F995F4BBD55}" type="datetimeFigureOut">
              <a:rPr lang="en-US" smtClean="0"/>
              <a:t>7/29/2025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B41980-23F0-4728-8D90-69C6C1C21305}" type="slidenum">
              <a:rPr lang="en-US" smtClean="0"/>
              <a:t>‹#›</a:t>
            </a:fld>
            <a:endParaRPr lang="en-US"/>
          </a:p>
        </p:txBody>
      </p:sp>
    </p:spTree>
    <p:extLst>
      <p:ext uri="{BB962C8B-B14F-4D97-AF65-F5344CB8AC3E}">
        <p14:creationId xmlns:p14="http://schemas.microsoft.com/office/powerpoint/2010/main" val="22623541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48493930-47BE-40BC-A32D-4F995F4BBD55}" type="datetimeFigureOut">
              <a:rPr lang="en-US" smtClean="0"/>
              <a:t>7/29/2025</a:t>
            </a:fld>
            <a:endParaRPr lang="en-US"/>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BEB41980-23F0-4728-8D90-69C6C1C21305}" type="slidenum">
              <a:rPr lang="en-US" smtClean="0"/>
              <a:t>‹#›</a:t>
            </a:fld>
            <a:endParaRPr lang="en-US"/>
          </a:p>
        </p:txBody>
      </p:sp>
    </p:spTree>
    <p:extLst>
      <p:ext uri="{BB962C8B-B14F-4D97-AF65-F5344CB8AC3E}">
        <p14:creationId xmlns:p14="http://schemas.microsoft.com/office/powerpoint/2010/main" val="1393578244"/>
      </p:ext>
    </p:extLst>
  </p:cSld>
  <p:clrMap bg1="dk1" tx1="lt1" bg2="dk2" tx2="lt2" accent1="accent1" accent2="accent2" accent3="accent3" accent4="accent4" accent5="accent5" accent6="accent6" hlink="hlink" folHlink="folHlink"/>
  <p:sldLayoutIdLst>
    <p:sldLayoutId id="2147483906" r:id="rId1"/>
    <p:sldLayoutId id="2147483907" r:id="rId2"/>
    <p:sldLayoutId id="2147483908" r:id="rId3"/>
    <p:sldLayoutId id="2147483909" r:id="rId4"/>
    <p:sldLayoutId id="2147483910" r:id="rId5"/>
    <p:sldLayoutId id="2147483911" r:id="rId6"/>
    <p:sldLayoutId id="2147483912" r:id="rId7"/>
    <p:sldLayoutId id="2147483913" r:id="rId8"/>
    <p:sldLayoutId id="2147483914" r:id="rId9"/>
    <p:sldLayoutId id="2147483915" r:id="rId10"/>
    <p:sldLayoutId id="2147483916" r:id="rId11"/>
    <p:sldLayoutId id="2147483917" r:id="rId12"/>
    <p:sldLayoutId id="2147483918" r:id="rId13"/>
    <p:sldLayoutId id="2147483919" r:id="rId14"/>
    <p:sldLayoutId id="2147483920" r:id="rId15"/>
    <p:sldLayoutId id="2147483921" r:id="rId16"/>
    <p:sldLayoutId id="2147483922"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hyperlink" Target="https://python.langchain.com/docs/integrations/tools/"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CCABFDC-FBF9-BE8E-2A7D-FF9A1D04D407}"/>
              </a:ext>
            </a:extLst>
          </p:cNvPr>
          <p:cNvSpPr/>
          <p:nvPr/>
        </p:nvSpPr>
        <p:spPr>
          <a:xfrm>
            <a:off x="4774298" y="3354706"/>
            <a:ext cx="1616977" cy="45719"/>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p:cNvSpPr txBox="1"/>
          <p:nvPr/>
        </p:nvSpPr>
        <p:spPr>
          <a:xfrm>
            <a:off x="3116827" y="2659559"/>
            <a:ext cx="4999702" cy="769441"/>
          </a:xfrm>
          <a:prstGeom prst="rect">
            <a:avLst/>
          </a:prstGeom>
          <a:noFill/>
        </p:spPr>
        <p:txBody>
          <a:bodyPr wrap="square" rtlCol="0">
            <a:spAutoFit/>
          </a:bodyPr>
          <a:lstStyle/>
          <a:p>
            <a:r>
              <a:rPr lang="en-IN" sz="4400" dirty="0"/>
              <a:t>Tools &amp; Tool Calling</a:t>
            </a:r>
          </a:p>
        </p:txBody>
      </p:sp>
    </p:spTree>
    <p:extLst>
      <p:ext uri="{BB962C8B-B14F-4D97-AF65-F5344CB8AC3E}">
        <p14:creationId xmlns:p14="http://schemas.microsoft.com/office/powerpoint/2010/main" val="2820418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6B9EBD-72A6-CCD5-E666-22C303778E0E}"/>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DCCFC62C-2DF9-71B9-D5A4-1B93B404F9CA}"/>
              </a:ext>
            </a:extLst>
          </p:cNvPr>
          <p:cNvPicPr>
            <a:picLocks noChangeAspect="1"/>
          </p:cNvPicPr>
          <p:nvPr/>
        </p:nvPicPr>
        <p:blipFill>
          <a:blip r:embed="rId2"/>
          <a:stretch>
            <a:fillRect/>
          </a:stretch>
        </p:blipFill>
        <p:spPr>
          <a:xfrm>
            <a:off x="1156598" y="761628"/>
            <a:ext cx="9878804" cy="5334744"/>
          </a:xfrm>
          <a:prstGeom prst="roundRect">
            <a:avLst>
              <a:gd name="adj" fmla="val 8373"/>
            </a:avLst>
          </a:prstGeom>
        </p:spPr>
      </p:pic>
    </p:spTree>
    <p:extLst>
      <p:ext uri="{BB962C8B-B14F-4D97-AF65-F5344CB8AC3E}">
        <p14:creationId xmlns:p14="http://schemas.microsoft.com/office/powerpoint/2010/main" val="17700903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F01363-0CE4-8058-654A-A03845EB1EB3}"/>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2EF02870-0F70-8579-D84E-3DF8D8D5C33A}"/>
              </a:ext>
            </a:extLst>
          </p:cNvPr>
          <p:cNvPicPr>
            <a:picLocks noChangeAspect="1"/>
          </p:cNvPicPr>
          <p:nvPr/>
        </p:nvPicPr>
        <p:blipFill>
          <a:blip r:embed="rId2"/>
          <a:stretch>
            <a:fillRect/>
          </a:stretch>
        </p:blipFill>
        <p:spPr>
          <a:xfrm>
            <a:off x="1098739" y="145114"/>
            <a:ext cx="9030960" cy="924054"/>
          </a:xfrm>
          <a:prstGeom prst="rect">
            <a:avLst/>
          </a:prstGeom>
        </p:spPr>
      </p:pic>
      <p:pic>
        <p:nvPicPr>
          <p:cNvPr id="9" name="Picture 8">
            <a:extLst>
              <a:ext uri="{FF2B5EF4-FFF2-40B4-BE49-F238E27FC236}">
                <a16:creationId xmlns:a16="http://schemas.microsoft.com/office/drawing/2014/main" id="{B475C69A-513D-085C-7C77-FD0F8A1F1A55}"/>
              </a:ext>
            </a:extLst>
          </p:cNvPr>
          <p:cNvPicPr>
            <a:picLocks noChangeAspect="1"/>
          </p:cNvPicPr>
          <p:nvPr/>
        </p:nvPicPr>
        <p:blipFill>
          <a:blip r:embed="rId3"/>
          <a:stretch>
            <a:fillRect/>
          </a:stretch>
        </p:blipFill>
        <p:spPr>
          <a:xfrm>
            <a:off x="747818" y="1406011"/>
            <a:ext cx="4395579" cy="5194775"/>
          </a:xfrm>
          <a:prstGeom prst="roundRect">
            <a:avLst>
              <a:gd name="adj" fmla="val 5259"/>
            </a:avLst>
          </a:prstGeom>
        </p:spPr>
      </p:pic>
      <p:pic>
        <p:nvPicPr>
          <p:cNvPr id="11" name="Picture 10">
            <a:extLst>
              <a:ext uri="{FF2B5EF4-FFF2-40B4-BE49-F238E27FC236}">
                <a16:creationId xmlns:a16="http://schemas.microsoft.com/office/drawing/2014/main" id="{AEC1E400-5383-E215-5831-1A927CE09789}"/>
              </a:ext>
            </a:extLst>
          </p:cNvPr>
          <p:cNvPicPr>
            <a:picLocks noChangeAspect="1"/>
          </p:cNvPicPr>
          <p:nvPr/>
        </p:nvPicPr>
        <p:blipFill>
          <a:blip r:embed="rId4"/>
          <a:stretch>
            <a:fillRect/>
          </a:stretch>
        </p:blipFill>
        <p:spPr>
          <a:xfrm>
            <a:off x="6784258" y="1405048"/>
            <a:ext cx="3769112" cy="5195738"/>
          </a:xfrm>
          <a:prstGeom prst="roundRect">
            <a:avLst>
              <a:gd name="adj" fmla="val 4928"/>
            </a:avLst>
          </a:prstGeom>
        </p:spPr>
      </p:pic>
      <p:cxnSp>
        <p:nvCxnSpPr>
          <p:cNvPr id="13" name="Connector: Elbow 12">
            <a:extLst>
              <a:ext uri="{FF2B5EF4-FFF2-40B4-BE49-F238E27FC236}">
                <a16:creationId xmlns:a16="http://schemas.microsoft.com/office/drawing/2014/main" id="{3728F637-03F0-8B1F-1D5D-D08814783140}"/>
              </a:ext>
            </a:extLst>
          </p:cNvPr>
          <p:cNvCxnSpPr>
            <a:stCxn id="9" idx="2"/>
            <a:endCxn id="11" idx="0"/>
          </p:cNvCxnSpPr>
          <p:nvPr/>
        </p:nvCxnSpPr>
        <p:spPr>
          <a:xfrm rot="5400000" flipH="1" flipV="1">
            <a:off x="3209342" y="1141314"/>
            <a:ext cx="5195738" cy="5723206"/>
          </a:xfrm>
          <a:prstGeom prst="bentConnector5">
            <a:avLst>
              <a:gd name="adj1" fmla="val -4400"/>
              <a:gd name="adj2" fmla="val 52737"/>
              <a:gd name="adj3" fmla="val 104400"/>
            </a:avLst>
          </a:prstGeom>
          <a:ln>
            <a:tailEnd type="triangle"/>
          </a:ln>
        </p:spPr>
        <p:style>
          <a:lnRef idx="1">
            <a:schemeClr val="accent1"/>
          </a:lnRef>
          <a:fillRef idx="0">
            <a:schemeClr val="accent1"/>
          </a:fillRef>
          <a:effectRef idx="0">
            <a:schemeClr val="accent1"/>
          </a:effectRef>
          <a:fontRef idx="minor">
            <a:schemeClr val="tx1"/>
          </a:fontRef>
        </p:style>
      </p:cxnSp>
      <p:sp>
        <p:nvSpPr>
          <p:cNvPr id="2" name="Rectangle: Rounded Corners 1">
            <a:extLst>
              <a:ext uri="{FF2B5EF4-FFF2-40B4-BE49-F238E27FC236}">
                <a16:creationId xmlns:a16="http://schemas.microsoft.com/office/drawing/2014/main" id="{D9FF9A94-0EDB-BF10-3B5F-DA3B2885113B}"/>
              </a:ext>
            </a:extLst>
          </p:cNvPr>
          <p:cNvSpPr/>
          <p:nvPr/>
        </p:nvSpPr>
        <p:spPr>
          <a:xfrm>
            <a:off x="904569" y="1484672"/>
            <a:ext cx="1170038" cy="275302"/>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Rounded Corners 2">
            <a:extLst>
              <a:ext uri="{FF2B5EF4-FFF2-40B4-BE49-F238E27FC236}">
                <a16:creationId xmlns:a16="http://schemas.microsoft.com/office/drawing/2014/main" id="{91E250FE-1383-5BE6-505E-611748C34AFD}"/>
              </a:ext>
            </a:extLst>
          </p:cNvPr>
          <p:cNvSpPr/>
          <p:nvPr/>
        </p:nvSpPr>
        <p:spPr>
          <a:xfrm>
            <a:off x="1098739" y="3905076"/>
            <a:ext cx="1752616" cy="275303"/>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50B1EF9F-D097-321B-CAAE-6F465E79D480}"/>
              </a:ext>
            </a:extLst>
          </p:cNvPr>
          <p:cNvSpPr/>
          <p:nvPr/>
        </p:nvSpPr>
        <p:spPr>
          <a:xfrm>
            <a:off x="6942839" y="1484670"/>
            <a:ext cx="1752616" cy="275303"/>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459764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500"/>
                                        <p:tgtEl>
                                          <p:spTgt spid="2"/>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wipe(down)">
                                      <p:cBhvr>
                                        <p:cTn id="20" dur="500"/>
                                        <p:tgtEl>
                                          <p:spTgt spid="13"/>
                                        </p:tgtEl>
                                      </p:cBhvr>
                                    </p:animEffect>
                                  </p:childTnLst>
                                </p:cTn>
                              </p:par>
                            </p:childTnLst>
                          </p:cTn>
                        </p:par>
                        <p:par>
                          <p:cTn id="21" fill="hold">
                            <p:stCondLst>
                              <p:cond delay="500"/>
                            </p:stCondLst>
                            <p:childTnLst>
                              <p:par>
                                <p:cTn id="22" presetID="22" presetClass="entr" presetSubtype="1" fill="hold"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wipe(up)">
                                      <p:cBhvr>
                                        <p:cTn id="24" dur="500"/>
                                        <p:tgtEl>
                                          <p:spTgt spid="11"/>
                                        </p:tgtEl>
                                      </p:cBhvr>
                                    </p:animEffect>
                                  </p:childTnLst>
                                </p:cTn>
                              </p:par>
                            </p:childTnLst>
                          </p:cTn>
                        </p:par>
                        <p:par>
                          <p:cTn id="25" fill="hold">
                            <p:stCondLst>
                              <p:cond delay="1000"/>
                            </p:stCondLst>
                            <p:childTnLst>
                              <p:par>
                                <p:cTn id="26" presetID="10" presetClass="entr" presetSubtype="0" fill="hold" grpId="0" nodeType="after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fade">
                                      <p:cBhvr>
                                        <p:cTn id="28" dur="2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365514-5B23-4106-B477-A9B36876886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28AE469-395E-1FFE-EA0F-42F56E263C18}"/>
              </a:ext>
            </a:extLst>
          </p:cNvPr>
          <p:cNvPicPr>
            <a:picLocks noChangeAspect="1"/>
          </p:cNvPicPr>
          <p:nvPr/>
        </p:nvPicPr>
        <p:blipFill>
          <a:blip r:embed="rId2"/>
          <a:stretch>
            <a:fillRect/>
          </a:stretch>
        </p:blipFill>
        <p:spPr>
          <a:xfrm>
            <a:off x="1016193" y="401323"/>
            <a:ext cx="9707330" cy="1571844"/>
          </a:xfrm>
          <a:prstGeom prst="rect">
            <a:avLst/>
          </a:prstGeom>
        </p:spPr>
      </p:pic>
      <p:pic>
        <p:nvPicPr>
          <p:cNvPr id="5" name="Picture 4">
            <a:extLst>
              <a:ext uri="{FF2B5EF4-FFF2-40B4-BE49-F238E27FC236}">
                <a16:creationId xmlns:a16="http://schemas.microsoft.com/office/drawing/2014/main" id="{18575359-EEA5-BF68-0B76-EFD9C645D563}"/>
              </a:ext>
            </a:extLst>
          </p:cNvPr>
          <p:cNvPicPr>
            <a:picLocks noChangeAspect="1"/>
          </p:cNvPicPr>
          <p:nvPr/>
        </p:nvPicPr>
        <p:blipFill>
          <a:blip r:embed="rId3"/>
          <a:srcRect t="19185"/>
          <a:stretch>
            <a:fillRect/>
          </a:stretch>
        </p:blipFill>
        <p:spPr>
          <a:xfrm>
            <a:off x="995950" y="3165987"/>
            <a:ext cx="10451690" cy="689770"/>
          </a:xfrm>
          <a:prstGeom prst="rect">
            <a:avLst/>
          </a:prstGeom>
        </p:spPr>
      </p:pic>
      <p:sp>
        <p:nvSpPr>
          <p:cNvPr id="2" name="TextBox 1">
            <a:extLst>
              <a:ext uri="{FF2B5EF4-FFF2-40B4-BE49-F238E27FC236}">
                <a16:creationId xmlns:a16="http://schemas.microsoft.com/office/drawing/2014/main" id="{BB28C6F9-FC19-2CCD-2899-EF855EDAE07B}"/>
              </a:ext>
            </a:extLst>
          </p:cNvPr>
          <p:cNvSpPr txBox="1"/>
          <p:nvPr/>
        </p:nvSpPr>
        <p:spPr>
          <a:xfrm>
            <a:off x="845574" y="5289755"/>
            <a:ext cx="7159973" cy="369332"/>
          </a:xfrm>
          <a:prstGeom prst="rect">
            <a:avLst/>
          </a:prstGeom>
          <a:noFill/>
        </p:spPr>
        <p:txBody>
          <a:bodyPr wrap="none" rtlCol="0">
            <a:spAutoFit/>
          </a:bodyPr>
          <a:lstStyle/>
          <a:p>
            <a:r>
              <a:rPr lang="en-IN" dirty="0"/>
              <a:t>All available tools:</a:t>
            </a:r>
            <a:r>
              <a:rPr lang="en-IN" dirty="0">
                <a:hlinkClick r:id="rId4"/>
              </a:rPr>
              <a:t> https://python.langchain.com/docs/integrations/tools/</a:t>
            </a:r>
            <a:r>
              <a:rPr lang="en-IN" dirty="0"/>
              <a:t> </a:t>
            </a:r>
          </a:p>
        </p:txBody>
      </p:sp>
    </p:spTree>
    <p:extLst>
      <p:ext uri="{BB962C8B-B14F-4D97-AF65-F5344CB8AC3E}">
        <p14:creationId xmlns:p14="http://schemas.microsoft.com/office/powerpoint/2010/main" val="14372716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F2AF3E-7231-4BBE-BBD5-1D6EF724165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B012237-7CFA-58C4-0975-EDA3CB5D9435}"/>
              </a:ext>
            </a:extLst>
          </p:cNvPr>
          <p:cNvSpPr txBox="1"/>
          <p:nvPr/>
        </p:nvSpPr>
        <p:spPr>
          <a:xfrm>
            <a:off x="639096" y="373627"/>
            <a:ext cx="10766323" cy="923330"/>
          </a:xfrm>
          <a:prstGeom prst="rect">
            <a:avLst/>
          </a:prstGeom>
          <a:noFill/>
        </p:spPr>
        <p:txBody>
          <a:bodyPr wrap="square" rtlCol="0">
            <a:spAutoFit/>
          </a:bodyPr>
          <a:lstStyle/>
          <a:p>
            <a:r>
              <a:rPr lang="en-US" dirty="0"/>
              <a:t>A </a:t>
            </a:r>
            <a:r>
              <a:rPr lang="en-US" i="1" dirty="0">
                <a:solidFill>
                  <a:srgbClr val="FF0000"/>
                </a:solidFill>
              </a:rPr>
              <a:t>custom tool </a:t>
            </a:r>
            <a:r>
              <a:rPr lang="en-US" dirty="0"/>
              <a:t>in </a:t>
            </a:r>
            <a:r>
              <a:rPr lang="en-US" dirty="0" err="1"/>
              <a:t>LangChain</a:t>
            </a:r>
            <a:r>
              <a:rPr lang="en-US" dirty="0"/>
              <a:t> is a function or piece of code that you define yourself, allowing your Large Language Models (LLMs) to perform specific actions or access information beyond their inherent knowledge. Instead of relying solely on pre-built </a:t>
            </a:r>
            <a:r>
              <a:rPr lang="en-US" dirty="0" err="1"/>
              <a:t>LangChain</a:t>
            </a:r>
            <a:r>
              <a:rPr lang="en-US" dirty="0"/>
              <a:t> tools, you can create custom ones tailored to your unique application needs.</a:t>
            </a:r>
            <a:endParaRPr lang="en-IN" dirty="0"/>
          </a:p>
        </p:txBody>
      </p:sp>
      <p:sp>
        <p:nvSpPr>
          <p:cNvPr id="3" name="TextBox 2">
            <a:extLst>
              <a:ext uri="{FF2B5EF4-FFF2-40B4-BE49-F238E27FC236}">
                <a16:creationId xmlns:a16="http://schemas.microsoft.com/office/drawing/2014/main" id="{16C4635C-E5E1-8A62-8C05-0431A3C4A463}"/>
              </a:ext>
            </a:extLst>
          </p:cNvPr>
          <p:cNvSpPr txBox="1"/>
          <p:nvPr/>
        </p:nvSpPr>
        <p:spPr>
          <a:xfrm>
            <a:off x="1396181" y="3244334"/>
            <a:ext cx="2778133" cy="369332"/>
          </a:xfrm>
          <a:prstGeom prst="rect">
            <a:avLst/>
          </a:prstGeom>
          <a:noFill/>
        </p:spPr>
        <p:txBody>
          <a:bodyPr wrap="none" rtlCol="0">
            <a:spAutoFit/>
          </a:bodyPr>
          <a:lstStyle/>
          <a:p>
            <a:r>
              <a:rPr lang="en-US" dirty="0"/>
              <a:t>How to create custom tool?</a:t>
            </a:r>
            <a:endParaRPr lang="en-IN" dirty="0"/>
          </a:p>
        </p:txBody>
      </p:sp>
      <p:sp>
        <p:nvSpPr>
          <p:cNvPr id="4" name="TextBox 3">
            <a:extLst>
              <a:ext uri="{FF2B5EF4-FFF2-40B4-BE49-F238E27FC236}">
                <a16:creationId xmlns:a16="http://schemas.microsoft.com/office/drawing/2014/main" id="{E54A900E-BCA6-A1DE-00D0-33582F7CA128}"/>
              </a:ext>
            </a:extLst>
          </p:cNvPr>
          <p:cNvSpPr txBox="1"/>
          <p:nvPr/>
        </p:nvSpPr>
        <p:spPr>
          <a:xfrm>
            <a:off x="6961240" y="2015613"/>
            <a:ext cx="1750142" cy="369332"/>
          </a:xfrm>
          <a:prstGeom prst="rect">
            <a:avLst/>
          </a:prstGeom>
          <a:noFill/>
        </p:spPr>
        <p:txBody>
          <a:bodyPr wrap="square" rtlCol="0">
            <a:spAutoFit/>
          </a:bodyPr>
          <a:lstStyle/>
          <a:p>
            <a:r>
              <a:rPr lang="en-US" dirty="0"/>
              <a:t>@tool</a:t>
            </a:r>
            <a:endParaRPr lang="en-IN" dirty="0"/>
          </a:p>
        </p:txBody>
      </p:sp>
      <p:sp>
        <p:nvSpPr>
          <p:cNvPr id="5" name="TextBox 4">
            <a:extLst>
              <a:ext uri="{FF2B5EF4-FFF2-40B4-BE49-F238E27FC236}">
                <a16:creationId xmlns:a16="http://schemas.microsoft.com/office/drawing/2014/main" id="{DB96E38B-22C0-4635-8588-6595AEC4CF5E}"/>
              </a:ext>
            </a:extLst>
          </p:cNvPr>
          <p:cNvSpPr txBox="1"/>
          <p:nvPr/>
        </p:nvSpPr>
        <p:spPr>
          <a:xfrm>
            <a:off x="6980905" y="3103601"/>
            <a:ext cx="2871017" cy="369332"/>
          </a:xfrm>
          <a:prstGeom prst="rect">
            <a:avLst/>
          </a:prstGeom>
          <a:noFill/>
        </p:spPr>
        <p:txBody>
          <a:bodyPr wrap="square" rtlCol="0">
            <a:spAutoFit/>
          </a:bodyPr>
          <a:lstStyle/>
          <a:p>
            <a:r>
              <a:rPr lang="en-IN" dirty="0" err="1"/>
              <a:t>StructuredTool</a:t>
            </a:r>
            <a:r>
              <a:rPr lang="en-IN" dirty="0"/>
              <a:t> + </a:t>
            </a:r>
            <a:r>
              <a:rPr lang="en-IN" dirty="0" err="1"/>
              <a:t>pydantic</a:t>
            </a:r>
            <a:endParaRPr lang="en-IN" dirty="0"/>
          </a:p>
        </p:txBody>
      </p:sp>
      <p:cxnSp>
        <p:nvCxnSpPr>
          <p:cNvPr id="8" name="Straight Arrow Connector 7">
            <a:extLst>
              <a:ext uri="{FF2B5EF4-FFF2-40B4-BE49-F238E27FC236}">
                <a16:creationId xmlns:a16="http://schemas.microsoft.com/office/drawing/2014/main" id="{A1A4B9C8-2300-F8A5-25D7-477B406DECD4}"/>
              </a:ext>
            </a:extLst>
          </p:cNvPr>
          <p:cNvCxnSpPr>
            <a:stCxn id="3" idx="3"/>
            <a:endCxn id="4" idx="1"/>
          </p:cNvCxnSpPr>
          <p:nvPr/>
        </p:nvCxnSpPr>
        <p:spPr>
          <a:xfrm flipV="1">
            <a:off x="4174314" y="2200279"/>
            <a:ext cx="2786926" cy="12287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12BAF9C0-76BB-DB00-8F43-4DF00B5E9ADB}"/>
              </a:ext>
            </a:extLst>
          </p:cNvPr>
          <p:cNvCxnSpPr>
            <a:stCxn id="3" idx="3"/>
            <a:endCxn id="5" idx="1"/>
          </p:cNvCxnSpPr>
          <p:nvPr/>
        </p:nvCxnSpPr>
        <p:spPr>
          <a:xfrm flipV="1">
            <a:off x="4174314" y="3288267"/>
            <a:ext cx="2806591" cy="1407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898B31B0-1653-8F4B-A804-5C53A8E19368}"/>
              </a:ext>
            </a:extLst>
          </p:cNvPr>
          <p:cNvCxnSpPr>
            <a:cxnSpLocks/>
            <a:stCxn id="3" idx="3"/>
            <a:endCxn id="20" idx="1"/>
          </p:cNvCxnSpPr>
          <p:nvPr/>
        </p:nvCxnSpPr>
        <p:spPr>
          <a:xfrm>
            <a:off x="4174314" y="3429000"/>
            <a:ext cx="2855752" cy="10637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07ED0AEB-CA5C-4B36-70CE-6E4E3BC03AE2}"/>
              </a:ext>
            </a:extLst>
          </p:cNvPr>
          <p:cNvSpPr txBox="1"/>
          <p:nvPr/>
        </p:nvSpPr>
        <p:spPr>
          <a:xfrm>
            <a:off x="7030066" y="4309282"/>
            <a:ext cx="1681316" cy="366874"/>
          </a:xfrm>
          <a:prstGeom prst="rect">
            <a:avLst/>
          </a:prstGeom>
          <a:noFill/>
        </p:spPr>
        <p:txBody>
          <a:bodyPr wrap="square">
            <a:spAutoFit/>
          </a:bodyPr>
          <a:lstStyle/>
          <a:p>
            <a:r>
              <a:rPr lang="en-IN" dirty="0" err="1"/>
              <a:t>BaseTool</a:t>
            </a:r>
            <a:r>
              <a:rPr lang="en-IN" dirty="0"/>
              <a:t> </a:t>
            </a:r>
          </a:p>
        </p:txBody>
      </p:sp>
    </p:spTree>
    <p:extLst>
      <p:ext uri="{BB962C8B-B14F-4D97-AF65-F5344CB8AC3E}">
        <p14:creationId xmlns:p14="http://schemas.microsoft.com/office/powerpoint/2010/main" val="287806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childTnLst>
                                </p:cTn>
                              </p:par>
                            </p:childTnLst>
                          </p:cTn>
                        </p:par>
                        <p:par>
                          <p:cTn id="8" fill="hold">
                            <p:stCondLst>
                              <p:cond delay="250"/>
                            </p:stCondLst>
                            <p:childTnLst>
                              <p:par>
                                <p:cTn id="9" presetID="10"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50"/>
                                        <p:tgtEl>
                                          <p:spTgt spid="8"/>
                                        </p:tgtEl>
                                      </p:cBhvr>
                                    </p:animEffect>
                                  </p:childTnLst>
                                </p:cTn>
                              </p:par>
                            </p:childTnLst>
                          </p:cTn>
                        </p:par>
                        <p:par>
                          <p:cTn id="12" fill="hold">
                            <p:stCondLst>
                              <p:cond delay="500"/>
                            </p:stCondLst>
                            <p:childTnLst>
                              <p:par>
                                <p:cTn id="13" presetID="10" presetClass="entr" presetSubtype="0"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250"/>
                                        <p:tgtEl>
                                          <p:spTgt spid="4"/>
                                        </p:tgtEl>
                                      </p:cBhvr>
                                    </p:animEffect>
                                  </p:childTnLst>
                                </p:cTn>
                              </p:par>
                            </p:childTnLst>
                          </p:cTn>
                        </p:par>
                        <p:par>
                          <p:cTn id="16" fill="hold">
                            <p:stCondLst>
                              <p:cond delay="750"/>
                            </p:stCondLst>
                            <p:childTnLst>
                              <p:par>
                                <p:cTn id="17" presetID="10" presetClass="entr" presetSubtype="0" fill="hold"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250"/>
                                        <p:tgtEl>
                                          <p:spTgt spid="10"/>
                                        </p:tgtEl>
                                      </p:cBhvr>
                                    </p:animEffect>
                                  </p:childTnLst>
                                </p:cTn>
                              </p:par>
                            </p:childTnLst>
                          </p:cTn>
                        </p:par>
                        <p:par>
                          <p:cTn id="20" fill="hold">
                            <p:stCondLst>
                              <p:cond delay="1000"/>
                            </p:stCondLst>
                            <p:childTnLst>
                              <p:par>
                                <p:cTn id="21" presetID="10" presetClass="entr" presetSubtype="0" fill="hold" grpId="0"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250"/>
                                        <p:tgtEl>
                                          <p:spTgt spid="5"/>
                                        </p:tgtEl>
                                      </p:cBhvr>
                                    </p:animEffect>
                                  </p:childTnLst>
                                </p:cTn>
                              </p:par>
                            </p:childTnLst>
                          </p:cTn>
                        </p:par>
                        <p:par>
                          <p:cTn id="24" fill="hold">
                            <p:stCondLst>
                              <p:cond delay="1250"/>
                            </p:stCondLst>
                            <p:childTnLst>
                              <p:par>
                                <p:cTn id="25" presetID="10" presetClass="entr" presetSubtype="0" fill="hold" nodeType="after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250"/>
                                        <p:tgtEl>
                                          <p:spTgt spid="12"/>
                                        </p:tgtEl>
                                      </p:cBhvr>
                                    </p:animEffect>
                                  </p:childTnLst>
                                </p:cTn>
                              </p:par>
                            </p:childTnLst>
                          </p:cTn>
                        </p:par>
                        <p:par>
                          <p:cTn id="28" fill="hold">
                            <p:stCondLst>
                              <p:cond delay="1500"/>
                            </p:stCondLst>
                            <p:childTnLst>
                              <p:par>
                                <p:cTn id="29" presetID="10" presetClass="entr" presetSubtype="0" fill="hold" grpId="0" nodeType="after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fade">
                                      <p:cBhvr>
                                        <p:cTn id="31" dur="2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2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891F59-0D3F-864C-ED85-79F2E1B2D73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6B13AA3-BADC-5EE3-F7DF-4495731AF2BD}"/>
              </a:ext>
            </a:extLst>
          </p:cNvPr>
          <p:cNvSpPr txBox="1"/>
          <p:nvPr/>
        </p:nvSpPr>
        <p:spPr>
          <a:xfrm>
            <a:off x="530942" y="474094"/>
            <a:ext cx="6096000" cy="400110"/>
          </a:xfrm>
          <a:prstGeom prst="rect">
            <a:avLst/>
          </a:prstGeom>
          <a:noFill/>
        </p:spPr>
        <p:txBody>
          <a:bodyPr wrap="square">
            <a:spAutoFit/>
          </a:bodyPr>
          <a:lstStyle/>
          <a:p>
            <a:r>
              <a:rPr lang="en-US" sz="2000" dirty="0"/>
              <a:t>custom tool using </a:t>
            </a:r>
            <a:r>
              <a:rPr lang="en-US" sz="2000" i="1" dirty="0">
                <a:solidFill>
                  <a:srgbClr val="FF0000"/>
                </a:solidFill>
              </a:rPr>
              <a:t>@tool decorator </a:t>
            </a:r>
            <a:endParaRPr lang="en-IN" sz="2000" i="1" dirty="0">
              <a:solidFill>
                <a:srgbClr val="FF0000"/>
              </a:solidFill>
            </a:endParaRPr>
          </a:p>
        </p:txBody>
      </p:sp>
      <p:pic>
        <p:nvPicPr>
          <p:cNvPr id="5" name="Picture 4">
            <a:extLst>
              <a:ext uri="{FF2B5EF4-FFF2-40B4-BE49-F238E27FC236}">
                <a16:creationId xmlns:a16="http://schemas.microsoft.com/office/drawing/2014/main" id="{15373F3C-D18B-BA41-E067-C5116B3BCA37}"/>
              </a:ext>
            </a:extLst>
          </p:cNvPr>
          <p:cNvPicPr>
            <a:picLocks noChangeAspect="1"/>
          </p:cNvPicPr>
          <p:nvPr/>
        </p:nvPicPr>
        <p:blipFill>
          <a:blip r:embed="rId2"/>
          <a:stretch>
            <a:fillRect/>
          </a:stretch>
        </p:blipFill>
        <p:spPr>
          <a:xfrm>
            <a:off x="2947548" y="2809572"/>
            <a:ext cx="6296904" cy="2143424"/>
          </a:xfrm>
          <a:prstGeom prst="roundRect">
            <a:avLst>
              <a:gd name="adj" fmla="val 11162"/>
            </a:avLst>
          </a:prstGeom>
        </p:spPr>
      </p:pic>
      <p:sp>
        <p:nvSpPr>
          <p:cNvPr id="9" name="TextBox 8">
            <a:extLst>
              <a:ext uri="{FF2B5EF4-FFF2-40B4-BE49-F238E27FC236}">
                <a16:creationId xmlns:a16="http://schemas.microsoft.com/office/drawing/2014/main" id="{3663B101-4726-D737-94C0-7F21CAAFD395}"/>
              </a:ext>
            </a:extLst>
          </p:cNvPr>
          <p:cNvSpPr txBox="1"/>
          <p:nvPr/>
        </p:nvSpPr>
        <p:spPr>
          <a:xfrm>
            <a:off x="668593" y="2163241"/>
            <a:ext cx="1288026" cy="646331"/>
          </a:xfrm>
          <a:prstGeom prst="rect">
            <a:avLst/>
          </a:prstGeom>
          <a:noFill/>
        </p:spPr>
        <p:txBody>
          <a:bodyPr wrap="square">
            <a:spAutoFit/>
          </a:bodyPr>
          <a:lstStyle/>
          <a:p>
            <a:r>
              <a:rPr lang="en-IN" dirty="0"/>
              <a:t>add </a:t>
            </a:r>
            <a:r>
              <a:rPr lang="en-IN" dirty="0">
                <a:solidFill>
                  <a:srgbClr val="FF0000"/>
                </a:solidFill>
              </a:rPr>
              <a:t>@tool </a:t>
            </a:r>
            <a:r>
              <a:rPr lang="en-IN" dirty="0"/>
              <a:t>decorator</a:t>
            </a:r>
          </a:p>
        </p:txBody>
      </p:sp>
      <p:sp>
        <p:nvSpPr>
          <p:cNvPr id="10" name="Rectangle: Rounded Corners 9">
            <a:extLst>
              <a:ext uri="{FF2B5EF4-FFF2-40B4-BE49-F238E27FC236}">
                <a16:creationId xmlns:a16="http://schemas.microsoft.com/office/drawing/2014/main" id="{9693C818-283D-D391-C7CF-7CD943E8A09D}"/>
              </a:ext>
            </a:extLst>
          </p:cNvPr>
          <p:cNvSpPr/>
          <p:nvPr/>
        </p:nvSpPr>
        <p:spPr>
          <a:xfrm>
            <a:off x="2947547" y="3018503"/>
            <a:ext cx="936193" cy="304799"/>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A30FD77D-A2DD-DF73-85E9-B171236D752A}"/>
              </a:ext>
            </a:extLst>
          </p:cNvPr>
          <p:cNvSpPr txBox="1"/>
          <p:nvPr/>
        </p:nvSpPr>
        <p:spPr>
          <a:xfrm>
            <a:off x="3578942" y="1761687"/>
            <a:ext cx="1622323" cy="369332"/>
          </a:xfrm>
          <a:prstGeom prst="rect">
            <a:avLst/>
          </a:prstGeom>
          <a:noFill/>
        </p:spPr>
        <p:txBody>
          <a:bodyPr wrap="square">
            <a:spAutoFit/>
          </a:bodyPr>
          <a:lstStyle/>
          <a:p>
            <a:r>
              <a:rPr lang="en-IN" dirty="0"/>
              <a:t>add </a:t>
            </a:r>
            <a:r>
              <a:rPr lang="en-IN" dirty="0">
                <a:solidFill>
                  <a:srgbClr val="FF0000"/>
                </a:solidFill>
              </a:rPr>
              <a:t>type hints</a:t>
            </a:r>
            <a:endParaRPr lang="en-IN" dirty="0"/>
          </a:p>
        </p:txBody>
      </p:sp>
      <p:sp>
        <p:nvSpPr>
          <p:cNvPr id="13" name="Rectangle: Rounded Corners 12">
            <a:extLst>
              <a:ext uri="{FF2B5EF4-FFF2-40B4-BE49-F238E27FC236}">
                <a16:creationId xmlns:a16="http://schemas.microsoft.com/office/drawing/2014/main" id="{74CE21DF-7F78-C4AB-AA3A-343F7AD2EC33}"/>
              </a:ext>
            </a:extLst>
          </p:cNvPr>
          <p:cNvSpPr/>
          <p:nvPr/>
        </p:nvSpPr>
        <p:spPr>
          <a:xfrm>
            <a:off x="4496127" y="3276600"/>
            <a:ext cx="2651925" cy="304799"/>
          </a:xfrm>
          <a:prstGeom prst="round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5" name="Straight Arrow Connector 14">
            <a:extLst>
              <a:ext uri="{FF2B5EF4-FFF2-40B4-BE49-F238E27FC236}">
                <a16:creationId xmlns:a16="http://schemas.microsoft.com/office/drawing/2014/main" id="{707B7B79-BA87-9998-C7A7-82DC5B7210BE}"/>
              </a:ext>
            </a:extLst>
          </p:cNvPr>
          <p:cNvCxnSpPr>
            <a:stCxn id="9" idx="3"/>
            <a:endCxn id="10" idx="1"/>
          </p:cNvCxnSpPr>
          <p:nvPr/>
        </p:nvCxnSpPr>
        <p:spPr>
          <a:xfrm>
            <a:off x="1956619" y="2486407"/>
            <a:ext cx="990928" cy="6844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BFAF6F16-F462-7543-07D4-41BC70C9862A}"/>
              </a:ext>
            </a:extLst>
          </p:cNvPr>
          <p:cNvCxnSpPr>
            <a:stCxn id="12" idx="2"/>
            <a:endCxn id="13" idx="0"/>
          </p:cNvCxnSpPr>
          <p:nvPr/>
        </p:nvCxnSpPr>
        <p:spPr>
          <a:xfrm>
            <a:off x="4390104" y="2131019"/>
            <a:ext cx="1431986" cy="11455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E31D9F76-48E9-A4D0-790F-D2D5B6D1396F}"/>
              </a:ext>
            </a:extLst>
          </p:cNvPr>
          <p:cNvSpPr txBox="1"/>
          <p:nvPr/>
        </p:nvSpPr>
        <p:spPr>
          <a:xfrm>
            <a:off x="909484" y="3913943"/>
            <a:ext cx="1622323" cy="369332"/>
          </a:xfrm>
          <a:prstGeom prst="rect">
            <a:avLst/>
          </a:prstGeom>
          <a:noFill/>
        </p:spPr>
        <p:txBody>
          <a:bodyPr wrap="square">
            <a:spAutoFit/>
          </a:bodyPr>
          <a:lstStyle/>
          <a:p>
            <a:r>
              <a:rPr lang="en-IN" dirty="0"/>
              <a:t>add </a:t>
            </a:r>
            <a:r>
              <a:rPr lang="en-IN" dirty="0">
                <a:solidFill>
                  <a:srgbClr val="FF0000"/>
                </a:solidFill>
              </a:rPr>
              <a:t>duck string</a:t>
            </a:r>
            <a:endParaRPr lang="en-IN" dirty="0"/>
          </a:p>
        </p:txBody>
      </p:sp>
      <p:sp>
        <p:nvSpPr>
          <p:cNvPr id="21" name="Rectangle: Rounded Corners 20">
            <a:extLst>
              <a:ext uri="{FF2B5EF4-FFF2-40B4-BE49-F238E27FC236}">
                <a16:creationId xmlns:a16="http://schemas.microsoft.com/office/drawing/2014/main" id="{2A78FFE6-42D2-C448-CF51-964A1D1E1B71}"/>
              </a:ext>
            </a:extLst>
          </p:cNvPr>
          <p:cNvSpPr/>
          <p:nvPr/>
        </p:nvSpPr>
        <p:spPr>
          <a:xfrm>
            <a:off x="3262179" y="3503897"/>
            <a:ext cx="5901486" cy="900955"/>
          </a:xfrm>
          <a:prstGeom prst="roundRect">
            <a:avLst/>
          </a:prstGeom>
          <a:noFill/>
          <a:ln>
            <a:solidFill>
              <a:schemeClr val="accent6">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4" name="Straight Arrow Connector 23">
            <a:extLst>
              <a:ext uri="{FF2B5EF4-FFF2-40B4-BE49-F238E27FC236}">
                <a16:creationId xmlns:a16="http://schemas.microsoft.com/office/drawing/2014/main" id="{4ACEDE69-9265-8D89-305A-0BEB2C292988}"/>
              </a:ext>
            </a:extLst>
          </p:cNvPr>
          <p:cNvCxnSpPr>
            <a:stCxn id="20" idx="3"/>
            <a:endCxn id="21" idx="1"/>
          </p:cNvCxnSpPr>
          <p:nvPr/>
        </p:nvCxnSpPr>
        <p:spPr>
          <a:xfrm flipV="1">
            <a:off x="2531807" y="3954375"/>
            <a:ext cx="730372" cy="1442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939A30C1-D8B9-3F57-ED77-C81EAB7012E7}"/>
              </a:ext>
            </a:extLst>
          </p:cNvPr>
          <p:cNvCxnSpPr/>
          <p:nvPr/>
        </p:nvCxnSpPr>
        <p:spPr>
          <a:xfrm flipV="1">
            <a:off x="4129548" y="1761687"/>
            <a:ext cx="2133600" cy="15616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106A1B14-E9E5-DA9B-00E8-1F9355EE1226}"/>
              </a:ext>
            </a:extLst>
          </p:cNvPr>
          <p:cNvSpPr txBox="1"/>
          <p:nvPr/>
        </p:nvSpPr>
        <p:spPr>
          <a:xfrm>
            <a:off x="5865309" y="1422411"/>
            <a:ext cx="3111543" cy="369332"/>
          </a:xfrm>
          <a:prstGeom prst="rect">
            <a:avLst/>
          </a:prstGeom>
          <a:noFill/>
        </p:spPr>
        <p:txBody>
          <a:bodyPr wrap="square">
            <a:spAutoFit/>
          </a:bodyPr>
          <a:lstStyle/>
          <a:p>
            <a:r>
              <a:rPr lang="en-IN" dirty="0"/>
              <a:t>Tool name: </a:t>
            </a:r>
            <a:r>
              <a:rPr lang="en-IN" dirty="0" err="1"/>
              <a:t>add_numbers</a:t>
            </a:r>
            <a:endParaRPr lang="en-IN" dirty="0"/>
          </a:p>
        </p:txBody>
      </p:sp>
      <p:pic>
        <p:nvPicPr>
          <p:cNvPr id="31" name="Picture 30">
            <a:extLst>
              <a:ext uri="{FF2B5EF4-FFF2-40B4-BE49-F238E27FC236}">
                <a16:creationId xmlns:a16="http://schemas.microsoft.com/office/drawing/2014/main" id="{BD87136B-D229-BD6C-7EDA-7DBC49E6C1DD}"/>
              </a:ext>
            </a:extLst>
          </p:cNvPr>
          <p:cNvPicPr>
            <a:picLocks noChangeAspect="1"/>
          </p:cNvPicPr>
          <p:nvPr/>
        </p:nvPicPr>
        <p:blipFill>
          <a:blip r:embed="rId3"/>
          <a:stretch>
            <a:fillRect/>
          </a:stretch>
        </p:blipFill>
        <p:spPr>
          <a:xfrm>
            <a:off x="1980625" y="5584069"/>
            <a:ext cx="8230749" cy="876422"/>
          </a:xfrm>
          <a:prstGeom prst="roundRect">
            <a:avLst>
              <a:gd name="adj" fmla="val 12180"/>
            </a:avLst>
          </a:prstGeom>
        </p:spPr>
      </p:pic>
      <p:sp>
        <p:nvSpPr>
          <p:cNvPr id="32" name="TextBox 31">
            <a:extLst>
              <a:ext uri="{FF2B5EF4-FFF2-40B4-BE49-F238E27FC236}">
                <a16:creationId xmlns:a16="http://schemas.microsoft.com/office/drawing/2014/main" id="{DBF3D910-1C82-D2C9-4A95-6C1DFE057CCD}"/>
              </a:ext>
            </a:extLst>
          </p:cNvPr>
          <p:cNvSpPr txBox="1"/>
          <p:nvPr/>
        </p:nvSpPr>
        <p:spPr>
          <a:xfrm>
            <a:off x="157316" y="5202980"/>
            <a:ext cx="2187907" cy="369332"/>
          </a:xfrm>
          <a:prstGeom prst="rect">
            <a:avLst/>
          </a:prstGeom>
          <a:noFill/>
        </p:spPr>
        <p:txBody>
          <a:bodyPr wrap="none" rtlCol="0">
            <a:spAutoFit/>
          </a:bodyPr>
          <a:lstStyle/>
          <a:p>
            <a:r>
              <a:rPr lang="en-US" dirty="0"/>
              <a:t>What does LLM see?</a:t>
            </a:r>
            <a:endParaRPr lang="en-IN" dirty="0"/>
          </a:p>
        </p:txBody>
      </p:sp>
    </p:spTree>
    <p:extLst>
      <p:ext uri="{BB962C8B-B14F-4D97-AF65-F5344CB8AC3E}">
        <p14:creationId xmlns:p14="http://schemas.microsoft.com/office/powerpoint/2010/main" val="1047630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childTnLst>
                                </p:cTn>
                              </p:par>
                            </p:childTnLst>
                          </p:cTn>
                        </p:par>
                        <p:par>
                          <p:cTn id="8" fill="hold">
                            <p:stCondLst>
                              <p:cond delay="250"/>
                            </p:stCondLst>
                            <p:childTnLst>
                              <p:par>
                                <p:cTn id="9" presetID="10" presetClass="entr" presetSubtype="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250"/>
                                        <p:tgtEl>
                                          <p:spTgt spid="5"/>
                                        </p:tgtEl>
                                      </p:cBhvr>
                                    </p:animEffect>
                                  </p:childTnLst>
                                </p:cTn>
                              </p:par>
                            </p:childTnLst>
                          </p:cTn>
                        </p:par>
                        <p:par>
                          <p:cTn id="12" fill="hold">
                            <p:stCondLst>
                              <p:cond delay="500"/>
                            </p:stCondLst>
                            <p:childTnLst>
                              <p:par>
                                <p:cTn id="13" presetID="10" presetClass="entr" presetSubtype="0" fill="hold" grpId="0"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childTnLst>
                          </p:cTn>
                        </p:par>
                        <p:par>
                          <p:cTn id="16" fill="hold">
                            <p:stCondLst>
                              <p:cond delay="750"/>
                            </p:stCondLst>
                            <p:childTnLst>
                              <p:par>
                                <p:cTn id="17" presetID="10" presetClass="entr" presetSubtype="0" fill="hold" nodeType="after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250"/>
                                        <p:tgtEl>
                                          <p:spTgt spid="15"/>
                                        </p:tgtEl>
                                      </p:cBhvr>
                                    </p:animEffect>
                                  </p:childTnLst>
                                </p:cTn>
                              </p:par>
                            </p:childTnLst>
                          </p:cTn>
                        </p:par>
                        <p:par>
                          <p:cTn id="20" fill="hold">
                            <p:stCondLst>
                              <p:cond delay="1000"/>
                            </p:stCondLst>
                            <p:childTnLst>
                              <p:par>
                                <p:cTn id="21" presetID="10" presetClass="entr" presetSubtype="0" fill="hold" grpId="0"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250"/>
                                        <p:tgtEl>
                                          <p:spTgt spid="10"/>
                                        </p:tgtEl>
                                      </p:cBhvr>
                                    </p:animEffect>
                                  </p:childTnLst>
                                </p:cTn>
                              </p:par>
                            </p:childTnLst>
                          </p:cTn>
                        </p:par>
                        <p:par>
                          <p:cTn id="24" fill="hold">
                            <p:stCondLst>
                              <p:cond delay="1250"/>
                            </p:stCondLst>
                            <p:childTnLst>
                              <p:par>
                                <p:cTn id="25" presetID="10" presetClass="entr" presetSubtype="0" fill="hold" grpId="0" nodeType="afterEffect">
                                  <p:stCondLst>
                                    <p:cond delay="25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250"/>
                                        <p:tgtEl>
                                          <p:spTgt spid="12"/>
                                        </p:tgtEl>
                                      </p:cBhvr>
                                    </p:animEffect>
                                  </p:childTnLst>
                                </p:cTn>
                              </p:par>
                            </p:childTnLst>
                          </p:cTn>
                        </p:par>
                        <p:par>
                          <p:cTn id="28" fill="hold">
                            <p:stCondLst>
                              <p:cond delay="1750"/>
                            </p:stCondLst>
                            <p:childTnLst>
                              <p:par>
                                <p:cTn id="29" presetID="10" presetClass="entr" presetSubtype="0" fill="hold" nodeType="after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250"/>
                                        <p:tgtEl>
                                          <p:spTgt spid="17"/>
                                        </p:tgtEl>
                                      </p:cBhvr>
                                    </p:animEffect>
                                  </p:childTnLst>
                                </p:cTn>
                              </p:par>
                            </p:childTnLst>
                          </p:cTn>
                        </p:par>
                        <p:par>
                          <p:cTn id="32" fill="hold">
                            <p:stCondLst>
                              <p:cond delay="2000"/>
                            </p:stCondLst>
                            <p:childTnLst>
                              <p:par>
                                <p:cTn id="33" presetID="10" presetClass="entr" presetSubtype="0" fill="hold" grpId="0" nodeType="after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250"/>
                                        <p:tgtEl>
                                          <p:spTgt spid="13"/>
                                        </p:tgtEl>
                                      </p:cBhvr>
                                    </p:animEffect>
                                  </p:childTnLst>
                                </p:cTn>
                              </p:par>
                            </p:childTnLst>
                          </p:cTn>
                        </p:par>
                        <p:par>
                          <p:cTn id="36" fill="hold">
                            <p:stCondLst>
                              <p:cond delay="2250"/>
                            </p:stCondLst>
                            <p:childTnLst>
                              <p:par>
                                <p:cTn id="37" presetID="10" presetClass="entr" presetSubtype="0" fill="hold" grpId="0" nodeType="afterEffect">
                                  <p:stCondLst>
                                    <p:cond delay="250"/>
                                  </p:stCondLst>
                                  <p:childTnLst>
                                    <p:set>
                                      <p:cBhvr>
                                        <p:cTn id="38" dur="1" fill="hold">
                                          <p:stCondLst>
                                            <p:cond delay="0"/>
                                          </p:stCondLst>
                                        </p:cTn>
                                        <p:tgtEl>
                                          <p:spTgt spid="20"/>
                                        </p:tgtEl>
                                        <p:attrNameLst>
                                          <p:attrName>style.visibility</p:attrName>
                                        </p:attrNameLst>
                                      </p:cBhvr>
                                      <p:to>
                                        <p:strVal val="visible"/>
                                      </p:to>
                                    </p:set>
                                    <p:animEffect transition="in" filter="fade">
                                      <p:cBhvr>
                                        <p:cTn id="39" dur="250"/>
                                        <p:tgtEl>
                                          <p:spTgt spid="20"/>
                                        </p:tgtEl>
                                      </p:cBhvr>
                                    </p:animEffect>
                                  </p:childTnLst>
                                </p:cTn>
                              </p:par>
                            </p:childTnLst>
                          </p:cTn>
                        </p:par>
                        <p:par>
                          <p:cTn id="40" fill="hold">
                            <p:stCondLst>
                              <p:cond delay="2750"/>
                            </p:stCondLst>
                            <p:childTnLst>
                              <p:par>
                                <p:cTn id="41" presetID="10" presetClass="entr" presetSubtype="0" fill="hold" nodeType="afterEffect">
                                  <p:stCondLst>
                                    <p:cond delay="0"/>
                                  </p:stCondLst>
                                  <p:childTnLst>
                                    <p:set>
                                      <p:cBhvr>
                                        <p:cTn id="42" dur="1" fill="hold">
                                          <p:stCondLst>
                                            <p:cond delay="0"/>
                                          </p:stCondLst>
                                        </p:cTn>
                                        <p:tgtEl>
                                          <p:spTgt spid="24"/>
                                        </p:tgtEl>
                                        <p:attrNameLst>
                                          <p:attrName>style.visibility</p:attrName>
                                        </p:attrNameLst>
                                      </p:cBhvr>
                                      <p:to>
                                        <p:strVal val="visible"/>
                                      </p:to>
                                    </p:set>
                                    <p:animEffect transition="in" filter="fade">
                                      <p:cBhvr>
                                        <p:cTn id="43" dur="250"/>
                                        <p:tgtEl>
                                          <p:spTgt spid="24"/>
                                        </p:tgtEl>
                                      </p:cBhvr>
                                    </p:animEffect>
                                  </p:childTnLst>
                                </p:cTn>
                              </p:par>
                            </p:childTnLst>
                          </p:cTn>
                        </p:par>
                        <p:par>
                          <p:cTn id="44" fill="hold">
                            <p:stCondLst>
                              <p:cond delay="3000"/>
                            </p:stCondLst>
                            <p:childTnLst>
                              <p:par>
                                <p:cTn id="45" presetID="10" presetClass="entr" presetSubtype="0" fill="hold" grpId="0" nodeType="after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7" dur="250"/>
                                        <p:tgtEl>
                                          <p:spTgt spid="21"/>
                                        </p:tgtEl>
                                      </p:cBhvr>
                                    </p:animEffect>
                                  </p:childTnLst>
                                </p:cTn>
                              </p:par>
                            </p:childTnLst>
                          </p:cTn>
                        </p:par>
                        <p:par>
                          <p:cTn id="48" fill="hold">
                            <p:stCondLst>
                              <p:cond delay="3250"/>
                            </p:stCondLst>
                            <p:childTnLst>
                              <p:par>
                                <p:cTn id="49" presetID="10" presetClass="entr" presetSubtype="0" fill="hold" nodeType="afterEffect">
                                  <p:stCondLst>
                                    <p:cond delay="0"/>
                                  </p:stCondLst>
                                  <p:childTnLst>
                                    <p:set>
                                      <p:cBhvr>
                                        <p:cTn id="50" dur="1" fill="hold">
                                          <p:stCondLst>
                                            <p:cond delay="0"/>
                                          </p:stCondLst>
                                        </p:cTn>
                                        <p:tgtEl>
                                          <p:spTgt spid="26"/>
                                        </p:tgtEl>
                                        <p:attrNameLst>
                                          <p:attrName>style.visibility</p:attrName>
                                        </p:attrNameLst>
                                      </p:cBhvr>
                                      <p:to>
                                        <p:strVal val="visible"/>
                                      </p:to>
                                    </p:set>
                                    <p:animEffect transition="in" filter="fade">
                                      <p:cBhvr>
                                        <p:cTn id="51" dur="250"/>
                                        <p:tgtEl>
                                          <p:spTgt spid="26"/>
                                        </p:tgtEl>
                                      </p:cBhvr>
                                    </p:animEffect>
                                  </p:childTnLst>
                                </p:cTn>
                              </p:par>
                            </p:childTnLst>
                          </p:cTn>
                        </p:par>
                        <p:par>
                          <p:cTn id="52" fill="hold">
                            <p:stCondLst>
                              <p:cond delay="3500"/>
                            </p:stCondLst>
                            <p:childTnLst>
                              <p:par>
                                <p:cTn id="53" presetID="10" presetClass="entr" presetSubtype="0" fill="hold" grpId="0" nodeType="afterEffect">
                                  <p:stCondLst>
                                    <p:cond delay="0"/>
                                  </p:stCondLst>
                                  <p:childTnLst>
                                    <p:set>
                                      <p:cBhvr>
                                        <p:cTn id="54" dur="1" fill="hold">
                                          <p:stCondLst>
                                            <p:cond delay="0"/>
                                          </p:stCondLst>
                                        </p:cTn>
                                        <p:tgtEl>
                                          <p:spTgt spid="29"/>
                                        </p:tgtEl>
                                        <p:attrNameLst>
                                          <p:attrName>style.visibility</p:attrName>
                                        </p:attrNameLst>
                                      </p:cBhvr>
                                      <p:to>
                                        <p:strVal val="visible"/>
                                      </p:to>
                                    </p:set>
                                    <p:animEffect transition="in" filter="fade">
                                      <p:cBhvr>
                                        <p:cTn id="55" dur="250"/>
                                        <p:tgtEl>
                                          <p:spTgt spid="29"/>
                                        </p:tgtEl>
                                      </p:cBhvr>
                                    </p:animEffect>
                                  </p:childTnLst>
                                </p:cTn>
                              </p:par>
                            </p:childTnLst>
                          </p:cTn>
                        </p:par>
                        <p:par>
                          <p:cTn id="56" fill="hold">
                            <p:stCondLst>
                              <p:cond delay="3750"/>
                            </p:stCondLst>
                            <p:childTnLst>
                              <p:par>
                                <p:cTn id="57" presetID="10" presetClass="entr" presetSubtype="0" fill="hold" grpId="0" nodeType="afterEffect">
                                  <p:stCondLst>
                                    <p:cond delay="500"/>
                                  </p:stCondLst>
                                  <p:childTnLst>
                                    <p:set>
                                      <p:cBhvr>
                                        <p:cTn id="58" dur="1" fill="hold">
                                          <p:stCondLst>
                                            <p:cond delay="0"/>
                                          </p:stCondLst>
                                        </p:cTn>
                                        <p:tgtEl>
                                          <p:spTgt spid="32"/>
                                        </p:tgtEl>
                                        <p:attrNameLst>
                                          <p:attrName>style.visibility</p:attrName>
                                        </p:attrNameLst>
                                      </p:cBhvr>
                                      <p:to>
                                        <p:strVal val="visible"/>
                                      </p:to>
                                    </p:set>
                                    <p:animEffect transition="in" filter="fade">
                                      <p:cBhvr>
                                        <p:cTn id="59" dur="250"/>
                                        <p:tgtEl>
                                          <p:spTgt spid="32"/>
                                        </p:tgtEl>
                                      </p:cBhvr>
                                    </p:animEffect>
                                  </p:childTnLst>
                                </p:cTn>
                              </p:par>
                            </p:childTnLst>
                          </p:cTn>
                        </p:par>
                        <p:par>
                          <p:cTn id="60" fill="hold">
                            <p:stCondLst>
                              <p:cond delay="4500"/>
                            </p:stCondLst>
                            <p:childTnLst>
                              <p:par>
                                <p:cTn id="61" presetID="10" presetClass="entr" presetSubtype="0" fill="hold" nodeType="afterEffect">
                                  <p:stCondLst>
                                    <p:cond delay="500"/>
                                  </p:stCondLst>
                                  <p:childTnLst>
                                    <p:set>
                                      <p:cBhvr>
                                        <p:cTn id="62" dur="1" fill="hold">
                                          <p:stCondLst>
                                            <p:cond delay="0"/>
                                          </p:stCondLst>
                                        </p:cTn>
                                        <p:tgtEl>
                                          <p:spTgt spid="31"/>
                                        </p:tgtEl>
                                        <p:attrNameLst>
                                          <p:attrName>style.visibility</p:attrName>
                                        </p:attrNameLst>
                                      </p:cBhvr>
                                      <p:to>
                                        <p:strVal val="visible"/>
                                      </p:to>
                                    </p:set>
                                    <p:animEffect transition="in" filter="fade">
                                      <p:cBhvr>
                                        <p:cTn id="63" dur="25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9" grpId="0"/>
      <p:bldP spid="10" grpId="0" animBg="1"/>
      <p:bldP spid="12" grpId="0"/>
      <p:bldP spid="13" grpId="0" animBg="1"/>
      <p:bldP spid="20" grpId="0"/>
      <p:bldP spid="21" grpId="0" animBg="1"/>
      <p:bldP spid="29" grpId="0"/>
      <p:bldP spid="3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EB6135-F36D-516A-D1A2-22B2917C48E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DC894E8-7B9F-D53A-78B6-057DC7068718}"/>
              </a:ext>
            </a:extLst>
          </p:cNvPr>
          <p:cNvSpPr txBox="1"/>
          <p:nvPr/>
        </p:nvSpPr>
        <p:spPr>
          <a:xfrm>
            <a:off x="1032389" y="665201"/>
            <a:ext cx="5063611" cy="369332"/>
          </a:xfrm>
          <a:prstGeom prst="rect">
            <a:avLst/>
          </a:prstGeom>
          <a:noFill/>
        </p:spPr>
        <p:txBody>
          <a:bodyPr wrap="square" rtlCol="0">
            <a:spAutoFit/>
          </a:bodyPr>
          <a:lstStyle/>
          <a:p>
            <a:r>
              <a:rPr lang="en-US" dirty="0"/>
              <a:t>custom tool using  </a:t>
            </a:r>
            <a:r>
              <a:rPr lang="en-IN" i="1" dirty="0" err="1">
                <a:solidFill>
                  <a:srgbClr val="FF0000"/>
                </a:solidFill>
              </a:rPr>
              <a:t>StructuredTool</a:t>
            </a:r>
            <a:r>
              <a:rPr lang="en-IN" i="1" dirty="0">
                <a:solidFill>
                  <a:srgbClr val="FF0000"/>
                </a:solidFill>
              </a:rPr>
              <a:t> + </a:t>
            </a:r>
            <a:r>
              <a:rPr lang="en-IN" i="1" dirty="0" err="1">
                <a:solidFill>
                  <a:srgbClr val="FF0000"/>
                </a:solidFill>
              </a:rPr>
              <a:t>pydantic</a:t>
            </a:r>
            <a:endParaRPr lang="en-IN" i="1" dirty="0">
              <a:solidFill>
                <a:srgbClr val="FF0000"/>
              </a:solidFill>
            </a:endParaRPr>
          </a:p>
        </p:txBody>
      </p:sp>
      <p:pic>
        <p:nvPicPr>
          <p:cNvPr id="4" name="Picture 3">
            <a:extLst>
              <a:ext uri="{FF2B5EF4-FFF2-40B4-BE49-F238E27FC236}">
                <a16:creationId xmlns:a16="http://schemas.microsoft.com/office/drawing/2014/main" id="{33854BBB-1A29-8EF3-D055-A99E1069A22C}"/>
              </a:ext>
            </a:extLst>
          </p:cNvPr>
          <p:cNvPicPr>
            <a:picLocks noChangeAspect="1"/>
          </p:cNvPicPr>
          <p:nvPr/>
        </p:nvPicPr>
        <p:blipFill>
          <a:blip r:embed="rId2"/>
          <a:stretch>
            <a:fillRect/>
          </a:stretch>
        </p:blipFill>
        <p:spPr>
          <a:xfrm>
            <a:off x="2440731" y="1892247"/>
            <a:ext cx="8411749" cy="4410691"/>
          </a:xfrm>
          <a:prstGeom prst="rect">
            <a:avLst/>
          </a:prstGeom>
        </p:spPr>
      </p:pic>
      <p:sp>
        <p:nvSpPr>
          <p:cNvPr id="5" name="TextBox 4">
            <a:extLst>
              <a:ext uri="{FF2B5EF4-FFF2-40B4-BE49-F238E27FC236}">
                <a16:creationId xmlns:a16="http://schemas.microsoft.com/office/drawing/2014/main" id="{BBF3CABF-658E-C042-A274-F263E1D992D2}"/>
              </a:ext>
            </a:extLst>
          </p:cNvPr>
          <p:cNvSpPr txBox="1"/>
          <p:nvPr/>
        </p:nvSpPr>
        <p:spPr>
          <a:xfrm>
            <a:off x="245805" y="1199680"/>
            <a:ext cx="983227" cy="646331"/>
          </a:xfrm>
          <a:prstGeom prst="rect">
            <a:avLst/>
          </a:prstGeom>
          <a:noFill/>
        </p:spPr>
        <p:txBody>
          <a:bodyPr wrap="square">
            <a:spAutoFit/>
          </a:bodyPr>
          <a:lstStyle/>
          <a:p>
            <a:r>
              <a:rPr lang="en-IN" dirty="0" err="1">
                <a:solidFill>
                  <a:srgbClr val="FF0000"/>
                </a:solidFill>
              </a:rPr>
              <a:t>Pydentic</a:t>
            </a:r>
            <a:r>
              <a:rPr lang="en-IN" dirty="0">
                <a:solidFill>
                  <a:srgbClr val="FF0000"/>
                </a:solidFill>
              </a:rPr>
              <a:t> schema</a:t>
            </a:r>
          </a:p>
        </p:txBody>
      </p:sp>
      <p:sp>
        <p:nvSpPr>
          <p:cNvPr id="6" name="Rectangle: Rounded Corners 5">
            <a:extLst>
              <a:ext uri="{FF2B5EF4-FFF2-40B4-BE49-F238E27FC236}">
                <a16:creationId xmlns:a16="http://schemas.microsoft.com/office/drawing/2014/main" id="{9C630FD5-2E01-208E-8912-A840D5A21ABE}"/>
              </a:ext>
            </a:extLst>
          </p:cNvPr>
          <p:cNvSpPr/>
          <p:nvPr/>
        </p:nvSpPr>
        <p:spPr>
          <a:xfrm>
            <a:off x="2524759" y="2054942"/>
            <a:ext cx="5842493" cy="983226"/>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7" name="Straight Arrow Connector 6">
            <a:extLst>
              <a:ext uri="{FF2B5EF4-FFF2-40B4-BE49-F238E27FC236}">
                <a16:creationId xmlns:a16="http://schemas.microsoft.com/office/drawing/2014/main" id="{041D8102-2998-722F-E1EA-A1CD79DBD018}"/>
              </a:ext>
            </a:extLst>
          </p:cNvPr>
          <p:cNvCxnSpPr>
            <a:cxnSpLocks/>
            <a:stCxn id="5" idx="3"/>
            <a:endCxn id="6" idx="1"/>
          </p:cNvCxnSpPr>
          <p:nvPr/>
        </p:nvCxnSpPr>
        <p:spPr>
          <a:xfrm>
            <a:off x="1229032" y="1522846"/>
            <a:ext cx="1295727" cy="10237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Rectangle: Rounded Corners 8">
            <a:extLst>
              <a:ext uri="{FF2B5EF4-FFF2-40B4-BE49-F238E27FC236}">
                <a16:creationId xmlns:a16="http://schemas.microsoft.com/office/drawing/2014/main" id="{07A9CD16-E46D-3A71-C80B-740FC508F4AC}"/>
              </a:ext>
            </a:extLst>
          </p:cNvPr>
          <p:cNvSpPr/>
          <p:nvPr/>
        </p:nvSpPr>
        <p:spPr>
          <a:xfrm>
            <a:off x="2298616" y="3404268"/>
            <a:ext cx="5842494" cy="1384041"/>
          </a:xfrm>
          <a:prstGeom prst="roundRect">
            <a:avLst/>
          </a:prstGeom>
          <a:no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A92137A2-F5D2-DB3A-B5DD-B13BAF9B8637}"/>
              </a:ext>
            </a:extLst>
          </p:cNvPr>
          <p:cNvSpPr txBox="1"/>
          <p:nvPr/>
        </p:nvSpPr>
        <p:spPr>
          <a:xfrm>
            <a:off x="245805" y="3773122"/>
            <a:ext cx="983227" cy="646331"/>
          </a:xfrm>
          <a:prstGeom prst="rect">
            <a:avLst/>
          </a:prstGeom>
          <a:noFill/>
        </p:spPr>
        <p:txBody>
          <a:bodyPr wrap="square">
            <a:spAutoFit/>
          </a:bodyPr>
          <a:lstStyle/>
          <a:p>
            <a:r>
              <a:rPr lang="en-IN" dirty="0">
                <a:solidFill>
                  <a:srgbClr val="FF0000"/>
                </a:solidFill>
              </a:rPr>
              <a:t>Custom function</a:t>
            </a:r>
          </a:p>
        </p:txBody>
      </p:sp>
      <p:cxnSp>
        <p:nvCxnSpPr>
          <p:cNvPr id="12" name="Straight Arrow Connector 11">
            <a:extLst>
              <a:ext uri="{FF2B5EF4-FFF2-40B4-BE49-F238E27FC236}">
                <a16:creationId xmlns:a16="http://schemas.microsoft.com/office/drawing/2014/main" id="{B983EF0D-6852-3BF2-912B-292749B5616B}"/>
              </a:ext>
            </a:extLst>
          </p:cNvPr>
          <p:cNvCxnSpPr>
            <a:cxnSpLocks/>
            <a:stCxn id="10" idx="3"/>
            <a:endCxn id="9" idx="1"/>
          </p:cNvCxnSpPr>
          <p:nvPr/>
        </p:nvCxnSpPr>
        <p:spPr>
          <a:xfrm>
            <a:off x="1229032" y="4096288"/>
            <a:ext cx="1069584"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Rectangle: Rounded Corners 14">
            <a:extLst>
              <a:ext uri="{FF2B5EF4-FFF2-40B4-BE49-F238E27FC236}">
                <a16:creationId xmlns:a16="http://schemas.microsoft.com/office/drawing/2014/main" id="{1B0BF073-1B51-0DF3-8F72-B53B125A7AB1}"/>
              </a:ext>
            </a:extLst>
          </p:cNvPr>
          <p:cNvSpPr/>
          <p:nvPr/>
        </p:nvSpPr>
        <p:spPr>
          <a:xfrm>
            <a:off x="2298616" y="4853603"/>
            <a:ext cx="5645849" cy="1384041"/>
          </a:xfrm>
          <a:prstGeom prst="round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TextBox 15">
            <a:extLst>
              <a:ext uri="{FF2B5EF4-FFF2-40B4-BE49-F238E27FC236}">
                <a16:creationId xmlns:a16="http://schemas.microsoft.com/office/drawing/2014/main" id="{1B485F0F-D3E6-B607-B61B-7B03EE1D023F}"/>
              </a:ext>
            </a:extLst>
          </p:cNvPr>
          <p:cNvSpPr txBox="1"/>
          <p:nvPr/>
        </p:nvSpPr>
        <p:spPr>
          <a:xfrm>
            <a:off x="245806" y="5222457"/>
            <a:ext cx="1641988" cy="369332"/>
          </a:xfrm>
          <a:prstGeom prst="rect">
            <a:avLst/>
          </a:prstGeom>
          <a:noFill/>
        </p:spPr>
        <p:txBody>
          <a:bodyPr wrap="square">
            <a:spAutoFit/>
          </a:bodyPr>
          <a:lstStyle/>
          <a:p>
            <a:r>
              <a:rPr lang="en-IN" dirty="0" err="1">
                <a:solidFill>
                  <a:srgbClr val="FF0000"/>
                </a:solidFill>
              </a:rPr>
              <a:t>StructuredTool</a:t>
            </a:r>
            <a:endParaRPr lang="en-IN" dirty="0">
              <a:solidFill>
                <a:srgbClr val="FF0000"/>
              </a:solidFill>
            </a:endParaRPr>
          </a:p>
        </p:txBody>
      </p:sp>
      <p:cxnSp>
        <p:nvCxnSpPr>
          <p:cNvPr id="17" name="Straight Arrow Connector 16">
            <a:extLst>
              <a:ext uri="{FF2B5EF4-FFF2-40B4-BE49-F238E27FC236}">
                <a16:creationId xmlns:a16="http://schemas.microsoft.com/office/drawing/2014/main" id="{3BF522D3-EEC4-F642-5EDD-17BDF4923002}"/>
              </a:ext>
            </a:extLst>
          </p:cNvPr>
          <p:cNvCxnSpPr>
            <a:cxnSpLocks/>
            <a:stCxn id="16" idx="3"/>
            <a:endCxn id="15" idx="1"/>
          </p:cNvCxnSpPr>
          <p:nvPr/>
        </p:nvCxnSpPr>
        <p:spPr>
          <a:xfrm>
            <a:off x="1887794" y="5407123"/>
            <a:ext cx="410822" cy="1385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D61959B2-7309-FE21-7C79-C4F3F65D19A1}"/>
              </a:ext>
            </a:extLst>
          </p:cNvPr>
          <p:cNvCxnSpPr/>
          <p:nvPr/>
        </p:nvCxnSpPr>
        <p:spPr>
          <a:xfrm>
            <a:off x="3057832" y="2202426"/>
            <a:ext cx="1052052" cy="3637935"/>
          </a:xfrm>
          <a:prstGeom prst="straightConnector1">
            <a:avLst/>
          </a:prstGeom>
          <a:ln>
            <a:solidFill>
              <a:srgbClr val="E40CD5"/>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484888C6-5558-0B25-E7CC-6AE7FE6921C4}"/>
              </a:ext>
            </a:extLst>
          </p:cNvPr>
          <p:cNvCxnSpPr>
            <a:cxnSpLocks/>
          </p:cNvCxnSpPr>
          <p:nvPr/>
        </p:nvCxnSpPr>
        <p:spPr>
          <a:xfrm>
            <a:off x="3126403" y="3535846"/>
            <a:ext cx="310880" cy="1618563"/>
          </a:xfrm>
          <a:prstGeom prst="straightConnector1">
            <a:avLst/>
          </a:prstGeom>
          <a:ln>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2407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childTnLst>
                                </p:cTn>
                              </p:par>
                            </p:childTnLst>
                          </p:cTn>
                        </p:par>
                        <p:par>
                          <p:cTn id="8" fill="hold">
                            <p:stCondLst>
                              <p:cond delay="250"/>
                            </p:stCondLst>
                            <p:childTnLst>
                              <p:par>
                                <p:cTn id="9" presetID="10" presetClass="entr" presetSubtype="0"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250"/>
                                        <p:tgtEl>
                                          <p:spTgt spid="4"/>
                                        </p:tgtEl>
                                      </p:cBhvr>
                                    </p:animEffect>
                                  </p:childTnLst>
                                </p:cTn>
                              </p:par>
                            </p:childTnLst>
                          </p:cTn>
                        </p:par>
                        <p:par>
                          <p:cTn id="12" fill="hold">
                            <p:stCondLst>
                              <p:cond delay="500"/>
                            </p:stCondLst>
                            <p:childTnLst>
                              <p:par>
                                <p:cTn id="13" presetID="10" presetClass="entr" presetSubtype="0" fill="hold" grpId="0"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250"/>
                                        <p:tgtEl>
                                          <p:spTgt spid="5"/>
                                        </p:tgtEl>
                                      </p:cBhvr>
                                    </p:animEffect>
                                  </p:childTnLst>
                                </p:cTn>
                              </p:par>
                            </p:childTnLst>
                          </p:cTn>
                        </p:par>
                        <p:par>
                          <p:cTn id="16" fill="hold">
                            <p:stCondLst>
                              <p:cond delay="750"/>
                            </p:stCondLst>
                            <p:childTnLst>
                              <p:par>
                                <p:cTn id="17" presetID="10" presetClass="entr" presetSubtype="0" fill="hold" grpId="0"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250"/>
                                        <p:tgtEl>
                                          <p:spTgt spid="6"/>
                                        </p:tgtEl>
                                      </p:cBhvr>
                                    </p:animEffect>
                                  </p:childTnLst>
                                </p:cTn>
                              </p:par>
                            </p:childTnLst>
                          </p:cTn>
                        </p:par>
                        <p:par>
                          <p:cTn id="20" fill="hold">
                            <p:stCondLst>
                              <p:cond delay="1000"/>
                            </p:stCondLst>
                            <p:childTnLst>
                              <p:par>
                                <p:cTn id="21" presetID="10" presetClass="entr" presetSubtype="0" fill="hold"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250"/>
                                        <p:tgtEl>
                                          <p:spTgt spid="7"/>
                                        </p:tgtEl>
                                      </p:cBhvr>
                                    </p:animEffect>
                                  </p:childTnLst>
                                </p:cTn>
                              </p:par>
                            </p:childTnLst>
                          </p:cTn>
                        </p:par>
                        <p:par>
                          <p:cTn id="24" fill="hold">
                            <p:stCondLst>
                              <p:cond delay="1250"/>
                            </p:stCondLst>
                            <p:childTnLst>
                              <p:par>
                                <p:cTn id="25" presetID="10" presetClass="entr" presetSubtype="0" fill="hold" grpId="0" nodeType="after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250"/>
                                        <p:tgtEl>
                                          <p:spTgt spid="9"/>
                                        </p:tgtEl>
                                      </p:cBhvr>
                                    </p:animEffect>
                                  </p:childTnLst>
                                </p:cTn>
                              </p:par>
                            </p:childTnLst>
                          </p:cTn>
                        </p:par>
                        <p:par>
                          <p:cTn id="28" fill="hold">
                            <p:stCondLst>
                              <p:cond delay="1500"/>
                            </p:stCondLst>
                            <p:childTnLst>
                              <p:par>
                                <p:cTn id="29" presetID="10" presetClass="entr" presetSubtype="0" fill="hold" grpId="0" nodeType="after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250"/>
                                        <p:tgtEl>
                                          <p:spTgt spid="10"/>
                                        </p:tgtEl>
                                      </p:cBhvr>
                                    </p:animEffect>
                                  </p:childTnLst>
                                </p:cTn>
                              </p:par>
                            </p:childTnLst>
                          </p:cTn>
                        </p:par>
                        <p:par>
                          <p:cTn id="32" fill="hold">
                            <p:stCondLst>
                              <p:cond delay="1750"/>
                            </p:stCondLst>
                            <p:childTnLst>
                              <p:par>
                                <p:cTn id="33" presetID="10" presetClass="entr" presetSubtype="0" fill="hold" nodeType="after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250"/>
                                        <p:tgtEl>
                                          <p:spTgt spid="12"/>
                                        </p:tgtEl>
                                      </p:cBhvr>
                                    </p:animEffect>
                                  </p:childTnLst>
                                </p:cTn>
                              </p:par>
                            </p:childTnLst>
                          </p:cTn>
                        </p:par>
                        <p:par>
                          <p:cTn id="36" fill="hold">
                            <p:stCondLst>
                              <p:cond delay="2000"/>
                            </p:stCondLst>
                            <p:childTnLst>
                              <p:par>
                                <p:cTn id="37" presetID="10" presetClass="entr" presetSubtype="0" fill="hold" grpId="0" nodeType="after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250"/>
                                        <p:tgtEl>
                                          <p:spTgt spid="15"/>
                                        </p:tgtEl>
                                      </p:cBhvr>
                                    </p:animEffect>
                                  </p:childTnLst>
                                </p:cTn>
                              </p:par>
                            </p:childTnLst>
                          </p:cTn>
                        </p:par>
                        <p:par>
                          <p:cTn id="40" fill="hold">
                            <p:stCondLst>
                              <p:cond delay="2250"/>
                            </p:stCondLst>
                            <p:childTnLst>
                              <p:par>
                                <p:cTn id="41" presetID="10" presetClass="entr" presetSubtype="0" fill="hold" grpId="0" nodeType="after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250"/>
                                        <p:tgtEl>
                                          <p:spTgt spid="16"/>
                                        </p:tgtEl>
                                      </p:cBhvr>
                                    </p:animEffect>
                                  </p:childTnLst>
                                </p:cTn>
                              </p:par>
                            </p:childTnLst>
                          </p:cTn>
                        </p:par>
                        <p:par>
                          <p:cTn id="44" fill="hold">
                            <p:stCondLst>
                              <p:cond delay="2500"/>
                            </p:stCondLst>
                            <p:childTnLst>
                              <p:par>
                                <p:cTn id="45" presetID="10" presetClass="entr" presetSubtype="0" fill="hold" nodeType="after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250"/>
                                        <p:tgtEl>
                                          <p:spTgt spid="17"/>
                                        </p:tgtEl>
                                      </p:cBhvr>
                                    </p:animEffect>
                                  </p:childTnLst>
                                </p:cTn>
                              </p:par>
                            </p:childTnLst>
                          </p:cTn>
                        </p:par>
                        <p:par>
                          <p:cTn id="48" fill="hold">
                            <p:stCondLst>
                              <p:cond delay="2750"/>
                            </p:stCondLst>
                            <p:childTnLst>
                              <p:par>
                                <p:cTn id="49" presetID="10" presetClass="entr" presetSubtype="0" fill="hold" nodeType="afterEffect">
                                  <p:stCondLst>
                                    <p:cond delay="0"/>
                                  </p:stCondLst>
                                  <p:childTnLst>
                                    <p:set>
                                      <p:cBhvr>
                                        <p:cTn id="50" dur="1" fill="hold">
                                          <p:stCondLst>
                                            <p:cond delay="0"/>
                                          </p:stCondLst>
                                        </p:cTn>
                                        <p:tgtEl>
                                          <p:spTgt spid="24"/>
                                        </p:tgtEl>
                                        <p:attrNameLst>
                                          <p:attrName>style.visibility</p:attrName>
                                        </p:attrNameLst>
                                      </p:cBhvr>
                                      <p:to>
                                        <p:strVal val="visible"/>
                                      </p:to>
                                    </p:set>
                                    <p:animEffect transition="in" filter="fade">
                                      <p:cBhvr>
                                        <p:cTn id="51" dur="250"/>
                                        <p:tgtEl>
                                          <p:spTgt spid="24"/>
                                        </p:tgtEl>
                                      </p:cBhvr>
                                    </p:animEffect>
                                  </p:childTnLst>
                                </p:cTn>
                              </p:par>
                            </p:childTnLst>
                          </p:cTn>
                        </p:par>
                        <p:par>
                          <p:cTn id="52" fill="hold">
                            <p:stCondLst>
                              <p:cond delay="3000"/>
                            </p:stCondLst>
                            <p:childTnLst>
                              <p:par>
                                <p:cTn id="53" presetID="10" presetClass="entr" presetSubtype="0" fill="hold" nodeType="afterEffect">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fade">
                                      <p:cBhvr>
                                        <p:cTn id="55" dur="25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6" grpId="0" animBg="1"/>
      <p:bldP spid="9" grpId="0" animBg="1"/>
      <p:bldP spid="10" grpId="0"/>
      <p:bldP spid="15" grpId="0" animBg="1"/>
      <p:bldP spid="1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04A5C-75B2-E800-1EC8-02406EB02C2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96AEED1-965F-E694-29D3-A81FFD5D9C94}"/>
              </a:ext>
            </a:extLst>
          </p:cNvPr>
          <p:cNvPicPr>
            <a:picLocks noChangeAspect="1"/>
          </p:cNvPicPr>
          <p:nvPr/>
        </p:nvPicPr>
        <p:blipFill>
          <a:blip r:embed="rId2"/>
          <a:stretch>
            <a:fillRect/>
          </a:stretch>
        </p:blipFill>
        <p:spPr>
          <a:xfrm>
            <a:off x="2061599" y="1599902"/>
            <a:ext cx="8068801" cy="4267796"/>
          </a:xfrm>
          <a:prstGeom prst="rect">
            <a:avLst/>
          </a:prstGeom>
        </p:spPr>
      </p:pic>
      <p:sp>
        <p:nvSpPr>
          <p:cNvPr id="4" name="TextBox 3">
            <a:extLst>
              <a:ext uri="{FF2B5EF4-FFF2-40B4-BE49-F238E27FC236}">
                <a16:creationId xmlns:a16="http://schemas.microsoft.com/office/drawing/2014/main" id="{B8C341B1-9057-9AFE-9209-283C499BB5AA}"/>
              </a:ext>
            </a:extLst>
          </p:cNvPr>
          <p:cNvSpPr txBox="1"/>
          <p:nvPr/>
        </p:nvSpPr>
        <p:spPr>
          <a:xfrm>
            <a:off x="688260" y="488220"/>
            <a:ext cx="5063611" cy="369332"/>
          </a:xfrm>
          <a:prstGeom prst="rect">
            <a:avLst/>
          </a:prstGeom>
          <a:noFill/>
        </p:spPr>
        <p:txBody>
          <a:bodyPr wrap="square" rtlCol="0">
            <a:spAutoFit/>
          </a:bodyPr>
          <a:lstStyle/>
          <a:p>
            <a:r>
              <a:rPr lang="en-US" dirty="0"/>
              <a:t>custom tool using </a:t>
            </a:r>
            <a:r>
              <a:rPr lang="en-US" i="1" dirty="0" err="1">
                <a:solidFill>
                  <a:srgbClr val="FF0000"/>
                </a:solidFill>
              </a:rPr>
              <a:t>BaseTool</a:t>
            </a:r>
            <a:r>
              <a:rPr lang="en-IN" i="1" dirty="0">
                <a:solidFill>
                  <a:srgbClr val="FF0000"/>
                </a:solidFill>
              </a:rPr>
              <a:t>+ </a:t>
            </a:r>
            <a:r>
              <a:rPr lang="en-IN" i="1" dirty="0" err="1">
                <a:solidFill>
                  <a:srgbClr val="FF0000"/>
                </a:solidFill>
              </a:rPr>
              <a:t>pydantic</a:t>
            </a:r>
            <a:endParaRPr lang="en-IN" i="1" dirty="0">
              <a:solidFill>
                <a:srgbClr val="FF0000"/>
              </a:solidFill>
            </a:endParaRPr>
          </a:p>
        </p:txBody>
      </p:sp>
      <p:sp>
        <p:nvSpPr>
          <p:cNvPr id="6" name="TextBox 5">
            <a:extLst>
              <a:ext uri="{FF2B5EF4-FFF2-40B4-BE49-F238E27FC236}">
                <a16:creationId xmlns:a16="http://schemas.microsoft.com/office/drawing/2014/main" id="{5C81231A-1DCB-62BD-FE97-71981C24A8C0}"/>
              </a:ext>
            </a:extLst>
          </p:cNvPr>
          <p:cNvSpPr txBox="1"/>
          <p:nvPr/>
        </p:nvSpPr>
        <p:spPr>
          <a:xfrm>
            <a:off x="245805" y="1199680"/>
            <a:ext cx="983227" cy="646331"/>
          </a:xfrm>
          <a:prstGeom prst="rect">
            <a:avLst/>
          </a:prstGeom>
          <a:noFill/>
        </p:spPr>
        <p:txBody>
          <a:bodyPr wrap="square">
            <a:spAutoFit/>
          </a:bodyPr>
          <a:lstStyle/>
          <a:p>
            <a:r>
              <a:rPr lang="en-IN" dirty="0" err="1">
                <a:solidFill>
                  <a:srgbClr val="FF0000"/>
                </a:solidFill>
              </a:rPr>
              <a:t>Pydentic</a:t>
            </a:r>
            <a:r>
              <a:rPr lang="en-IN" dirty="0">
                <a:solidFill>
                  <a:srgbClr val="FF0000"/>
                </a:solidFill>
              </a:rPr>
              <a:t> schema</a:t>
            </a:r>
          </a:p>
        </p:txBody>
      </p:sp>
      <p:sp>
        <p:nvSpPr>
          <p:cNvPr id="7" name="Rectangle: Rounded Corners 6">
            <a:extLst>
              <a:ext uri="{FF2B5EF4-FFF2-40B4-BE49-F238E27FC236}">
                <a16:creationId xmlns:a16="http://schemas.microsoft.com/office/drawing/2014/main" id="{CFC0594E-C3F0-1432-5334-DC5CC95DD27F}"/>
              </a:ext>
            </a:extLst>
          </p:cNvPr>
          <p:cNvSpPr/>
          <p:nvPr/>
        </p:nvSpPr>
        <p:spPr>
          <a:xfrm>
            <a:off x="2190462" y="1769806"/>
            <a:ext cx="5842493" cy="983226"/>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8" name="Straight Arrow Connector 7">
            <a:extLst>
              <a:ext uri="{FF2B5EF4-FFF2-40B4-BE49-F238E27FC236}">
                <a16:creationId xmlns:a16="http://schemas.microsoft.com/office/drawing/2014/main" id="{F49B12C3-F9E0-BAD4-62C3-E20BE2582A84}"/>
              </a:ext>
            </a:extLst>
          </p:cNvPr>
          <p:cNvCxnSpPr>
            <a:cxnSpLocks/>
            <a:stCxn id="6" idx="3"/>
            <a:endCxn id="7" idx="1"/>
          </p:cNvCxnSpPr>
          <p:nvPr/>
        </p:nvCxnSpPr>
        <p:spPr>
          <a:xfrm>
            <a:off x="1229032" y="1522846"/>
            <a:ext cx="961430" cy="7385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Rectangle: Rounded Corners 9">
            <a:extLst>
              <a:ext uri="{FF2B5EF4-FFF2-40B4-BE49-F238E27FC236}">
                <a16:creationId xmlns:a16="http://schemas.microsoft.com/office/drawing/2014/main" id="{0954DF52-F5A9-F91D-C7D7-A3329D23C98B}"/>
              </a:ext>
            </a:extLst>
          </p:cNvPr>
          <p:cNvSpPr/>
          <p:nvPr/>
        </p:nvSpPr>
        <p:spPr>
          <a:xfrm>
            <a:off x="2190462" y="2926323"/>
            <a:ext cx="7939938" cy="2107793"/>
          </a:xfrm>
          <a:prstGeom prst="round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74E5DDEC-DF37-BEE0-3409-6E27741BE0B1}"/>
              </a:ext>
            </a:extLst>
          </p:cNvPr>
          <p:cNvSpPr txBox="1"/>
          <p:nvPr/>
        </p:nvSpPr>
        <p:spPr>
          <a:xfrm>
            <a:off x="137652" y="3295177"/>
            <a:ext cx="1091380" cy="369332"/>
          </a:xfrm>
          <a:prstGeom prst="rect">
            <a:avLst/>
          </a:prstGeom>
          <a:noFill/>
        </p:spPr>
        <p:txBody>
          <a:bodyPr wrap="square">
            <a:spAutoFit/>
          </a:bodyPr>
          <a:lstStyle/>
          <a:p>
            <a:r>
              <a:rPr lang="en-IN" dirty="0" err="1">
                <a:solidFill>
                  <a:srgbClr val="FF0000"/>
                </a:solidFill>
              </a:rPr>
              <a:t>BaseTool</a:t>
            </a:r>
            <a:endParaRPr lang="en-IN" dirty="0">
              <a:solidFill>
                <a:srgbClr val="FF0000"/>
              </a:solidFill>
            </a:endParaRPr>
          </a:p>
        </p:txBody>
      </p:sp>
      <p:cxnSp>
        <p:nvCxnSpPr>
          <p:cNvPr id="12" name="Straight Arrow Connector 11">
            <a:extLst>
              <a:ext uri="{FF2B5EF4-FFF2-40B4-BE49-F238E27FC236}">
                <a16:creationId xmlns:a16="http://schemas.microsoft.com/office/drawing/2014/main" id="{7A9CDFE1-A85F-0DDF-B69C-11B5E110E275}"/>
              </a:ext>
            </a:extLst>
          </p:cNvPr>
          <p:cNvCxnSpPr>
            <a:cxnSpLocks/>
            <a:stCxn id="11" idx="3"/>
            <a:endCxn id="10" idx="1"/>
          </p:cNvCxnSpPr>
          <p:nvPr/>
        </p:nvCxnSpPr>
        <p:spPr>
          <a:xfrm>
            <a:off x="1229032" y="3479843"/>
            <a:ext cx="961430" cy="5003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180762EE-4F8C-FF0B-AEAD-9FEF7FD8C4C3}"/>
              </a:ext>
            </a:extLst>
          </p:cNvPr>
          <p:cNvCxnSpPr>
            <a:cxnSpLocks/>
          </p:cNvCxnSpPr>
          <p:nvPr/>
        </p:nvCxnSpPr>
        <p:spPr>
          <a:xfrm>
            <a:off x="3038168" y="2045110"/>
            <a:ext cx="2851355" cy="1935110"/>
          </a:xfrm>
          <a:prstGeom prst="straightConnector1">
            <a:avLst/>
          </a:prstGeom>
          <a:ln>
            <a:solidFill>
              <a:srgbClr val="E40CD5"/>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90120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childTnLst>
                                </p:cTn>
                              </p:par>
                            </p:childTnLst>
                          </p:cTn>
                        </p:par>
                        <p:par>
                          <p:cTn id="8" fill="hold">
                            <p:stCondLst>
                              <p:cond delay="250"/>
                            </p:stCondLst>
                            <p:childTnLst>
                              <p:par>
                                <p:cTn id="9" presetID="10" presetClass="entr" presetSubtype="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250"/>
                                        <p:tgtEl>
                                          <p:spTgt spid="3"/>
                                        </p:tgtEl>
                                      </p:cBhvr>
                                    </p:animEffect>
                                  </p:childTnLst>
                                </p:cTn>
                              </p:par>
                            </p:childTnLst>
                          </p:cTn>
                        </p:par>
                        <p:par>
                          <p:cTn id="12" fill="hold">
                            <p:stCondLst>
                              <p:cond delay="500"/>
                            </p:stCondLst>
                            <p:childTnLst>
                              <p:par>
                                <p:cTn id="13" presetID="10" presetClass="entr" presetSubtype="0"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250"/>
                                        <p:tgtEl>
                                          <p:spTgt spid="6"/>
                                        </p:tgtEl>
                                      </p:cBhvr>
                                    </p:animEffect>
                                  </p:childTnLst>
                                </p:cTn>
                              </p:par>
                            </p:childTnLst>
                          </p:cTn>
                        </p:par>
                        <p:par>
                          <p:cTn id="16" fill="hold">
                            <p:stCondLst>
                              <p:cond delay="750"/>
                            </p:stCondLst>
                            <p:childTnLst>
                              <p:par>
                                <p:cTn id="17" presetID="10" presetClass="entr" presetSubtype="0"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250"/>
                                        <p:tgtEl>
                                          <p:spTgt spid="7"/>
                                        </p:tgtEl>
                                      </p:cBhvr>
                                    </p:animEffect>
                                  </p:childTnLst>
                                </p:cTn>
                              </p:par>
                            </p:childTnLst>
                          </p:cTn>
                        </p:par>
                        <p:par>
                          <p:cTn id="20" fill="hold">
                            <p:stCondLst>
                              <p:cond delay="1000"/>
                            </p:stCondLst>
                            <p:childTnLst>
                              <p:par>
                                <p:cTn id="21" presetID="10" presetClass="entr" presetSubtype="0" fill="hold"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250"/>
                                        <p:tgtEl>
                                          <p:spTgt spid="8"/>
                                        </p:tgtEl>
                                      </p:cBhvr>
                                    </p:animEffect>
                                  </p:childTnLst>
                                </p:cTn>
                              </p:par>
                            </p:childTnLst>
                          </p:cTn>
                        </p:par>
                        <p:par>
                          <p:cTn id="24" fill="hold">
                            <p:stCondLst>
                              <p:cond delay="1250"/>
                            </p:stCondLst>
                            <p:childTnLst>
                              <p:par>
                                <p:cTn id="25" presetID="10" presetClass="entr" presetSubtype="0" fill="hold" grpId="0" nodeType="after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250"/>
                                        <p:tgtEl>
                                          <p:spTgt spid="10"/>
                                        </p:tgtEl>
                                      </p:cBhvr>
                                    </p:animEffect>
                                  </p:childTnLst>
                                </p:cTn>
                              </p:par>
                            </p:childTnLst>
                          </p:cTn>
                        </p:par>
                        <p:par>
                          <p:cTn id="28" fill="hold">
                            <p:stCondLst>
                              <p:cond delay="1500"/>
                            </p:stCondLst>
                            <p:childTnLst>
                              <p:par>
                                <p:cTn id="29" presetID="10" presetClass="entr" presetSubtype="0" fill="hold" grpId="0" nodeType="after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250"/>
                                        <p:tgtEl>
                                          <p:spTgt spid="11"/>
                                        </p:tgtEl>
                                      </p:cBhvr>
                                    </p:animEffect>
                                  </p:childTnLst>
                                </p:cTn>
                              </p:par>
                            </p:childTnLst>
                          </p:cTn>
                        </p:par>
                        <p:par>
                          <p:cTn id="32" fill="hold">
                            <p:stCondLst>
                              <p:cond delay="1750"/>
                            </p:stCondLst>
                            <p:childTnLst>
                              <p:par>
                                <p:cTn id="33" presetID="10" presetClass="entr" presetSubtype="0" fill="hold" nodeType="after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250"/>
                                        <p:tgtEl>
                                          <p:spTgt spid="12"/>
                                        </p:tgtEl>
                                      </p:cBhvr>
                                    </p:animEffect>
                                  </p:childTnLst>
                                </p:cTn>
                              </p:par>
                            </p:childTnLst>
                          </p:cTn>
                        </p:par>
                        <p:par>
                          <p:cTn id="36" fill="hold">
                            <p:stCondLst>
                              <p:cond delay="2000"/>
                            </p:stCondLst>
                            <p:childTnLst>
                              <p:par>
                                <p:cTn id="37" presetID="10" presetClass="entr" presetSubtype="0" fill="hold" nodeType="after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2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7" grpId="0" animBg="1"/>
      <p:bldP spid="10" grpId="0" animBg="1"/>
      <p:bldP spid="11"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TM04033921[[fn=Damask]]</Template>
  <TotalTime>12407</TotalTime>
  <Words>139</Words>
  <Application>Microsoft Office PowerPoint</Application>
  <PresentationFormat>Widescreen</PresentationFormat>
  <Paragraphs>20</Paragraphs>
  <Slides>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Damask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ghost</dc:creator>
  <cp:lastModifiedBy>Coder Zero</cp:lastModifiedBy>
  <cp:revision>220</cp:revision>
  <dcterms:created xsi:type="dcterms:W3CDTF">2020-07-09T14:04:16Z</dcterms:created>
  <dcterms:modified xsi:type="dcterms:W3CDTF">2025-07-29T15:12:00Z</dcterms:modified>
</cp:coreProperties>
</file>