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notesMasterIdLst>
    <p:notesMasterId r:id="rId15"/>
  </p:notesMasterIdLst>
  <p:sldIdLst>
    <p:sldId id="274" r:id="rId2"/>
    <p:sldId id="300" r:id="rId3"/>
    <p:sldId id="315" r:id="rId4"/>
    <p:sldId id="316" r:id="rId5"/>
    <p:sldId id="317" r:id="rId6"/>
    <p:sldId id="318" r:id="rId7"/>
    <p:sldId id="319" r:id="rId8"/>
    <p:sldId id="320" r:id="rId9"/>
    <p:sldId id="324" r:id="rId10"/>
    <p:sldId id="321" r:id="rId11"/>
    <p:sldId id="325" r:id="rId12"/>
    <p:sldId id="322" r:id="rId13"/>
    <p:sldId id="32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CC3300"/>
    <a:srgbClr val="E40C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6987B-4077-41BF-97D4-EA38746EFAB3}" type="datetimeFigureOut">
              <a:rPr lang="en-US" smtClean="0"/>
              <a:t>7/28/2025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065E2-8AB8-4848-955E-6C0D5851B9F0}" type="slidenum">
              <a:rPr lang="en-US" smtClean="0"/>
              <a:t>‹#›</a:t>
            </a:fld>
            <a:endParaRPr lang="en-US"/>
          </a:p>
        </p:txBody>
      </p:sp>
    </p:spTree>
    <p:extLst>
      <p:ext uri="{BB962C8B-B14F-4D97-AF65-F5344CB8AC3E}">
        <p14:creationId xmlns:p14="http://schemas.microsoft.com/office/powerpoint/2010/main" val="1957482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1065E2-8AB8-4848-955E-6C0D5851B9F0}" type="slidenum">
              <a:rPr lang="en-US" smtClean="0"/>
              <a:t>2</a:t>
            </a:fld>
            <a:endParaRPr lang="en-US"/>
          </a:p>
        </p:txBody>
      </p:sp>
    </p:spTree>
    <p:extLst>
      <p:ext uri="{BB962C8B-B14F-4D97-AF65-F5344CB8AC3E}">
        <p14:creationId xmlns:p14="http://schemas.microsoft.com/office/powerpoint/2010/main" val="266344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03010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4152357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493930-47BE-40BC-A32D-4F995F4BBD5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88323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2842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493930-47BE-40BC-A32D-4F995F4BBD55}" type="datetimeFigureOut">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892596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493930-47BE-40BC-A32D-4F995F4BBD55}"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33970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493930-47BE-40BC-A32D-4F995F4BBD55}" type="datetimeFigureOut">
              <a:rPr lang="en-US" smtClean="0"/>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456992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6306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89136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91382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991758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24088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493930-47BE-40BC-A32D-4F995F4BBD55}"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240286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4875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493930-47BE-40BC-A32D-4F995F4BBD55}"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1802207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3766466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493930-47BE-40BC-A32D-4F995F4BBD55}"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41980-23F0-4728-8D90-69C6C1C21305}" type="slidenum">
              <a:rPr lang="en-US" smtClean="0"/>
              <a:t>‹#›</a:t>
            </a:fld>
            <a:endParaRPr lang="en-US"/>
          </a:p>
        </p:txBody>
      </p:sp>
    </p:spTree>
    <p:extLst>
      <p:ext uri="{BB962C8B-B14F-4D97-AF65-F5344CB8AC3E}">
        <p14:creationId xmlns:p14="http://schemas.microsoft.com/office/powerpoint/2010/main" val="226235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493930-47BE-40BC-A32D-4F995F4BBD55}" type="datetimeFigureOut">
              <a:rPr lang="en-US" smtClean="0"/>
              <a:t>7/28/2025</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EB41980-23F0-4728-8D90-69C6C1C21305}" type="slidenum">
              <a:rPr lang="en-US" smtClean="0"/>
              <a:t>‹#›</a:t>
            </a:fld>
            <a:endParaRPr lang="en-US"/>
          </a:p>
        </p:txBody>
      </p:sp>
    </p:spTree>
    <p:extLst>
      <p:ext uri="{BB962C8B-B14F-4D97-AF65-F5344CB8AC3E}">
        <p14:creationId xmlns:p14="http://schemas.microsoft.com/office/powerpoint/2010/main" val="1393578244"/>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CABFDC-FBF9-BE8E-2A7D-FF9A1D04D407}"/>
              </a:ext>
            </a:extLst>
          </p:cNvPr>
          <p:cNvSpPr/>
          <p:nvPr/>
        </p:nvSpPr>
        <p:spPr>
          <a:xfrm>
            <a:off x="4774298" y="3354706"/>
            <a:ext cx="1616977" cy="4571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3588776" y="2659559"/>
            <a:ext cx="4041057" cy="769441"/>
          </a:xfrm>
          <a:prstGeom prst="rect">
            <a:avLst/>
          </a:prstGeom>
          <a:noFill/>
        </p:spPr>
        <p:txBody>
          <a:bodyPr wrap="square" rtlCol="0">
            <a:spAutoFit/>
          </a:bodyPr>
          <a:lstStyle/>
          <a:p>
            <a:r>
              <a:rPr lang="en-IN" sz="4400" dirty="0"/>
              <a:t>Output Parsers</a:t>
            </a:r>
          </a:p>
        </p:txBody>
      </p:sp>
    </p:spTree>
    <p:extLst>
      <p:ext uri="{BB962C8B-B14F-4D97-AF65-F5344CB8AC3E}">
        <p14:creationId xmlns:p14="http://schemas.microsoft.com/office/powerpoint/2010/main" val="282041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8B89-5367-2053-B021-660A67AD5990}"/>
            </a:ext>
          </a:extLst>
        </p:cNvPr>
        <p:cNvGrpSpPr/>
        <p:nvPr/>
      </p:nvGrpSpPr>
      <p:grpSpPr>
        <a:xfrm>
          <a:off x="0" y="0"/>
          <a:ext cx="0" cy="0"/>
          <a:chOff x="0" y="0"/>
          <a:chExt cx="0" cy="0"/>
        </a:xfrm>
      </p:grpSpPr>
      <p:sp>
        <p:nvSpPr>
          <p:cNvPr id="3" name="Flowchart: Document 2">
            <a:extLst>
              <a:ext uri="{FF2B5EF4-FFF2-40B4-BE49-F238E27FC236}">
                <a16:creationId xmlns:a16="http://schemas.microsoft.com/office/drawing/2014/main" id="{C352C240-F0F2-1C05-66A6-A82E909F6A21}"/>
              </a:ext>
            </a:extLst>
          </p:cNvPr>
          <p:cNvSpPr/>
          <p:nvPr/>
        </p:nvSpPr>
        <p:spPr>
          <a:xfrm>
            <a:off x="2101645" y="340139"/>
            <a:ext cx="776748" cy="84557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lowchart: Multidocument 3">
            <a:extLst>
              <a:ext uri="{FF2B5EF4-FFF2-40B4-BE49-F238E27FC236}">
                <a16:creationId xmlns:a16="http://schemas.microsoft.com/office/drawing/2014/main" id="{3E54F5A2-29EC-B3A7-DC40-45D8990A0E18}"/>
              </a:ext>
            </a:extLst>
          </p:cNvPr>
          <p:cNvSpPr/>
          <p:nvPr/>
        </p:nvSpPr>
        <p:spPr>
          <a:xfrm>
            <a:off x="4375438" y="340139"/>
            <a:ext cx="707840" cy="715793"/>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ylinder 4">
            <a:extLst>
              <a:ext uri="{FF2B5EF4-FFF2-40B4-BE49-F238E27FC236}">
                <a16:creationId xmlns:a16="http://schemas.microsoft.com/office/drawing/2014/main" id="{8CD782C8-09CB-612B-E372-B55DB86DFC4A}"/>
              </a:ext>
            </a:extLst>
          </p:cNvPr>
          <p:cNvSpPr/>
          <p:nvPr/>
        </p:nvSpPr>
        <p:spPr>
          <a:xfrm>
            <a:off x="4031224" y="3626874"/>
            <a:ext cx="963562" cy="1123335"/>
          </a:xfrm>
          <a:prstGeom prst="can">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Parallelogram 5">
            <a:extLst>
              <a:ext uri="{FF2B5EF4-FFF2-40B4-BE49-F238E27FC236}">
                <a16:creationId xmlns:a16="http://schemas.microsoft.com/office/drawing/2014/main" id="{E1124FC1-08FF-B4EB-1B18-EC75D4C1F7B0}"/>
              </a:ext>
            </a:extLst>
          </p:cNvPr>
          <p:cNvSpPr/>
          <p:nvPr/>
        </p:nvSpPr>
        <p:spPr>
          <a:xfrm>
            <a:off x="275304" y="5493154"/>
            <a:ext cx="1356851" cy="353961"/>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Parallelogram 6">
            <a:extLst>
              <a:ext uri="{FF2B5EF4-FFF2-40B4-BE49-F238E27FC236}">
                <a16:creationId xmlns:a16="http://schemas.microsoft.com/office/drawing/2014/main" id="{7FFDE75E-C2CA-4FFE-94B1-0435D24B1C0B}"/>
              </a:ext>
            </a:extLst>
          </p:cNvPr>
          <p:cNvSpPr/>
          <p:nvPr/>
        </p:nvSpPr>
        <p:spPr>
          <a:xfrm>
            <a:off x="2118852" y="5485169"/>
            <a:ext cx="1356851" cy="353961"/>
          </a:xfrm>
          <a:prstGeom prst="parallelogram">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4BEAA0EA-8506-50E1-DCDD-D6EE669F4854}"/>
              </a:ext>
            </a:extLst>
          </p:cNvPr>
          <p:cNvCxnSpPr>
            <a:cxnSpLocks/>
            <a:stCxn id="3" idx="3"/>
          </p:cNvCxnSpPr>
          <p:nvPr/>
        </p:nvCxnSpPr>
        <p:spPr>
          <a:xfrm>
            <a:off x="2878393" y="762927"/>
            <a:ext cx="739878"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C717C93-88F2-555A-1691-AD8FFBCF2FC6}"/>
              </a:ext>
            </a:extLst>
          </p:cNvPr>
          <p:cNvSpPr txBox="1"/>
          <p:nvPr/>
        </p:nvSpPr>
        <p:spPr>
          <a:xfrm>
            <a:off x="5225845" y="2270630"/>
            <a:ext cx="1335622" cy="369332"/>
          </a:xfrm>
          <a:prstGeom prst="rect">
            <a:avLst/>
          </a:prstGeom>
          <a:noFill/>
        </p:spPr>
        <p:txBody>
          <a:bodyPr wrap="none" rtlCol="0">
            <a:spAutoFit/>
          </a:bodyPr>
          <a:lstStyle/>
          <a:p>
            <a:r>
              <a:rPr lang="en-US" dirty="0"/>
              <a:t>Embeddings</a:t>
            </a:r>
            <a:endParaRPr lang="en-IN" dirty="0"/>
          </a:p>
        </p:txBody>
      </p:sp>
      <p:sp>
        <p:nvSpPr>
          <p:cNvPr id="10" name="TextBox 9">
            <a:extLst>
              <a:ext uri="{FF2B5EF4-FFF2-40B4-BE49-F238E27FC236}">
                <a16:creationId xmlns:a16="http://schemas.microsoft.com/office/drawing/2014/main" id="{FD442E39-8888-3345-9F63-ADEB9F74B54C}"/>
              </a:ext>
            </a:extLst>
          </p:cNvPr>
          <p:cNvSpPr txBox="1"/>
          <p:nvPr/>
        </p:nvSpPr>
        <p:spPr>
          <a:xfrm>
            <a:off x="5225845" y="801407"/>
            <a:ext cx="1273362" cy="369332"/>
          </a:xfrm>
          <a:prstGeom prst="rect">
            <a:avLst/>
          </a:prstGeom>
          <a:noFill/>
        </p:spPr>
        <p:txBody>
          <a:bodyPr wrap="none" rtlCol="0">
            <a:spAutoFit/>
          </a:bodyPr>
          <a:lstStyle/>
          <a:p>
            <a:r>
              <a:rPr lang="en-US" dirty="0"/>
              <a:t>Text chunks</a:t>
            </a:r>
            <a:endParaRPr lang="en-IN" dirty="0"/>
          </a:p>
        </p:txBody>
      </p:sp>
      <p:sp>
        <p:nvSpPr>
          <p:cNvPr id="11" name="TextBox 10">
            <a:extLst>
              <a:ext uri="{FF2B5EF4-FFF2-40B4-BE49-F238E27FC236}">
                <a16:creationId xmlns:a16="http://schemas.microsoft.com/office/drawing/2014/main" id="{E1B60AFD-2E48-2090-90DA-08868A1FA8C5}"/>
              </a:ext>
            </a:extLst>
          </p:cNvPr>
          <p:cNvSpPr txBox="1"/>
          <p:nvPr/>
        </p:nvSpPr>
        <p:spPr>
          <a:xfrm>
            <a:off x="5235762" y="3855770"/>
            <a:ext cx="1720920" cy="369332"/>
          </a:xfrm>
          <a:prstGeom prst="rect">
            <a:avLst/>
          </a:prstGeom>
          <a:noFill/>
        </p:spPr>
        <p:txBody>
          <a:bodyPr wrap="none" rtlCol="0">
            <a:spAutoFit/>
          </a:bodyPr>
          <a:lstStyle/>
          <a:p>
            <a:r>
              <a:rPr lang="en-US" dirty="0"/>
              <a:t>Vector Database</a:t>
            </a:r>
            <a:endParaRPr lang="en-IN" dirty="0"/>
          </a:p>
        </p:txBody>
      </p:sp>
      <p:sp>
        <p:nvSpPr>
          <p:cNvPr id="12" name="Rectangle: Beveled 11">
            <a:extLst>
              <a:ext uri="{FF2B5EF4-FFF2-40B4-BE49-F238E27FC236}">
                <a16:creationId xmlns:a16="http://schemas.microsoft.com/office/drawing/2014/main" id="{9AF9CDE6-94F4-E023-0FF7-C990F6F36424}"/>
              </a:ext>
            </a:extLst>
          </p:cNvPr>
          <p:cNvSpPr/>
          <p:nvPr/>
        </p:nvSpPr>
        <p:spPr>
          <a:xfrm>
            <a:off x="4490622" y="5493154"/>
            <a:ext cx="1160209" cy="687026"/>
          </a:xfrm>
          <a:prstGeom prst="beve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latin typeface="Google Sans"/>
              </a:rPr>
              <a:t>Retriever</a:t>
            </a:r>
            <a:endParaRPr lang="en-IN" sz="1600" dirty="0">
              <a:solidFill>
                <a:srgbClr val="FF0000"/>
              </a:solidFill>
            </a:endParaRPr>
          </a:p>
        </p:txBody>
      </p:sp>
      <p:sp>
        <p:nvSpPr>
          <p:cNvPr id="13" name="TextBox 12">
            <a:extLst>
              <a:ext uri="{FF2B5EF4-FFF2-40B4-BE49-F238E27FC236}">
                <a16:creationId xmlns:a16="http://schemas.microsoft.com/office/drawing/2014/main" id="{7BCE17A2-79B1-6C2F-69AE-871ADBBE8B14}"/>
              </a:ext>
            </a:extLst>
          </p:cNvPr>
          <p:cNvSpPr txBox="1"/>
          <p:nvPr/>
        </p:nvSpPr>
        <p:spPr>
          <a:xfrm>
            <a:off x="4232648" y="6312912"/>
            <a:ext cx="1713226" cy="369332"/>
          </a:xfrm>
          <a:prstGeom prst="rect">
            <a:avLst/>
          </a:prstGeom>
          <a:noFill/>
        </p:spPr>
        <p:txBody>
          <a:bodyPr wrap="none" rtlCol="0">
            <a:spAutoFit/>
          </a:bodyPr>
          <a:lstStyle/>
          <a:p>
            <a:r>
              <a:rPr lang="en-US" dirty="0"/>
              <a:t>Semantic search</a:t>
            </a:r>
            <a:endParaRPr lang="en-IN" dirty="0"/>
          </a:p>
        </p:txBody>
      </p:sp>
      <p:sp>
        <p:nvSpPr>
          <p:cNvPr id="14" name="Flowchart: Multidocument 13">
            <a:extLst>
              <a:ext uri="{FF2B5EF4-FFF2-40B4-BE49-F238E27FC236}">
                <a16:creationId xmlns:a16="http://schemas.microsoft.com/office/drawing/2014/main" id="{5FC1B858-3608-C00C-74D5-B673E62C2B82}"/>
              </a:ext>
            </a:extLst>
          </p:cNvPr>
          <p:cNvSpPr/>
          <p:nvPr/>
        </p:nvSpPr>
        <p:spPr>
          <a:xfrm>
            <a:off x="6604396" y="5572428"/>
            <a:ext cx="704572" cy="549375"/>
          </a:xfrm>
          <a:prstGeom prst="flowChartMultidocument">
            <a:avLst/>
          </a:prstGeom>
          <a:solidFill>
            <a:schemeClr val="accent2">
              <a:lumMod val="75000"/>
            </a:schemeClr>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lowchart: Multidocument 14">
            <a:extLst>
              <a:ext uri="{FF2B5EF4-FFF2-40B4-BE49-F238E27FC236}">
                <a16:creationId xmlns:a16="http://schemas.microsoft.com/office/drawing/2014/main" id="{A0F20342-5699-0F9E-4EC5-7D6332FE9E46}"/>
              </a:ext>
            </a:extLst>
          </p:cNvPr>
          <p:cNvSpPr/>
          <p:nvPr/>
        </p:nvSpPr>
        <p:spPr>
          <a:xfrm>
            <a:off x="3950235" y="900567"/>
            <a:ext cx="707840" cy="715793"/>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Flowchart: Multidocument 15">
            <a:extLst>
              <a:ext uri="{FF2B5EF4-FFF2-40B4-BE49-F238E27FC236}">
                <a16:creationId xmlns:a16="http://schemas.microsoft.com/office/drawing/2014/main" id="{45C86EA8-BE5E-13B8-055C-469034960223}"/>
              </a:ext>
            </a:extLst>
          </p:cNvPr>
          <p:cNvSpPr/>
          <p:nvPr/>
        </p:nvSpPr>
        <p:spPr>
          <a:xfrm>
            <a:off x="4375438" y="2097399"/>
            <a:ext cx="707840" cy="715793"/>
          </a:xfrm>
          <a:prstGeom prst="flowChartMultidocument">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lowchart: Multidocument 16">
            <a:extLst>
              <a:ext uri="{FF2B5EF4-FFF2-40B4-BE49-F238E27FC236}">
                <a16:creationId xmlns:a16="http://schemas.microsoft.com/office/drawing/2014/main" id="{764F3D06-C246-AB3A-6422-758F3CB217C6}"/>
              </a:ext>
            </a:extLst>
          </p:cNvPr>
          <p:cNvSpPr/>
          <p:nvPr/>
        </p:nvSpPr>
        <p:spPr>
          <a:xfrm>
            <a:off x="4031224" y="2577578"/>
            <a:ext cx="707840" cy="715793"/>
          </a:xfrm>
          <a:prstGeom prst="flowChartMultidocument">
            <a:avLst/>
          </a:prstGeom>
          <a:solidFill>
            <a:schemeClr val="accent5"/>
          </a:solidFill>
          <a:ln>
            <a:solidFill>
              <a:schemeClr val="bg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E662EDC4-CBF8-9610-8BC1-F11BF5D08268}"/>
              </a:ext>
            </a:extLst>
          </p:cNvPr>
          <p:cNvCxnSpPr>
            <a:cxnSpLocks/>
          </p:cNvCxnSpPr>
          <p:nvPr/>
        </p:nvCxnSpPr>
        <p:spPr>
          <a:xfrm>
            <a:off x="4513004" y="1616360"/>
            <a:ext cx="0" cy="4115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037EA1-67DE-8776-D0BA-A5B0B5736D76}"/>
              </a:ext>
            </a:extLst>
          </p:cNvPr>
          <p:cNvCxnSpPr>
            <a:cxnSpLocks/>
          </p:cNvCxnSpPr>
          <p:nvPr/>
        </p:nvCxnSpPr>
        <p:spPr>
          <a:xfrm>
            <a:off x="4508085" y="3223248"/>
            <a:ext cx="0" cy="41150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Parallelogram 19">
            <a:extLst>
              <a:ext uri="{FF2B5EF4-FFF2-40B4-BE49-F238E27FC236}">
                <a16:creationId xmlns:a16="http://schemas.microsoft.com/office/drawing/2014/main" id="{69EEC879-1558-D378-B2D5-EEDACD5458FC}"/>
              </a:ext>
            </a:extLst>
          </p:cNvPr>
          <p:cNvSpPr/>
          <p:nvPr/>
        </p:nvSpPr>
        <p:spPr>
          <a:xfrm>
            <a:off x="7561725" y="5642485"/>
            <a:ext cx="1356851" cy="353961"/>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6EBC704-292C-A75E-3CB9-132EF3132F40}"/>
              </a:ext>
            </a:extLst>
          </p:cNvPr>
          <p:cNvSpPr txBox="1"/>
          <p:nvPr/>
        </p:nvSpPr>
        <p:spPr>
          <a:xfrm>
            <a:off x="6341891" y="6312912"/>
            <a:ext cx="2506135" cy="338554"/>
          </a:xfrm>
          <a:prstGeom prst="rect">
            <a:avLst/>
          </a:prstGeom>
          <a:noFill/>
        </p:spPr>
        <p:txBody>
          <a:bodyPr wrap="none" rtlCol="0">
            <a:spAutoFit/>
          </a:bodyPr>
          <a:lstStyle/>
          <a:p>
            <a:r>
              <a:rPr lang="en-US" sz="1600"/>
              <a:t>Result chunks  +  user query</a:t>
            </a:r>
            <a:endParaRPr lang="en-IN" sz="1600" dirty="0"/>
          </a:p>
        </p:txBody>
      </p:sp>
      <p:sp>
        <p:nvSpPr>
          <p:cNvPr id="22" name="TextBox 21">
            <a:extLst>
              <a:ext uri="{FF2B5EF4-FFF2-40B4-BE49-F238E27FC236}">
                <a16:creationId xmlns:a16="http://schemas.microsoft.com/office/drawing/2014/main" id="{9E02D8F5-38D7-D767-33E3-D7C4F74094A9}"/>
              </a:ext>
            </a:extLst>
          </p:cNvPr>
          <p:cNvSpPr txBox="1"/>
          <p:nvPr/>
        </p:nvSpPr>
        <p:spPr>
          <a:xfrm>
            <a:off x="275304" y="5975049"/>
            <a:ext cx="1229106" cy="369332"/>
          </a:xfrm>
          <a:prstGeom prst="rect">
            <a:avLst/>
          </a:prstGeom>
          <a:noFill/>
        </p:spPr>
        <p:txBody>
          <a:bodyPr wrap="square">
            <a:spAutoFit/>
          </a:bodyPr>
          <a:lstStyle/>
          <a:p>
            <a:r>
              <a:rPr lang="en-US" dirty="0"/>
              <a:t>user query</a:t>
            </a:r>
            <a:endParaRPr lang="en-IN" dirty="0"/>
          </a:p>
        </p:txBody>
      </p:sp>
      <p:sp>
        <p:nvSpPr>
          <p:cNvPr id="23" name="TextBox 22">
            <a:extLst>
              <a:ext uri="{FF2B5EF4-FFF2-40B4-BE49-F238E27FC236}">
                <a16:creationId xmlns:a16="http://schemas.microsoft.com/office/drawing/2014/main" id="{34DEAF85-05CC-B2BE-927E-ED703CFDDD7F}"/>
              </a:ext>
            </a:extLst>
          </p:cNvPr>
          <p:cNvSpPr txBox="1"/>
          <p:nvPr/>
        </p:nvSpPr>
        <p:spPr>
          <a:xfrm>
            <a:off x="2043980" y="5975049"/>
            <a:ext cx="1335622" cy="369332"/>
          </a:xfrm>
          <a:prstGeom prst="rect">
            <a:avLst/>
          </a:prstGeom>
          <a:noFill/>
        </p:spPr>
        <p:txBody>
          <a:bodyPr wrap="none" rtlCol="0">
            <a:spAutoFit/>
          </a:bodyPr>
          <a:lstStyle/>
          <a:p>
            <a:r>
              <a:rPr lang="en-US" dirty="0"/>
              <a:t>Embeddings</a:t>
            </a:r>
            <a:endParaRPr lang="en-IN" dirty="0"/>
          </a:p>
        </p:txBody>
      </p:sp>
      <p:sp>
        <p:nvSpPr>
          <p:cNvPr id="24" name="Rectangle: Rounded Corners 23">
            <a:extLst>
              <a:ext uri="{FF2B5EF4-FFF2-40B4-BE49-F238E27FC236}">
                <a16:creationId xmlns:a16="http://schemas.microsoft.com/office/drawing/2014/main" id="{36CD511D-C426-AA11-6B68-24D9E0465DE4}"/>
              </a:ext>
            </a:extLst>
          </p:cNvPr>
          <p:cNvSpPr/>
          <p:nvPr/>
        </p:nvSpPr>
        <p:spPr>
          <a:xfrm>
            <a:off x="6388196" y="5368413"/>
            <a:ext cx="2600265" cy="13863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993F7677-A2B8-038E-E81F-6F0952F92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8034" y="5593799"/>
            <a:ext cx="1270899" cy="749351"/>
          </a:xfrm>
          <a:prstGeom prst="rect">
            <a:avLst/>
          </a:prstGeom>
        </p:spPr>
      </p:pic>
      <p:sp>
        <p:nvSpPr>
          <p:cNvPr id="26" name="Rectangle: Rounded Corners 25">
            <a:extLst>
              <a:ext uri="{FF2B5EF4-FFF2-40B4-BE49-F238E27FC236}">
                <a16:creationId xmlns:a16="http://schemas.microsoft.com/office/drawing/2014/main" id="{88B00F06-0603-19C7-06B0-B613013F6572}"/>
              </a:ext>
            </a:extLst>
          </p:cNvPr>
          <p:cNvSpPr/>
          <p:nvPr/>
        </p:nvSpPr>
        <p:spPr>
          <a:xfrm>
            <a:off x="11071123" y="5662149"/>
            <a:ext cx="1052051" cy="528480"/>
          </a:xfrm>
          <a:prstGeom prst="roundRect">
            <a:avLst/>
          </a:prstGeom>
          <a:solidFill>
            <a:schemeClr val="tx1">
              <a:lumMod val="95000"/>
            </a:schemeClr>
          </a:solidFill>
          <a:ln>
            <a:solidFill>
              <a:schemeClr val="bg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Final output</a:t>
            </a:r>
            <a:endParaRPr lang="en-IN" sz="1400" dirty="0">
              <a:solidFill>
                <a:schemeClr val="bg1"/>
              </a:solidFill>
            </a:endParaRPr>
          </a:p>
        </p:txBody>
      </p:sp>
      <p:sp>
        <p:nvSpPr>
          <p:cNvPr id="27" name="TextBox 26">
            <a:extLst>
              <a:ext uri="{FF2B5EF4-FFF2-40B4-BE49-F238E27FC236}">
                <a16:creationId xmlns:a16="http://schemas.microsoft.com/office/drawing/2014/main" id="{DF0AD65E-63D7-29F5-6AB1-7859DB616CF5}"/>
              </a:ext>
            </a:extLst>
          </p:cNvPr>
          <p:cNvSpPr txBox="1"/>
          <p:nvPr/>
        </p:nvSpPr>
        <p:spPr>
          <a:xfrm>
            <a:off x="9865771" y="6304423"/>
            <a:ext cx="577402" cy="369332"/>
          </a:xfrm>
          <a:prstGeom prst="rect">
            <a:avLst/>
          </a:prstGeom>
          <a:noFill/>
        </p:spPr>
        <p:txBody>
          <a:bodyPr wrap="none" rtlCol="0">
            <a:spAutoFit/>
          </a:bodyPr>
          <a:lstStyle/>
          <a:p>
            <a:r>
              <a:rPr lang="en-US" dirty="0"/>
              <a:t>LLM</a:t>
            </a:r>
            <a:endParaRPr lang="en-IN" dirty="0"/>
          </a:p>
        </p:txBody>
      </p:sp>
      <p:cxnSp>
        <p:nvCxnSpPr>
          <p:cNvPr id="28" name="Straight Arrow Connector 27">
            <a:extLst>
              <a:ext uri="{FF2B5EF4-FFF2-40B4-BE49-F238E27FC236}">
                <a16:creationId xmlns:a16="http://schemas.microsoft.com/office/drawing/2014/main" id="{8E3771E6-6BCD-8C31-4AC1-3B88C7EDD09E}"/>
              </a:ext>
            </a:extLst>
          </p:cNvPr>
          <p:cNvCxnSpPr>
            <a:cxnSpLocks/>
            <a:stCxn id="6" idx="2"/>
            <a:endCxn id="7" idx="5"/>
          </p:cNvCxnSpPr>
          <p:nvPr/>
        </p:nvCxnSpPr>
        <p:spPr>
          <a:xfrm flipV="1">
            <a:off x="1587910" y="5662150"/>
            <a:ext cx="575187" cy="798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7D7C39A-3105-084D-BC28-91AF03178B9B}"/>
              </a:ext>
            </a:extLst>
          </p:cNvPr>
          <p:cNvCxnSpPr>
            <a:cxnSpLocks/>
            <a:stCxn id="7" idx="2"/>
            <a:endCxn id="12" idx="4"/>
          </p:cNvCxnSpPr>
          <p:nvPr/>
        </p:nvCxnSpPr>
        <p:spPr>
          <a:xfrm>
            <a:off x="3431458" y="5662150"/>
            <a:ext cx="1059164" cy="174517"/>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1B56B58-08BC-C245-D65F-CBF13C9687F2}"/>
              </a:ext>
            </a:extLst>
          </p:cNvPr>
          <p:cNvCxnSpPr>
            <a:cxnSpLocks/>
            <a:stCxn id="5" idx="3"/>
            <a:endCxn id="12" idx="6"/>
          </p:cNvCxnSpPr>
          <p:nvPr/>
        </p:nvCxnSpPr>
        <p:spPr>
          <a:xfrm>
            <a:off x="4513005" y="4750209"/>
            <a:ext cx="557722" cy="74294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DC52B30-F7D9-844A-2AD1-F5A3F9444C27}"/>
              </a:ext>
            </a:extLst>
          </p:cNvPr>
          <p:cNvCxnSpPr>
            <a:cxnSpLocks/>
            <a:stCxn id="12" idx="0"/>
            <a:endCxn id="14" idx="1"/>
          </p:cNvCxnSpPr>
          <p:nvPr/>
        </p:nvCxnSpPr>
        <p:spPr>
          <a:xfrm>
            <a:off x="5650831" y="5836667"/>
            <a:ext cx="953565" cy="1044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D1869A07-B48D-F080-44DA-72D90D393146}"/>
              </a:ext>
            </a:extLst>
          </p:cNvPr>
          <p:cNvCxnSpPr>
            <a:stCxn id="6" idx="0"/>
            <a:endCxn id="20" idx="0"/>
          </p:cNvCxnSpPr>
          <p:nvPr/>
        </p:nvCxnSpPr>
        <p:spPr>
          <a:xfrm rot="16200000" flipH="1">
            <a:off x="4522274" y="1924609"/>
            <a:ext cx="149331" cy="7286421"/>
          </a:xfrm>
          <a:prstGeom prst="bentConnector3">
            <a:avLst>
              <a:gd name="adj1" fmla="val -26501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4730E-FAD3-419D-0D80-F811CCF3A01F}"/>
              </a:ext>
            </a:extLst>
          </p:cNvPr>
          <p:cNvCxnSpPr>
            <a:cxnSpLocks/>
          </p:cNvCxnSpPr>
          <p:nvPr/>
        </p:nvCxnSpPr>
        <p:spPr>
          <a:xfrm>
            <a:off x="8993508" y="5993367"/>
            <a:ext cx="287594" cy="30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2066384-6C10-E2CB-D584-086636491637}"/>
              </a:ext>
            </a:extLst>
          </p:cNvPr>
          <p:cNvCxnSpPr>
            <a:cxnSpLocks/>
          </p:cNvCxnSpPr>
          <p:nvPr/>
        </p:nvCxnSpPr>
        <p:spPr>
          <a:xfrm>
            <a:off x="10708047" y="5993367"/>
            <a:ext cx="287594" cy="30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598D784-D080-A067-A549-CABA9E5E1DB8}"/>
              </a:ext>
            </a:extLst>
          </p:cNvPr>
          <p:cNvSpPr txBox="1"/>
          <p:nvPr/>
        </p:nvSpPr>
        <p:spPr>
          <a:xfrm>
            <a:off x="1853338" y="1288146"/>
            <a:ext cx="1293944" cy="369332"/>
          </a:xfrm>
          <a:prstGeom prst="rect">
            <a:avLst/>
          </a:prstGeom>
          <a:noFill/>
        </p:spPr>
        <p:txBody>
          <a:bodyPr wrap="none" rtlCol="0">
            <a:spAutoFit/>
          </a:bodyPr>
          <a:lstStyle/>
          <a:p>
            <a:r>
              <a:rPr lang="en-US" dirty="0"/>
              <a:t>Loaded PDF</a:t>
            </a:r>
            <a:endParaRPr lang="en-IN" dirty="0"/>
          </a:p>
        </p:txBody>
      </p:sp>
      <p:sp>
        <p:nvSpPr>
          <p:cNvPr id="36" name="TextBox 35">
            <a:extLst>
              <a:ext uri="{FF2B5EF4-FFF2-40B4-BE49-F238E27FC236}">
                <a16:creationId xmlns:a16="http://schemas.microsoft.com/office/drawing/2014/main" id="{A4A21C75-CFEF-BCE9-4ECE-E1C39F2D5D16}"/>
              </a:ext>
            </a:extLst>
          </p:cNvPr>
          <p:cNvSpPr txBox="1"/>
          <p:nvPr/>
        </p:nvSpPr>
        <p:spPr>
          <a:xfrm>
            <a:off x="7308968" y="5576286"/>
            <a:ext cx="427703" cy="369332"/>
          </a:xfrm>
          <a:prstGeom prst="rect">
            <a:avLst/>
          </a:prstGeom>
          <a:noFill/>
        </p:spPr>
        <p:txBody>
          <a:bodyPr wrap="square">
            <a:spAutoFit/>
          </a:bodyPr>
          <a:lstStyle/>
          <a:p>
            <a:r>
              <a:rPr lang="en-US" sz="1800" dirty="0"/>
              <a:t>+ </a:t>
            </a:r>
            <a:endParaRPr lang="en-IN" dirty="0"/>
          </a:p>
        </p:txBody>
      </p:sp>
      <p:pic>
        <p:nvPicPr>
          <p:cNvPr id="37" name="Picture 36">
            <a:extLst>
              <a:ext uri="{FF2B5EF4-FFF2-40B4-BE49-F238E27FC236}">
                <a16:creationId xmlns:a16="http://schemas.microsoft.com/office/drawing/2014/main" id="{D4C528CB-21CC-4B3A-0F04-C86E255F89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5304" y="298715"/>
            <a:ext cx="916800" cy="916800"/>
          </a:xfrm>
          <a:prstGeom prst="rect">
            <a:avLst/>
          </a:prstGeom>
        </p:spPr>
      </p:pic>
      <p:cxnSp>
        <p:nvCxnSpPr>
          <p:cNvPr id="38" name="Straight Arrow Connector 37">
            <a:extLst>
              <a:ext uri="{FF2B5EF4-FFF2-40B4-BE49-F238E27FC236}">
                <a16:creationId xmlns:a16="http://schemas.microsoft.com/office/drawing/2014/main" id="{EC67BE16-2BD1-9CF2-FD68-D7E0D4714A27}"/>
              </a:ext>
            </a:extLst>
          </p:cNvPr>
          <p:cNvCxnSpPr>
            <a:cxnSpLocks/>
          </p:cNvCxnSpPr>
          <p:nvPr/>
        </p:nvCxnSpPr>
        <p:spPr>
          <a:xfrm>
            <a:off x="1262216" y="753173"/>
            <a:ext cx="739878" cy="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C2CD088-059D-6BDC-7261-F9767B64D0CF}"/>
              </a:ext>
            </a:extLst>
          </p:cNvPr>
          <p:cNvSpPr txBox="1"/>
          <p:nvPr/>
        </p:nvSpPr>
        <p:spPr>
          <a:xfrm>
            <a:off x="401975" y="1280460"/>
            <a:ext cx="551754" cy="369332"/>
          </a:xfrm>
          <a:prstGeom prst="rect">
            <a:avLst/>
          </a:prstGeom>
          <a:noFill/>
        </p:spPr>
        <p:txBody>
          <a:bodyPr wrap="none" rtlCol="0">
            <a:spAutoFit/>
          </a:bodyPr>
          <a:lstStyle/>
          <a:p>
            <a:r>
              <a:rPr lang="en-US" dirty="0"/>
              <a:t>PDF</a:t>
            </a:r>
            <a:endParaRPr lang="en-IN" dirty="0"/>
          </a:p>
        </p:txBody>
      </p:sp>
      <p:sp>
        <p:nvSpPr>
          <p:cNvPr id="40" name="TextBox 39">
            <a:extLst>
              <a:ext uri="{FF2B5EF4-FFF2-40B4-BE49-F238E27FC236}">
                <a16:creationId xmlns:a16="http://schemas.microsoft.com/office/drawing/2014/main" id="{961DE53C-1BD1-391A-10DC-18844D014597}"/>
              </a:ext>
            </a:extLst>
          </p:cNvPr>
          <p:cNvSpPr txBox="1"/>
          <p:nvPr/>
        </p:nvSpPr>
        <p:spPr>
          <a:xfrm>
            <a:off x="1173861" y="252009"/>
            <a:ext cx="946028" cy="523220"/>
          </a:xfrm>
          <a:prstGeom prst="rect">
            <a:avLst/>
          </a:prstGeom>
          <a:noFill/>
        </p:spPr>
        <p:txBody>
          <a:bodyPr wrap="none" rtlCol="0">
            <a:spAutoFit/>
          </a:bodyPr>
          <a:lstStyle/>
          <a:p>
            <a:r>
              <a:rPr lang="en-US" sz="1400" dirty="0">
                <a:solidFill>
                  <a:srgbClr val="FF0000"/>
                </a:solidFill>
              </a:rPr>
              <a:t>Document</a:t>
            </a:r>
          </a:p>
          <a:p>
            <a:r>
              <a:rPr lang="en-US" sz="1400" dirty="0">
                <a:solidFill>
                  <a:srgbClr val="FF0000"/>
                </a:solidFill>
              </a:rPr>
              <a:t>Loader</a:t>
            </a:r>
            <a:endParaRPr lang="en-IN" sz="1400" dirty="0">
              <a:solidFill>
                <a:srgbClr val="FF0000"/>
              </a:solidFill>
            </a:endParaRPr>
          </a:p>
        </p:txBody>
      </p:sp>
      <p:sp>
        <p:nvSpPr>
          <p:cNvPr id="41" name="TextBox 40">
            <a:extLst>
              <a:ext uri="{FF2B5EF4-FFF2-40B4-BE49-F238E27FC236}">
                <a16:creationId xmlns:a16="http://schemas.microsoft.com/office/drawing/2014/main" id="{77C557C1-D39E-FA79-9E0D-2B7334D3FD95}"/>
              </a:ext>
            </a:extLst>
          </p:cNvPr>
          <p:cNvSpPr txBox="1"/>
          <p:nvPr/>
        </p:nvSpPr>
        <p:spPr>
          <a:xfrm>
            <a:off x="2958444" y="285608"/>
            <a:ext cx="713978" cy="523220"/>
          </a:xfrm>
          <a:prstGeom prst="rect">
            <a:avLst/>
          </a:prstGeom>
          <a:noFill/>
        </p:spPr>
        <p:txBody>
          <a:bodyPr wrap="none" rtlCol="0">
            <a:spAutoFit/>
          </a:bodyPr>
          <a:lstStyle/>
          <a:p>
            <a:r>
              <a:rPr lang="en-US" sz="1400" dirty="0">
                <a:solidFill>
                  <a:srgbClr val="FF0000"/>
                </a:solidFill>
              </a:rPr>
              <a:t>Text</a:t>
            </a:r>
          </a:p>
          <a:p>
            <a:r>
              <a:rPr lang="en-US" sz="1400" dirty="0">
                <a:solidFill>
                  <a:srgbClr val="FF0000"/>
                </a:solidFill>
              </a:rPr>
              <a:t>Splitter</a:t>
            </a:r>
            <a:endParaRPr lang="en-IN" sz="1400" dirty="0">
              <a:solidFill>
                <a:srgbClr val="FF0000"/>
              </a:solidFill>
            </a:endParaRPr>
          </a:p>
        </p:txBody>
      </p:sp>
      <p:sp>
        <p:nvSpPr>
          <p:cNvPr id="42" name="TextBox 41">
            <a:extLst>
              <a:ext uri="{FF2B5EF4-FFF2-40B4-BE49-F238E27FC236}">
                <a16:creationId xmlns:a16="http://schemas.microsoft.com/office/drawing/2014/main" id="{0F975A17-AC4B-5EF2-6E90-549F8648098F}"/>
              </a:ext>
            </a:extLst>
          </p:cNvPr>
          <p:cNvSpPr txBox="1"/>
          <p:nvPr/>
        </p:nvSpPr>
        <p:spPr>
          <a:xfrm>
            <a:off x="4559352" y="1599523"/>
            <a:ext cx="1515158" cy="307777"/>
          </a:xfrm>
          <a:prstGeom prst="rect">
            <a:avLst/>
          </a:prstGeom>
          <a:noFill/>
        </p:spPr>
        <p:txBody>
          <a:bodyPr wrap="none" rtlCol="0">
            <a:spAutoFit/>
          </a:bodyPr>
          <a:lstStyle/>
          <a:p>
            <a:r>
              <a:rPr lang="en-US" sz="1400" dirty="0">
                <a:solidFill>
                  <a:srgbClr val="FF0000"/>
                </a:solidFill>
              </a:rPr>
              <a:t>embedding model</a:t>
            </a:r>
            <a:endParaRPr lang="en-IN" sz="1400" dirty="0">
              <a:solidFill>
                <a:srgbClr val="FF0000"/>
              </a:solidFill>
            </a:endParaRPr>
          </a:p>
        </p:txBody>
      </p:sp>
      <p:sp>
        <p:nvSpPr>
          <p:cNvPr id="43" name="TextBox 42">
            <a:extLst>
              <a:ext uri="{FF2B5EF4-FFF2-40B4-BE49-F238E27FC236}">
                <a16:creationId xmlns:a16="http://schemas.microsoft.com/office/drawing/2014/main" id="{3460AE68-1AAE-AD0D-6480-8C918B9353A8}"/>
              </a:ext>
            </a:extLst>
          </p:cNvPr>
          <p:cNvSpPr txBox="1"/>
          <p:nvPr/>
        </p:nvSpPr>
        <p:spPr>
          <a:xfrm>
            <a:off x="1286401" y="5143793"/>
            <a:ext cx="1515158" cy="307777"/>
          </a:xfrm>
          <a:prstGeom prst="rect">
            <a:avLst/>
          </a:prstGeom>
          <a:noFill/>
        </p:spPr>
        <p:txBody>
          <a:bodyPr wrap="none" rtlCol="0">
            <a:spAutoFit/>
          </a:bodyPr>
          <a:lstStyle/>
          <a:p>
            <a:r>
              <a:rPr lang="en-US" sz="1400" dirty="0">
                <a:solidFill>
                  <a:srgbClr val="FF0000"/>
                </a:solidFill>
              </a:rPr>
              <a:t>embedding model</a:t>
            </a:r>
            <a:endParaRPr lang="en-IN" sz="1400" dirty="0">
              <a:solidFill>
                <a:srgbClr val="FF0000"/>
              </a:solidFill>
            </a:endParaRPr>
          </a:p>
        </p:txBody>
      </p:sp>
      <p:sp>
        <p:nvSpPr>
          <p:cNvPr id="2" name="TextBox 1">
            <a:extLst>
              <a:ext uri="{FF2B5EF4-FFF2-40B4-BE49-F238E27FC236}">
                <a16:creationId xmlns:a16="http://schemas.microsoft.com/office/drawing/2014/main" id="{E862E03B-35FD-40A5-EB8F-728FAFB8903E}"/>
              </a:ext>
            </a:extLst>
          </p:cNvPr>
          <p:cNvSpPr txBox="1"/>
          <p:nvPr/>
        </p:nvSpPr>
        <p:spPr>
          <a:xfrm>
            <a:off x="8406206" y="4992933"/>
            <a:ext cx="883640" cy="369332"/>
          </a:xfrm>
          <a:prstGeom prst="rect">
            <a:avLst/>
          </a:prstGeom>
          <a:noFill/>
        </p:spPr>
        <p:txBody>
          <a:bodyPr wrap="none" rtlCol="0">
            <a:spAutoFit/>
          </a:bodyPr>
          <a:lstStyle/>
          <a:p>
            <a:r>
              <a:rPr lang="en-US" dirty="0">
                <a:solidFill>
                  <a:srgbClr val="FF0000"/>
                </a:solidFill>
              </a:rPr>
              <a:t>Prompt</a:t>
            </a:r>
          </a:p>
        </p:txBody>
      </p:sp>
    </p:spTree>
    <p:extLst>
      <p:ext uri="{BB962C8B-B14F-4D97-AF65-F5344CB8AC3E}">
        <p14:creationId xmlns:p14="http://schemas.microsoft.com/office/powerpoint/2010/main" val="289350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D8613-7016-0319-F5B9-EF6138D3FA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604E57-8EB2-B1CB-86A2-F89E57BD8CDD}"/>
              </a:ext>
            </a:extLst>
          </p:cNvPr>
          <p:cNvSpPr txBox="1"/>
          <p:nvPr/>
        </p:nvSpPr>
        <p:spPr>
          <a:xfrm>
            <a:off x="530941" y="403573"/>
            <a:ext cx="11159613" cy="646331"/>
          </a:xfrm>
          <a:prstGeom prst="rect">
            <a:avLst/>
          </a:prstGeom>
          <a:noFill/>
        </p:spPr>
        <p:txBody>
          <a:bodyPr wrap="square">
            <a:spAutoFit/>
          </a:bodyPr>
          <a:lstStyle/>
          <a:p>
            <a:r>
              <a:rPr lang="en-US" dirty="0">
                <a:solidFill>
                  <a:srgbClr val="FF0000"/>
                </a:solidFill>
              </a:rPr>
              <a:t>Output parsers </a:t>
            </a:r>
            <a:r>
              <a:rPr lang="en-US" dirty="0"/>
              <a:t>in </a:t>
            </a:r>
            <a:r>
              <a:rPr lang="en-US" dirty="0" err="1"/>
              <a:t>LangChain</a:t>
            </a:r>
            <a:r>
              <a:rPr lang="en-US" dirty="0"/>
              <a:t> are crucial components that take the raw string output from a Large Language Model (LLM) and transform it into a more structured and usable format.</a:t>
            </a:r>
            <a:endParaRPr lang="en-IN" dirty="0"/>
          </a:p>
        </p:txBody>
      </p:sp>
      <p:sp>
        <p:nvSpPr>
          <p:cNvPr id="5" name="TextBox 4">
            <a:extLst>
              <a:ext uri="{FF2B5EF4-FFF2-40B4-BE49-F238E27FC236}">
                <a16:creationId xmlns:a16="http://schemas.microsoft.com/office/drawing/2014/main" id="{ED54B9D9-07D6-9669-EF7B-2EB49BC840E9}"/>
              </a:ext>
            </a:extLst>
          </p:cNvPr>
          <p:cNvSpPr txBox="1"/>
          <p:nvPr/>
        </p:nvSpPr>
        <p:spPr>
          <a:xfrm>
            <a:off x="78657" y="1658370"/>
            <a:ext cx="7000567" cy="1477328"/>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000" dirty="0"/>
              <a:t>Type: &lt;class '</a:t>
            </a:r>
            <a:r>
              <a:rPr lang="en-IN" sz="1000" dirty="0" err="1"/>
              <a:t>langchain_core.messages.ai.AIMessage</a:t>
            </a:r>
            <a:r>
              <a:rPr lang="en-IN" sz="1000" dirty="0"/>
              <a:t>'&gt;</a:t>
            </a:r>
          </a:p>
          <a:p>
            <a:r>
              <a:rPr lang="en-IN" sz="1000" dirty="0"/>
              <a:t>Full object: content="Hello there, furry friend! It's so nice to see your wagging tail and bright eyes today. Let's have some fun and go on an adventure together!" </a:t>
            </a:r>
            <a:r>
              <a:rPr lang="en-IN" sz="1000" dirty="0" err="1"/>
              <a:t>additional_kwargs</a:t>
            </a:r>
            <a:r>
              <a:rPr lang="en-IN" sz="1000" dirty="0"/>
              <a:t>={'refusal': None} </a:t>
            </a:r>
            <a:r>
              <a:rPr lang="en-IN" sz="1000" dirty="0" err="1"/>
              <a:t>response_metadata</a:t>
            </a:r>
            <a:r>
              <a:rPr lang="en-IN" sz="1000" dirty="0"/>
              <a:t>={'</a:t>
            </a:r>
            <a:r>
              <a:rPr lang="en-IN" sz="1000" dirty="0" err="1"/>
              <a:t>token_usage</a:t>
            </a:r>
            <a:r>
              <a:rPr lang="en-IN" sz="1000" dirty="0"/>
              <a:t>': {'</a:t>
            </a:r>
            <a:r>
              <a:rPr lang="en-IN" sz="1000" dirty="0" err="1"/>
              <a:t>completion_tokens</a:t>
            </a:r>
            <a:r>
              <a:rPr lang="en-IN" sz="1000" dirty="0"/>
              <a:t>': 33, '</a:t>
            </a:r>
            <a:r>
              <a:rPr lang="en-IN" sz="1000" dirty="0" err="1"/>
              <a:t>prompt_tokens</a:t>
            </a:r>
            <a:r>
              <a:rPr lang="en-IN" sz="1000" dirty="0"/>
              <a:t>': 19, '</a:t>
            </a:r>
            <a:r>
              <a:rPr lang="en-IN" sz="1000" dirty="0" err="1"/>
              <a:t>total_tokens</a:t>
            </a:r>
            <a:r>
              <a:rPr lang="en-IN" sz="1000" dirty="0"/>
              <a:t>': 52, '</a:t>
            </a:r>
            <a:r>
              <a:rPr lang="en-IN" sz="1000" dirty="0" err="1"/>
              <a:t>completion_tokens_details</a:t>
            </a:r>
            <a:r>
              <a:rPr lang="en-IN" sz="1000" dirty="0"/>
              <a:t>': {'</a:t>
            </a:r>
            <a:r>
              <a:rPr lang="en-IN" sz="1000" dirty="0" err="1"/>
              <a:t>accepted_prediction_tokens</a:t>
            </a:r>
            <a:r>
              <a:rPr lang="en-IN" sz="1000" dirty="0"/>
              <a:t>': 0, '</a:t>
            </a:r>
            <a:r>
              <a:rPr lang="en-IN" sz="1000" dirty="0" err="1"/>
              <a:t>audio_tokens</a:t>
            </a:r>
            <a:r>
              <a:rPr lang="en-IN" sz="1000" dirty="0"/>
              <a:t>': 0, '</a:t>
            </a:r>
            <a:r>
              <a:rPr lang="en-IN" sz="1000" dirty="0" err="1"/>
              <a:t>reasoning_tokens</a:t>
            </a:r>
            <a:r>
              <a:rPr lang="en-IN" sz="1000" dirty="0"/>
              <a:t>': 0, '</a:t>
            </a:r>
            <a:r>
              <a:rPr lang="en-IN" sz="1000" dirty="0" err="1"/>
              <a:t>rejected_prediction_tokens</a:t>
            </a:r>
            <a:r>
              <a:rPr lang="en-IN" sz="1000" dirty="0"/>
              <a:t>': 0}, '</a:t>
            </a:r>
            <a:r>
              <a:rPr lang="en-IN" sz="1000" dirty="0" err="1"/>
              <a:t>prompt_tokens_details</a:t>
            </a:r>
            <a:r>
              <a:rPr lang="en-IN" sz="1000" dirty="0"/>
              <a:t>': {'</a:t>
            </a:r>
            <a:r>
              <a:rPr lang="en-IN" sz="1000" dirty="0" err="1"/>
              <a:t>audio_tokens</a:t>
            </a:r>
            <a:r>
              <a:rPr lang="en-IN" sz="1000" dirty="0"/>
              <a:t>': 0, '</a:t>
            </a:r>
            <a:r>
              <a:rPr lang="en-IN" sz="1000" dirty="0" err="1"/>
              <a:t>cached_tokens</a:t>
            </a:r>
            <a:r>
              <a:rPr lang="en-IN" sz="1000" dirty="0"/>
              <a:t>': 0}}, '</a:t>
            </a:r>
            <a:r>
              <a:rPr lang="en-IN" sz="1000" dirty="0" err="1"/>
              <a:t>model_name</a:t>
            </a:r>
            <a:r>
              <a:rPr lang="en-IN" sz="1000" dirty="0"/>
              <a:t>': 'gpt-3.5-turbo-0125', '</a:t>
            </a:r>
            <a:r>
              <a:rPr lang="en-IN" sz="1000" dirty="0" err="1"/>
              <a:t>system_fingerprint</a:t>
            </a:r>
            <a:r>
              <a:rPr lang="en-IN" sz="1000" dirty="0"/>
              <a:t>': None, 'id': 'chatcmpl-BohO5nJmCbPFvGcVhKi42XUIFyl8q', '</a:t>
            </a:r>
            <a:r>
              <a:rPr lang="en-IN" sz="1000" dirty="0" err="1"/>
              <a:t>service_tier</a:t>
            </a:r>
            <a:r>
              <a:rPr lang="en-IN" sz="1000" dirty="0"/>
              <a:t>': 'default', '</a:t>
            </a:r>
            <a:r>
              <a:rPr lang="en-IN" sz="1000" dirty="0" err="1"/>
              <a:t>finish_reason</a:t>
            </a:r>
            <a:r>
              <a:rPr lang="en-IN" sz="1000" dirty="0"/>
              <a:t>': 'stop', '</a:t>
            </a:r>
            <a:r>
              <a:rPr lang="en-IN" sz="1000" dirty="0" err="1"/>
              <a:t>logprobs</a:t>
            </a:r>
            <a:r>
              <a:rPr lang="en-IN" sz="1000" dirty="0"/>
              <a:t>': None} id='run--a4cf1b34-09f3-4d30-9303-94102dce238b-0' </a:t>
            </a:r>
            <a:r>
              <a:rPr lang="en-IN" sz="1000" dirty="0" err="1"/>
              <a:t>usage_metadata</a:t>
            </a:r>
            <a:r>
              <a:rPr lang="en-IN" sz="1000" dirty="0"/>
              <a:t>={'</a:t>
            </a:r>
            <a:r>
              <a:rPr lang="en-IN" sz="1000" dirty="0" err="1"/>
              <a:t>input_tokens</a:t>
            </a:r>
            <a:r>
              <a:rPr lang="en-IN" sz="1000" dirty="0"/>
              <a:t>': 19, '</a:t>
            </a:r>
            <a:r>
              <a:rPr lang="en-IN" sz="1000" dirty="0" err="1"/>
              <a:t>output_tokens</a:t>
            </a:r>
            <a:r>
              <a:rPr lang="en-IN" sz="1000" dirty="0"/>
              <a:t>': 33, '</a:t>
            </a:r>
            <a:r>
              <a:rPr lang="en-IN" sz="1000" dirty="0" err="1"/>
              <a:t>total_tokens</a:t>
            </a:r>
            <a:r>
              <a:rPr lang="en-IN" sz="1000" dirty="0"/>
              <a:t>': 52, '</a:t>
            </a:r>
            <a:r>
              <a:rPr lang="en-IN" sz="1000" dirty="0" err="1"/>
              <a:t>input_token_details</a:t>
            </a:r>
            <a:r>
              <a:rPr lang="en-IN" sz="1000" dirty="0"/>
              <a:t>': {'audio': 0, '</a:t>
            </a:r>
            <a:r>
              <a:rPr lang="en-IN" sz="1000" dirty="0" err="1"/>
              <a:t>cache_read</a:t>
            </a:r>
            <a:r>
              <a:rPr lang="en-IN" sz="1000" dirty="0"/>
              <a:t>': 0}, '</a:t>
            </a:r>
            <a:r>
              <a:rPr lang="en-IN" sz="1000" dirty="0" err="1"/>
              <a:t>output_token_details</a:t>
            </a:r>
            <a:r>
              <a:rPr lang="en-IN" sz="1000" dirty="0"/>
              <a:t>': {'audio': 0, 'reasoning': 0}}</a:t>
            </a:r>
          </a:p>
        </p:txBody>
      </p:sp>
      <p:sp>
        <p:nvSpPr>
          <p:cNvPr id="7" name="TextBox 6">
            <a:extLst>
              <a:ext uri="{FF2B5EF4-FFF2-40B4-BE49-F238E27FC236}">
                <a16:creationId xmlns:a16="http://schemas.microsoft.com/office/drawing/2014/main" id="{861B9D57-CA6F-F02F-7761-598393DB1882}"/>
              </a:ext>
            </a:extLst>
          </p:cNvPr>
          <p:cNvSpPr txBox="1"/>
          <p:nvPr/>
        </p:nvSpPr>
        <p:spPr>
          <a:xfrm>
            <a:off x="7750277" y="2196979"/>
            <a:ext cx="3224980" cy="400110"/>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000" dirty="0"/>
              <a:t>'Hey there, furry friend! Hope you're having a </a:t>
            </a:r>
            <a:r>
              <a:rPr lang="en-IN" sz="1000" dirty="0" err="1"/>
              <a:t>pawsome</a:t>
            </a:r>
            <a:endParaRPr lang="en-IN" sz="1000" dirty="0"/>
          </a:p>
          <a:p>
            <a:r>
              <a:rPr lang="en-IN" sz="1000" dirty="0"/>
              <a:t> day full of tail wags and belly rubs. Woof </a:t>
            </a:r>
            <a:r>
              <a:rPr lang="en-IN" sz="1000" dirty="0" err="1"/>
              <a:t>woof</a:t>
            </a:r>
            <a:r>
              <a:rPr lang="en-IN" sz="1000" dirty="0"/>
              <a:t>!'</a:t>
            </a:r>
          </a:p>
        </p:txBody>
      </p:sp>
      <p:sp>
        <p:nvSpPr>
          <p:cNvPr id="9" name="TextBox 8">
            <a:extLst>
              <a:ext uri="{FF2B5EF4-FFF2-40B4-BE49-F238E27FC236}">
                <a16:creationId xmlns:a16="http://schemas.microsoft.com/office/drawing/2014/main" id="{C57A8780-EB69-DC84-B5FF-94313098C6AF}"/>
              </a:ext>
            </a:extLst>
          </p:cNvPr>
          <p:cNvSpPr txBox="1"/>
          <p:nvPr/>
        </p:nvSpPr>
        <p:spPr>
          <a:xfrm>
            <a:off x="78657" y="3615495"/>
            <a:ext cx="7162800" cy="2169825"/>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900" dirty="0"/>
              <a:t>result: content="Introducing the latest in cutting-edge technology, the XYZ Smartphone is a must-have device for anyone looking to stay connected and organized on the go. With its sleek and modern design, this smartphone is not only visually appealing but also packed with powerful features.\n\</a:t>
            </a:r>
            <a:r>
              <a:rPr lang="en-IN" sz="900" dirty="0" err="1"/>
              <a:t>nFeaturing</a:t>
            </a:r>
            <a:r>
              <a:rPr lang="en-IN" sz="900" dirty="0"/>
              <a:t> a vibrant 6.5-inch HD display, you can enjoy crystal-clear visuals whether you're streaming videos, browsing social media, or playing games. The XYZ Smartphone also boasts a fast and responsive processor, ensuring smooth performance for all your multitasking needs.\n\</a:t>
            </a:r>
            <a:r>
              <a:rPr lang="en-IN" sz="900" dirty="0" err="1"/>
              <a:t>nCapture</a:t>
            </a:r>
            <a:r>
              <a:rPr lang="en-IN" sz="900" dirty="0"/>
              <a:t> every moment with stunning clarity with the XYZ Smartphone's high-quality dual camera system. Whether you're taking selfies, landscape shots, or close-ups, you can expect sharp and detailed photos every time. Plus, with 128GB of storage space, you'll never have to worry about running out of space for your photos and videos.\n\</a:t>
            </a:r>
            <a:r>
              <a:rPr lang="en-IN" sz="900" dirty="0" err="1"/>
              <a:t>nStay</a:t>
            </a:r>
            <a:r>
              <a:rPr lang="en-IN" sz="900" dirty="0"/>
              <a:t> connected with friends, family, and colleagues with the XYZ Smartphone's advanced communication features. From crystal-clear voice calls to lightning-fast data speeds, you can rely on this smartphone to keep you connected no matter where your day takes you.\n\</a:t>
            </a:r>
            <a:r>
              <a:rPr lang="en-IN" sz="900" dirty="0" err="1"/>
              <a:t>nExperience</a:t>
            </a:r>
            <a:r>
              <a:rPr lang="en-IN" sz="900" dirty="0"/>
              <a:t> the future of mobile technology with the XYZ Smartphone - the perfect blend of style, performance, and innovation." </a:t>
            </a:r>
            <a:r>
              <a:rPr lang="en-IN" sz="900" dirty="0" err="1"/>
              <a:t>additional_kwargs</a:t>
            </a:r>
            <a:r>
              <a:rPr lang="en-IN" sz="900" dirty="0"/>
              <a:t>={'refusal': None} </a:t>
            </a:r>
            <a:r>
              <a:rPr lang="en-IN" sz="900" dirty="0" err="1"/>
              <a:t>response_metadata</a:t>
            </a:r>
            <a:r>
              <a:rPr lang="en-IN" sz="900" dirty="0"/>
              <a:t>={'</a:t>
            </a:r>
            <a:r>
              <a:rPr lang="en-IN" sz="900" dirty="0" err="1"/>
              <a:t>token_usage</a:t>
            </a:r>
            <a:r>
              <a:rPr lang="en-IN" sz="900" dirty="0"/>
              <a:t>': {'</a:t>
            </a:r>
            <a:r>
              <a:rPr lang="en-IN" sz="900" dirty="0" err="1"/>
              <a:t>completion_tokens</a:t>
            </a:r>
            <a:r>
              <a:rPr lang="en-IN" sz="900" dirty="0"/>
              <a:t>': 239, '</a:t>
            </a:r>
            <a:r>
              <a:rPr lang="en-IN" sz="900" dirty="0" err="1"/>
              <a:t>prompt_tokens</a:t>
            </a:r>
            <a:r>
              <a:rPr lang="en-IN" sz="900" dirty="0"/>
              <a:t>': 15, '</a:t>
            </a:r>
            <a:r>
              <a:rPr lang="en-IN" sz="900" dirty="0" err="1"/>
              <a:t>total_tokens</a:t>
            </a:r>
            <a:r>
              <a:rPr lang="en-IN" sz="900" dirty="0"/>
              <a:t>': 254, '</a:t>
            </a:r>
            <a:r>
              <a:rPr lang="en-IN" sz="900" dirty="0" err="1"/>
              <a:t>completion_tokens_details</a:t>
            </a:r>
            <a:r>
              <a:rPr lang="en-IN" sz="900" dirty="0"/>
              <a:t>': {'</a:t>
            </a:r>
            <a:r>
              <a:rPr lang="en-IN" sz="900" dirty="0" err="1"/>
              <a:t>accepted_prediction_tokens</a:t>
            </a:r>
            <a:r>
              <a:rPr lang="en-IN" sz="900" dirty="0"/>
              <a:t>': 0, '</a:t>
            </a:r>
            <a:r>
              <a:rPr lang="en-IN" sz="900" dirty="0" err="1"/>
              <a:t>audio_tokens</a:t>
            </a:r>
            <a:r>
              <a:rPr lang="en-IN" sz="900" dirty="0"/>
              <a:t>': 0, '</a:t>
            </a:r>
            <a:r>
              <a:rPr lang="en-IN" sz="900" dirty="0" err="1"/>
              <a:t>reasoning_tokens</a:t>
            </a:r>
            <a:r>
              <a:rPr lang="en-IN" sz="900" dirty="0"/>
              <a:t>': 0, '</a:t>
            </a:r>
            <a:r>
              <a:rPr lang="en-IN" sz="900" dirty="0" err="1"/>
              <a:t>rejected_prediction_tokens</a:t>
            </a:r>
            <a:r>
              <a:rPr lang="en-IN" sz="900" dirty="0"/>
              <a:t>': 0}, '</a:t>
            </a:r>
            <a:r>
              <a:rPr lang="en-IN" sz="900" dirty="0" err="1"/>
              <a:t>prompt_tokens_details</a:t>
            </a:r>
            <a:r>
              <a:rPr lang="en-IN" sz="900" dirty="0"/>
              <a:t>': {'</a:t>
            </a:r>
            <a:r>
              <a:rPr lang="en-IN" sz="900" dirty="0" err="1"/>
              <a:t>audio_tokens</a:t>
            </a:r>
            <a:r>
              <a:rPr lang="en-IN" sz="900" dirty="0"/>
              <a:t>': 0, '</a:t>
            </a:r>
            <a:r>
              <a:rPr lang="en-IN" sz="900" dirty="0" err="1"/>
              <a:t>cached_tokens</a:t>
            </a:r>
            <a:r>
              <a:rPr lang="en-IN" sz="900" dirty="0"/>
              <a:t>': 0}}, '</a:t>
            </a:r>
            <a:r>
              <a:rPr lang="en-IN" sz="900" dirty="0" err="1"/>
              <a:t>model_name</a:t>
            </a:r>
            <a:r>
              <a:rPr lang="en-IN" sz="900" dirty="0"/>
              <a:t>': 'gpt-3.5-turbo-0125', '</a:t>
            </a:r>
            <a:r>
              <a:rPr lang="en-IN" sz="900" dirty="0" err="1"/>
              <a:t>system_fingerprint</a:t>
            </a:r>
            <a:r>
              <a:rPr lang="en-IN" sz="900" dirty="0"/>
              <a:t>': None, 'id': 'chatcmpl-BohQcBP82VzKxIklyxZpYFeFhtfYE', '</a:t>
            </a:r>
            <a:r>
              <a:rPr lang="en-IN" sz="900" dirty="0" err="1"/>
              <a:t>service_tier</a:t>
            </a:r>
            <a:r>
              <a:rPr lang="en-IN" sz="900" dirty="0"/>
              <a:t>': 'default', '</a:t>
            </a:r>
            <a:r>
              <a:rPr lang="en-IN" sz="900" dirty="0" err="1"/>
              <a:t>finish_reason</a:t>
            </a:r>
            <a:r>
              <a:rPr lang="en-IN" sz="900" dirty="0"/>
              <a:t>': 'stop', '</a:t>
            </a:r>
            <a:r>
              <a:rPr lang="en-IN" sz="900" dirty="0" err="1"/>
              <a:t>logprobs</a:t>
            </a:r>
            <a:r>
              <a:rPr lang="en-IN" sz="900" dirty="0"/>
              <a:t>': None} id='run--493bc80a-43c2-4ccc-a172-8d01391223ba-0' </a:t>
            </a:r>
            <a:r>
              <a:rPr lang="en-IN" sz="900" dirty="0" err="1"/>
              <a:t>usage_metadata</a:t>
            </a:r>
            <a:r>
              <a:rPr lang="en-IN" sz="900" dirty="0"/>
              <a:t>={'</a:t>
            </a:r>
            <a:r>
              <a:rPr lang="en-IN" sz="900" dirty="0" err="1"/>
              <a:t>input_tokens</a:t>
            </a:r>
            <a:r>
              <a:rPr lang="en-IN" sz="900" dirty="0"/>
              <a:t>': 15, '</a:t>
            </a:r>
            <a:r>
              <a:rPr lang="en-IN" sz="900" dirty="0" err="1"/>
              <a:t>output_tokens</a:t>
            </a:r>
            <a:r>
              <a:rPr lang="en-IN" sz="900" dirty="0"/>
              <a:t>': 239, '</a:t>
            </a:r>
            <a:r>
              <a:rPr lang="en-IN" sz="900" dirty="0" err="1"/>
              <a:t>total_tokens</a:t>
            </a:r>
            <a:r>
              <a:rPr lang="en-IN" sz="900" dirty="0"/>
              <a:t>': 254, '</a:t>
            </a:r>
            <a:r>
              <a:rPr lang="en-IN" sz="900" dirty="0" err="1"/>
              <a:t>input_token_details</a:t>
            </a:r>
            <a:r>
              <a:rPr lang="en-IN" sz="900" dirty="0"/>
              <a:t>': {'audio': 0, '</a:t>
            </a:r>
            <a:r>
              <a:rPr lang="en-IN" sz="900" dirty="0" err="1"/>
              <a:t>cache_read</a:t>
            </a:r>
            <a:r>
              <a:rPr lang="en-IN" sz="900" dirty="0"/>
              <a:t>': 0}, '</a:t>
            </a:r>
            <a:r>
              <a:rPr lang="en-IN" sz="900" dirty="0" err="1"/>
              <a:t>output_token_details</a:t>
            </a:r>
            <a:r>
              <a:rPr lang="en-IN" sz="900" dirty="0"/>
              <a:t>': {'audio': 0, 'reasoning': 0}}</a:t>
            </a:r>
          </a:p>
        </p:txBody>
      </p:sp>
      <p:sp>
        <p:nvSpPr>
          <p:cNvPr id="11" name="TextBox 10">
            <a:extLst>
              <a:ext uri="{FF2B5EF4-FFF2-40B4-BE49-F238E27FC236}">
                <a16:creationId xmlns:a16="http://schemas.microsoft.com/office/drawing/2014/main" id="{5669937F-88AC-9434-BBEA-BCC3B8AE17F5}"/>
              </a:ext>
            </a:extLst>
          </p:cNvPr>
          <p:cNvSpPr txBox="1"/>
          <p:nvPr/>
        </p:nvSpPr>
        <p:spPr>
          <a:xfrm>
            <a:off x="7750277" y="4192575"/>
            <a:ext cx="4294238" cy="1015663"/>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000" dirty="0"/>
              <a:t>result: {'</a:t>
            </a:r>
            <a:r>
              <a:rPr lang="en-IN" sz="1000" dirty="0" err="1"/>
              <a:t>product_name</a:t>
            </a:r>
            <a:r>
              <a:rPr lang="en-IN" sz="1000" dirty="0"/>
              <a:t>': 'Samsung Galaxy S20’,</a:t>
            </a:r>
          </a:p>
          <a:p>
            <a:r>
              <a:rPr lang="en-IN" sz="1000" dirty="0"/>
              <a:t> 'price': '$999’, </a:t>
            </a:r>
          </a:p>
          <a:p>
            <a:r>
              <a:rPr lang="en-IN" sz="1000" dirty="0"/>
              <a:t>'category': 'Smartphone’, </a:t>
            </a:r>
          </a:p>
          <a:p>
            <a:r>
              <a:rPr lang="en-IN" sz="1000" dirty="0"/>
              <a:t>'rating': '4.5’, </a:t>
            </a:r>
          </a:p>
          <a:p>
            <a:r>
              <a:rPr lang="en-IN" sz="1000" dirty="0"/>
              <a:t>'features': '6.2-inch AMOLED display, 5G connectivity, 64MP triple camera system, 128GB storage, 12GB RAM, </a:t>
            </a:r>
            <a:r>
              <a:rPr lang="en-IN" sz="1000" dirty="0" err="1"/>
              <a:t>Exynos</a:t>
            </a:r>
            <a:r>
              <a:rPr lang="en-IN" sz="1000" dirty="0"/>
              <a:t> 990 processor'}</a:t>
            </a:r>
          </a:p>
        </p:txBody>
      </p:sp>
      <p:cxnSp>
        <p:nvCxnSpPr>
          <p:cNvPr id="13" name="Straight Arrow Connector 12">
            <a:extLst>
              <a:ext uri="{FF2B5EF4-FFF2-40B4-BE49-F238E27FC236}">
                <a16:creationId xmlns:a16="http://schemas.microsoft.com/office/drawing/2014/main" id="{7678114A-6C4E-C74D-E61A-D3A9A9790C0C}"/>
              </a:ext>
            </a:extLst>
          </p:cNvPr>
          <p:cNvCxnSpPr>
            <a:stCxn id="5" idx="3"/>
            <a:endCxn id="7" idx="1"/>
          </p:cNvCxnSpPr>
          <p:nvPr/>
        </p:nvCxnSpPr>
        <p:spPr>
          <a:xfrm>
            <a:off x="7079224" y="2397034"/>
            <a:ext cx="671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6B32055-2CC4-A9B6-8A0F-17AD7DD1F1DB}"/>
              </a:ext>
            </a:extLst>
          </p:cNvPr>
          <p:cNvCxnSpPr>
            <a:stCxn id="9" idx="3"/>
            <a:endCxn id="11" idx="1"/>
          </p:cNvCxnSpPr>
          <p:nvPr/>
        </p:nvCxnSpPr>
        <p:spPr>
          <a:xfrm flipV="1">
            <a:off x="7241457" y="4700407"/>
            <a:ext cx="50882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73F3A98-43A6-2371-06A2-68DEC85F8CAB}"/>
              </a:ext>
            </a:extLst>
          </p:cNvPr>
          <p:cNvSpPr txBox="1"/>
          <p:nvPr/>
        </p:nvSpPr>
        <p:spPr>
          <a:xfrm>
            <a:off x="8377084" y="1214570"/>
            <a:ext cx="2290916" cy="369332"/>
          </a:xfrm>
          <a:prstGeom prst="rect">
            <a:avLst/>
          </a:prstGeom>
          <a:noFill/>
        </p:spPr>
        <p:txBody>
          <a:bodyPr wrap="square">
            <a:spAutoFit/>
          </a:bodyPr>
          <a:lstStyle/>
          <a:p>
            <a:r>
              <a:rPr lang="en-US" dirty="0"/>
              <a:t>Structured output</a:t>
            </a:r>
            <a:endParaRPr lang="en-IN" dirty="0"/>
          </a:p>
        </p:txBody>
      </p:sp>
    </p:spTree>
    <p:extLst>
      <p:ext uri="{BB962C8B-B14F-4D97-AF65-F5344CB8AC3E}">
        <p14:creationId xmlns:p14="http://schemas.microsoft.com/office/powerpoint/2010/main" val="386811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50"/>
                                        <p:tgtEl>
                                          <p:spTgt spid="13"/>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50"/>
                                        <p:tgtEl>
                                          <p:spTgt spid="19"/>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50"/>
                                        <p:tgtEl>
                                          <p:spTgt spid="9"/>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250"/>
                                        <p:tgtEl>
                                          <p:spTgt spid="1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4840F-3E4F-E51D-AE6F-DC6630D2E1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849362F-3F98-4F1E-427C-623D3AEBA1BD}"/>
              </a:ext>
            </a:extLst>
          </p:cNvPr>
          <p:cNvPicPr>
            <a:picLocks noChangeAspect="1"/>
          </p:cNvPicPr>
          <p:nvPr/>
        </p:nvPicPr>
        <p:blipFill>
          <a:blip r:embed="rId2"/>
          <a:stretch>
            <a:fillRect/>
          </a:stretch>
        </p:blipFill>
        <p:spPr>
          <a:xfrm>
            <a:off x="249711" y="1116989"/>
            <a:ext cx="5924947" cy="3837994"/>
          </a:xfrm>
          <a:prstGeom prst="roundRect">
            <a:avLst>
              <a:gd name="adj" fmla="val 8402"/>
            </a:avLst>
          </a:prstGeom>
        </p:spPr>
      </p:pic>
      <p:sp>
        <p:nvSpPr>
          <p:cNvPr id="4" name="TextBox 3">
            <a:extLst>
              <a:ext uri="{FF2B5EF4-FFF2-40B4-BE49-F238E27FC236}">
                <a16:creationId xmlns:a16="http://schemas.microsoft.com/office/drawing/2014/main" id="{C9D513FA-9846-8023-6CA6-E916E76266BB}"/>
              </a:ext>
            </a:extLst>
          </p:cNvPr>
          <p:cNvSpPr txBox="1"/>
          <p:nvPr/>
        </p:nvSpPr>
        <p:spPr>
          <a:xfrm>
            <a:off x="7081180" y="1227267"/>
            <a:ext cx="4992834" cy="1200329"/>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200" dirty="0"/>
              <a:t>result: {'</a:t>
            </a:r>
            <a:r>
              <a:rPr lang="en-IN" sz="1200" dirty="0" err="1"/>
              <a:t>product_name</a:t>
            </a:r>
            <a:r>
              <a:rPr lang="en-IN" sz="1200" dirty="0"/>
              <a:t>': 'Samsung Galaxy S20’,</a:t>
            </a:r>
          </a:p>
          <a:p>
            <a:r>
              <a:rPr lang="en-IN" sz="1200" dirty="0"/>
              <a:t> 'price': '$999’, </a:t>
            </a:r>
          </a:p>
          <a:p>
            <a:r>
              <a:rPr lang="en-IN" sz="1200" dirty="0"/>
              <a:t>'category': 'Smartphone’, </a:t>
            </a:r>
          </a:p>
          <a:p>
            <a:r>
              <a:rPr lang="en-IN" sz="1200" dirty="0"/>
              <a:t>'rating': '4.5’, </a:t>
            </a:r>
          </a:p>
          <a:p>
            <a:r>
              <a:rPr lang="en-IN" sz="1200" dirty="0"/>
              <a:t>'features': '6.2-inch AMOLED display, 5G connectivity, 64MP triple camera system, 128GB storage, 12GB RAM, </a:t>
            </a:r>
            <a:r>
              <a:rPr lang="en-IN" sz="1200" dirty="0" err="1"/>
              <a:t>Exynos</a:t>
            </a:r>
            <a:r>
              <a:rPr lang="en-IN" sz="1200" dirty="0"/>
              <a:t> 990 processor'}</a:t>
            </a:r>
          </a:p>
        </p:txBody>
      </p:sp>
      <p:sp>
        <p:nvSpPr>
          <p:cNvPr id="5" name="Rectangle: Rounded Corners 4">
            <a:extLst>
              <a:ext uri="{FF2B5EF4-FFF2-40B4-BE49-F238E27FC236}">
                <a16:creationId xmlns:a16="http://schemas.microsoft.com/office/drawing/2014/main" id="{99CCB010-9235-D0E5-1CE2-BA93D79B0DA4}"/>
              </a:ext>
            </a:extLst>
          </p:cNvPr>
          <p:cNvSpPr/>
          <p:nvPr/>
        </p:nvSpPr>
        <p:spPr>
          <a:xfrm>
            <a:off x="8701549" y="1227267"/>
            <a:ext cx="1504336" cy="261438"/>
          </a:xfrm>
          <a:prstGeom prst="round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45414CE-4985-8325-BF51-61FB49DC52FF}"/>
              </a:ext>
            </a:extLst>
          </p:cNvPr>
          <p:cNvSpPr txBox="1"/>
          <p:nvPr/>
        </p:nvSpPr>
        <p:spPr>
          <a:xfrm>
            <a:off x="8908025" y="678831"/>
            <a:ext cx="428964" cy="369332"/>
          </a:xfrm>
          <a:prstGeom prst="rect">
            <a:avLst/>
          </a:prstGeom>
          <a:noFill/>
        </p:spPr>
        <p:txBody>
          <a:bodyPr wrap="none" rtlCol="0">
            <a:spAutoFit/>
          </a:bodyPr>
          <a:lstStyle/>
          <a:p>
            <a:r>
              <a:rPr lang="en-US" dirty="0"/>
              <a:t>str</a:t>
            </a:r>
            <a:endParaRPr lang="en-IN" dirty="0"/>
          </a:p>
        </p:txBody>
      </p:sp>
      <p:sp>
        <p:nvSpPr>
          <p:cNvPr id="8" name="Rectangle: Rounded Corners 7">
            <a:extLst>
              <a:ext uri="{FF2B5EF4-FFF2-40B4-BE49-F238E27FC236}">
                <a16:creationId xmlns:a16="http://schemas.microsoft.com/office/drawing/2014/main" id="{3464F644-1270-135D-1F67-EC89A7131F14}"/>
              </a:ext>
            </a:extLst>
          </p:cNvPr>
          <p:cNvSpPr/>
          <p:nvPr/>
        </p:nvSpPr>
        <p:spPr>
          <a:xfrm>
            <a:off x="7570839" y="1827431"/>
            <a:ext cx="462116" cy="162719"/>
          </a:xfrm>
          <a:prstGeom prst="roundRect">
            <a:avLst/>
          </a:prstGeom>
          <a:no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TextBox 8">
            <a:extLst>
              <a:ext uri="{FF2B5EF4-FFF2-40B4-BE49-F238E27FC236}">
                <a16:creationId xmlns:a16="http://schemas.microsoft.com/office/drawing/2014/main" id="{8BA9BE67-5472-F92E-E438-48B617360324}"/>
              </a:ext>
            </a:extLst>
          </p:cNvPr>
          <p:cNvSpPr txBox="1"/>
          <p:nvPr/>
        </p:nvSpPr>
        <p:spPr>
          <a:xfrm>
            <a:off x="7768744" y="2465183"/>
            <a:ext cx="615361" cy="369332"/>
          </a:xfrm>
          <a:prstGeom prst="rect">
            <a:avLst/>
          </a:prstGeom>
          <a:noFill/>
        </p:spPr>
        <p:txBody>
          <a:bodyPr wrap="none" rtlCol="0">
            <a:spAutoFit/>
          </a:bodyPr>
          <a:lstStyle/>
          <a:p>
            <a:r>
              <a:rPr lang="en-US" dirty="0"/>
              <a:t>float</a:t>
            </a:r>
            <a:endParaRPr lang="en-IN" dirty="0"/>
          </a:p>
        </p:txBody>
      </p:sp>
      <p:cxnSp>
        <p:nvCxnSpPr>
          <p:cNvPr id="11" name="Straight Arrow Connector 10">
            <a:extLst>
              <a:ext uri="{FF2B5EF4-FFF2-40B4-BE49-F238E27FC236}">
                <a16:creationId xmlns:a16="http://schemas.microsoft.com/office/drawing/2014/main" id="{AD09F139-DF49-4B21-2483-B78BC788C202}"/>
              </a:ext>
            </a:extLst>
          </p:cNvPr>
          <p:cNvCxnSpPr>
            <a:stCxn id="9" idx="0"/>
            <a:endCxn id="8" idx="2"/>
          </p:cNvCxnSpPr>
          <p:nvPr/>
        </p:nvCxnSpPr>
        <p:spPr>
          <a:xfrm flipH="1" flipV="1">
            <a:off x="7801897" y="1990150"/>
            <a:ext cx="274528" cy="475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5476360-7ED5-69D8-E707-6921EBB35722}"/>
              </a:ext>
            </a:extLst>
          </p:cNvPr>
          <p:cNvCxnSpPr>
            <a:stCxn id="6" idx="2"/>
            <a:endCxn id="5" idx="0"/>
          </p:cNvCxnSpPr>
          <p:nvPr/>
        </p:nvCxnSpPr>
        <p:spPr>
          <a:xfrm>
            <a:off x="9122507" y="1048163"/>
            <a:ext cx="331210" cy="179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CA41BC7-3A8F-34B0-D21C-9E02D56B08FF}"/>
              </a:ext>
            </a:extLst>
          </p:cNvPr>
          <p:cNvSpPr txBox="1"/>
          <p:nvPr/>
        </p:nvSpPr>
        <p:spPr>
          <a:xfrm>
            <a:off x="6811333" y="4291905"/>
            <a:ext cx="5130956" cy="276999"/>
          </a:xfrm>
          <a:prstGeom prst="rect">
            <a:avLst/>
          </a:prstGeom>
          <a:solidFill>
            <a:schemeClr val="accent1">
              <a:lumMod val="75000"/>
            </a:schemeClr>
          </a:solidFill>
        </p:spPr>
        <p:txBody>
          <a:bodyPr wrap="square">
            <a:spAutoFit/>
          </a:bodyPr>
          <a:lstStyle/>
          <a:p>
            <a:r>
              <a:rPr lang="en-IN" sz="1200" dirty="0"/>
              <a:t>chain = template1 | model | output parser | template2 | model | output parser</a:t>
            </a:r>
          </a:p>
        </p:txBody>
      </p:sp>
    </p:spTree>
    <p:extLst>
      <p:ext uri="{BB962C8B-B14F-4D97-AF65-F5344CB8AC3E}">
        <p14:creationId xmlns:p14="http://schemas.microsoft.com/office/powerpoint/2010/main" val="732740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8" grpId="0" animBg="1"/>
      <p:bldP spid="9" grpId="0"/>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4017E-FED1-C66B-F70B-26BA4E3095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5ABBBCF-B8B6-69D2-3C52-4C775D6EC1DE}"/>
              </a:ext>
            </a:extLst>
          </p:cNvPr>
          <p:cNvSpPr txBox="1"/>
          <p:nvPr/>
        </p:nvSpPr>
        <p:spPr>
          <a:xfrm>
            <a:off x="1553499" y="2967335"/>
            <a:ext cx="2192591" cy="461665"/>
          </a:xfrm>
          <a:prstGeom prst="rect">
            <a:avLst/>
          </a:prstGeom>
          <a:noFill/>
        </p:spPr>
        <p:txBody>
          <a:bodyPr wrap="square" rtlCol="0">
            <a:spAutoFit/>
          </a:bodyPr>
          <a:lstStyle/>
          <a:p>
            <a:r>
              <a:rPr lang="en-IN" sz="2400" dirty="0"/>
              <a:t>Output Parsers</a:t>
            </a:r>
          </a:p>
        </p:txBody>
      </p:sp>
      <p:sp>
        <p:nvSpPr>
          <p:cNvPr id="4" name="TextBox 3">
            <a:extLst>
              <a:ext uri="{FF2B5EF4-FFF2-40B4-BE49-F238E27FC236}">
                <a16:creationId xmlns:a16="http://schemas.microsoft.com/office/drawing/2014/main" id="{AD9CA64F-AB43-D151-CE2C-C4E8B332DC14}"/>
              </a:ext>
            </a:extLst>
          </p:cNvPr>
          <p:cNvSpPr txBox="1"/>
          <p:nvPr/>
        </p:nvSpPr>
        <p:spPr>
          <a:xfrm>
            <a:off x="5732206" y="1250844"/>
            <a:ext cx="2507226" cy="369332"/>
          </a:xfrm>
          <a:prstGeom prst="rect">
            <a:avLst/>
          </a:prstGeom>
          <a:noFill/>
        </p:spPr>
        <p:txBody>
          <a:bodyPr wrap="square">
            <a:spAutoFit/>
          </a:bodyPr>
          <a:lstStyle/>
          <a:p>
            <a:r>
              <a:rPr lang="en-IN" dirty="0" err="1"/>
              <a:t>StrOutputParser</a:t>
            </a:r>
            <a:endParaRPr lang="en-IN" dirty="0"/>
          </a:p>
        </p:txBody>
      </p:sp>
      <p:sp>
        <p:nvSpPr>
          <p:cNvPr id="6" name="TextBox 5">
            <a:extLst>
              <a:ext uri="{FF2B5EF4-FFF2-40B4-BE49-F238E27FC236}">
                <a16:creationId xmlns:a16="http://schemas.microsoft.com/office/drawing/2014/main" id="{864E5260-E567-599C-35A0-393DEF857E84}"/>
              </a:ext>
            </a:extLst>
          </p:cNvPr>
          <p:cNvSpPr txBox="1"/>
          <p:nvPr/>
        </p:nvSpPr>
        <p:spPr>
          <a:xfrm>
            <a:off x="6577781" y="1791618"/>
            <a:ext cx="2684206" cy="369332"/>
          </a:xfrm>
          <a:prstGeom prst="rect">
            <a:avLst/>
          </a:prstGeom>
          <a:noFill/>
        </p:spPr>
        <p:txBody>
          <a:bodyPr wrap="square">
            <a:spAutoFit/>
          </a:bodyPr>
          <a:lstStyle/>
          <a:p>
            <a:r>
              <a:rPr lang="en-IN" dirty="0" err="1"/>
              <a:t>ListOutputParser</a:t>
            </a:r>
            <a:endParaRPr lang="en-IN" dirty="0"/>
          </a:p>
        </p:txBody>
      </p:sp>
      <p:sp>
        <p:nvSpPr>
          <p:cNvPr id="8" name="TextBox 7">
            <a:extLst>
              <a:ext uri="{FF2B5EF4-FFF2-40B4-BE49-F238E27FC236}">
                <a16:creationId xmlns:a16="http://schemas.microsoft.com/office/drawing/2014/main" id="{A11371F0-4215-D6B0-3C98-A5E7FB72FFBA}"/>
              </a:ext>
            </a:extLst>
          </p:cNvPr>
          <p:cNvSpPr txBox="1"/>
          <p:nvPr/>
        </p:nvSpPr>
        <p:spPr>
          <a:xfrm>
            <a:off x="6764594" y="2598003"/>
            <a:ext cx="6096000" cy="369332"/>
          </a:xfrm>
          <a:prstGeom prst="rect">
            <a:avLst/>
          </a:prstGeom>
          <a:noFill/>
        </p:spPr>
        <p:txBody>
          <a:bodyPr wrap="square">
            <a:spAutoFit/>
          </a:bodyPr>
          <a:lstStyle/>
          <a:p>
            <a:r>
              <a:rPr lang="en-IN" dirty="0" err="1"/>
              <a:t>JsonOutputParser</a:t>
            </a:r>
            <a:endParaRPr lang="en-IN" dirty="0"/>
          </a:p>
        </p:txBody>
      </p:sp>
      <p:sp>
        <p:nvSpPr>
          <p:cNvPr id="10" name="TextBox 9">
            <a:extLst>
              <a:ext uri="{FF2B5EF4-FFF2-40B4-BE49-F238E27FC236}">
                <a16:creationId xmlns:a16="http://schemas.microsoft.com/office/drawing/2014/main" id="{FBEAE501-DA7B-C33C-1AFA-2E7FDF7CED19}"/>
              </a:ext>
            </a:extLst>
          </p:cNvPr>
          <p:cNvSpPr txBox="1"/>
          <p:nvPr/>
        </p:nvSpPr>
        <p:spPr>
          <a:xfrm>
            <a:off x="6764594" y="3219722"/>
            <a:ext cx="6430296" cy="369332"/>
          </a:xfrm>
          <a:prstGeom prst="rect">
            <a:avLst/>
          </a:prstGeom>
          <a:noFill/>
        </p:spPr>
        <p:txBody>
          <a:bodyPr wrap="square">
            <a:spAutoFit/>
          </a:bodyPr>
          <a:lstStyle/>
          <a:p>
            <a:r>
              <a:rPr lang="en-IN" dirty="0" err="1"/>
              <a:t>StructuredOutputParser</a:t>
            </a:r>
            <a:endParaRPr lang="en-IN" dirty="0"/>
          </a:p>
        </p:txBody>
      </p:sp>
      <p:sp>
        <p:nvSpPr>
          <p:cNvPr id="12" name="TextBox 11">
            <a:extLst>
              <a:ext uri="{FF2B5EF4-FFF2-40B4-BE49-F238E27FC236}">
                <a16:creationId xmlns:a16="http://schemas.microsoft.com/office/drawing/2014/main" id="{34301541-BB99-CA5D-3679-2A50BFFE285C}"/>
              </a:ext>
            </a:extLst>
          </p:cNvPr>
          <p:cNvSpPr txBox="1"/>
          <p:nvPr/>
        </p:nvSpPr>
        <p:spPr>
          <a:xfrm>
            <a:off x="6577781" y="4003876"/>
            <a:ext cx="6597444" cy="369332"/>
          </a:xfrm>
          <a:prstGeom prst="rect">
            <a:avLst/>
          </a:prstGeom>
          <a:noFill/>
        </p:spPr>
        <p:txBody>
          <a:bodyPr wrap="square">
            <a:spAutoFit/>
          </a:bodyPr>
          <a:lstStyle/>
          <a:p>
            <a:r>
              <a:rPr lang="en-IN" dirty="0" err="1"/>
              <a:t>PydanticOutputParser</a:t>
            </a:r>
            <a:endParaRPr lang="en-IN" dirty="0"/>
          </a:p>
        </p:txBody>
      </p:sp>
      <p:sp>
        <p:nvSpPr>
          <p:cNvPr id="14" name="TextBox 13">
            <a:extLst>
              <a:ext uri="{FF2B5EF4-FFF2-40B4-BE49-F238E27FC236}">
                <a16:creationId xmlns:a16="http://schemas.microsoft.com/office/drawing/2014/main" id="{4E19177C-6E6F-60A7-C749-6AF67B211518}"/>
              </a:ext>
            </a:extLst>
          </p:cNvPr>
          <p:cNvSpPr txBox="1"/>
          <p:nvPr/>
        </p:nvSpPr>
        <p:spPr>
          <a:xfrm>
            <a:off x="5732206" y="4625595"/>
            <a:ext cx="6597444" cy="369332"/>
          </a:xfrm>
          <a:prstGeom prst="rect">
            <a:avLst/>
          </a:prstGeom>
          <a:noFill/>
        </p:spPr>
        <p:txBody>
          <a:bodyPr wrap="square">
            <a:spAutoFit/>
          </a:bodyPr>
          <a:lstStyle/>
          <a:p>
            <a:r>
              <a:rPr lang="en-IN" dirty="0" err="1"/>
              <a:t>customOutputParser</a:t>
            </a:r>
            <a:endParaRPr lang="en-IN" dirty="0"/>
          </a:p>
        </p:txBody>
      </p:sp>
      <p:cxnSp>
        <p:nvCxnSpPr>
          <p:cNvPr id="16" name="Straight Arrow Connector 15">
            <a:extLst>
              <a:ext uri="{FF2B5EF4-FFF2-40B4-BE49-F238E27FC236}">
                <a16:creationId xmlns:a16="http://schemas.microsoft.com/office/drawing/2014/main" id="{2CC6A04A-A164-80E2-706B-FD8A84438CA7}"/>
              </a:ext>
            </a:extLst>
          </p:cNvPr>
          <p:cNvCxnSpPr>
            <a:stCxn id="2" idx="3"/>
            <a:endCxn id="4" idx="1"/>
          </p:cNvCxnSpPr>
          <p:nvPr/>
        </p:nvCxnSpPr>
        <p:spPr>
          <a:xfrm flipV="1">
            <a:off x="3746090" y="1435510"/>
            <a:ext cx="1986116" cy="1762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B99C60F-B4DC-68BE-698A-AEDE47BF5E0F}"/>
              </a:ext>
            </a:extLst>
          </p:cNvPr>
          <p:cNvCxnSpPr>
            <a:stCxn id="2" idx="3"/>
            <a:endCxn id="6" idx="1"/>
          </p:cNvCxnSpPr>
          <p:nvPr/>
        </p:nvCxnSpPr>
        <p:spPr>
          <a:xfrm flipV="1">
            <a:off x="3746090" y="1976284"/>
            <a:ext cx="2831691" cy="12218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7493F82-3A0A-B3A7-DD2D-4C0CF4553B02}"/>
              </a:ext>
            </a:extLst>
          </p:cNvPr>
          <p:cNvCxnSpPr>
            <a:cxnSpLocks/>
            <a:stCxn id="2" idx="3"/>
            <a:endCxn id="8" idx="1"/>
          </p:cNvCxnSpPr>
          <p:nvPr/>
        </p:nvCxnSpPr>
        <p:spPr>
          <a:xfrm flipV="1">
            <a:off x="3746090" y="2782669"/>
            <a:ext cx="3018504" cy="415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80CB71F-FBFF-ACDB-B842-1D8753B7665B}"/>
              </a:ext>
            </a:extLst>
          </p:cNvPr>
          <p:cNvCxnSpPr>
            <a:stCxn id="2" idx="3"/>
            <a:endCxn id="10" idx="1"/>
          </p:cNvCxnSpPr>
          <p:nvPr/>
        </p:nvCxnSpPr>
        <p:spPr>
          <a:xfrm>
            <a:off x="3746090" y="3198168"/>
            <a:ext cx="3018504" cy="206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3CA27F-97A1-EA90-0822-3B044CE02644}"/>
              </a:ext>
            </a:extLst>
          </p:cNvPr>
          <p:cNvCxnSpPr>
            <a:stCxn id="2" idx="3"/>
            <a:endCxn id="12" idx="1"/>
          </p:cNvCxnSpPr>
          <p:nvPr/>
        </p:nvCxnSpPr>
        <p:spPr>
          <a:xfrm>
            <a:off x="3746090" y="3198168"/>
            <a:ext cx="2831691" cy="990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DB19359-0293-583A-7A51-1AA034DBC8BB}"/>
              </a:ext>
            </a:extLst>
          </p:cNvPr>
          <p:cNvCxnSpPr>
            <a:stCxn id="2" idx="3"/>
            <a:endCxn id="14" idx="1"/>
          </p:cNvCxnSpPr>
          <p:nvPr/>
        </p:nvCxnSpPr>
        <p:spPr>
          <a:xfrm>
            <a:off x="3746090" y="3198168"/>
            <a:ext cx="1986116" cy="1612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28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50"/>
                                        <p:tgtEl>
                                          <p:spTgt spid="12"/>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50"/>
                                        <p:tgtEl>
                                          <p:spTgt spid="14"/>
                                        </p:tgtEl>
                                      </p:cBhvr>
                                    </p:animEffect>
                                  </p:childTnLst>
                                </p:cTn>
                              </p:par>
                            </p:childTnLst>
                          </p:cTn>
                        </p:par>
                        <p:par>
                          <p:cTn id="32" fill="hold">
                            <p:stCondLst>
                              <p:cond delay="1750"/>
                            </p:stCondLst>
                            <p:childTnLst>
                              <p:par>
                                <p:cTn id="33" presetID="10"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50"/>
                                        <p:tgtEl>
                                          <p:spTgt spid="16"/>
                                        </p:tgtEl>
                                      </p:cBhvr>
                                    </p:animEffect>
                                  </p:childTnLst>
                                </p:cTn>
                              </p:par>
                            </p:childTnLst>
                          </p:cTn>
                        </p:par>
                        <p:par>
                          <p:cTn id="36" fill="hold">
                            <p:stCondLst>
                              <p:cond delay="2000"/>
                            </p:stCondLst>
                            <p:childTnLst>
                              <p:par>
                                <p:cTn id="37" presetID="10" presetClass="entr" presetSubtype="0" fill="hold"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childTnLst>
                                </p:cTn>
                              </p:par>
                            </p:childTnLst>
                          </p:cTn>
                        </p:par>
                        <p:par>
                          <p:cTn id="40" fill="hold">
                            <p:stCondLst>
                              <p:cond delay="2250"/>
                            </p:stCondLst>
                            <p:childTnLst>
                              <p:par>
                                <p:cTn id="41" presetID="10" presetClass="entr" presetSubtype="0"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50"/>
                                        <p:tgtEl>
                                          <p:spTgt spid="20"/>
                                        </p:tgtEl>
                                      </p:cBhvr>
                                    </p:animEffect>
                                  </p:childTnLst>
                                </p:cTn>
                              </p:par>
                            </p:childTnLst>
                          </p:cTn>
                        </p:par>
                        <p:par>
                          <p:cTn id="44" fill="hold">
                            <p:stCondLst>
                              <p:cond delay="2500"/>
                            </p:stCondLst>
                            <p:childTnLst>
                              <p:par>
                                <p:cTn id="45" presetID="10" presetClass="entr" presetSubtype="0"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250"/>
                                        <p:tgtEl>
                                          <p:spTgt spid="23"/>
                                        </p:tgtEl>
                                      </p:cBhvr>
                                    </p:animEffect>
                                  </p:childTnLst>
                                </p:cTn>
                              </p:par>
                            </p:childTnLst>
                          </p:cTn>
                        </p:par>
                        <p:par>
                          <p:cTn id="48" fill="hold">
                            <p:stCondLst>
                              <p:cond delay="2750"/>
                            </p:stCondLst>
                            <p:childTnLst>
                              <p:par>
                                <p:cTn id="49" presetID="10" presetClass="entr" presetSubtype="0"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250"/>
                                        <p:tgtEl>
                                          <p:spTgt spid="25"/>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8" grpId="0"/>
      <p:bldP spid="10" grpId="0"/>
      <p:bldP spid="12"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447D-412E-E3B5-2589-05B9D54294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D79D20-264F-D5D6-4EFA-1F7876B9984F}"/>
              </a:ext>
            </a:extLst>
          </p:cNvPr>
          <p:cNvSpPr txBox="1"/>
          <p:nvPr/>
        </p:nvSpPr>
        <p:spPr>
          <a:xfrm>
            <a:off x="747252" y="582250"/>
            <a:ext cx="2507226" cy="369332"/>
          </a:xfrm>
          <a:prstGeom prst="rect">
            <a:avLst/>
          </a:prstGeom>
          <a:noFill/>
        </p:spPr>
        <p:txBody>
          <a:bodyPr wrap="square">
            <a:spAutoFit/>
          </a:bodyPr>
          <a:lstStyle/>
          <a:p>
            <a:r>
              <a:rPr lang="en-IN"/>
              <a:t>StrOutputParser</a:t>
            </a:r>
            <a:endParaRPr lang="en-IN" dirty="0"/>
          </a:p>
        </p:txBody>
      </p:sp>
      <p:sp>
        <p:nvSpPr>
          <p:cNvPr id="5" name="TextBox 4">
            <a:extLst>
              <a:ext uri="{FF2B5EF4-FFF2-40B4-BE49-F238E27FC236}">
                <a16:creationId xmlns:a16="http://schemas.microsoft.com/office/drawing/2014/main" id="{69FF9B46-1749-EDC4-78CD-9515D62E87FE}"/>
              </a:ext>
            </a:extLst>
          </p:cNvPr>
          <p:cNvSpPr txBox="1"/>
          <p:nvPr/>
        </p:nvSpPr>
        <p:spPr>
          <a:xfrm>
            <a:off x="2979174" y="582250"/>
            <a:ext cx="6096000" cy="923330"/>
          </a:xfrm>
          <a:prstGeom prst="rect">
            <a:avLst/>
          </a:prstGeom>
          <a:noFill/>
        </p:spPr>
        <p:txBody>
          <a:bodyPr wrap="square">
            <a:spAutoFit/>
          </a:bodyPr>
          <a:lstStyle/>
          <a:p>
            <a:r>
              <a:rPr lang="en-US" dirty="0"/>
              <a:t>This </a:t>
            </a:r>
            <a:r>
              <a:rPr lang="en-US" i="1" dirty="0">
                <a:solidFill>
                  <a:srgbClr val="FF0000"/>
                </a:solidFill>
              </a:rPr>
              <a:t>parser returns the raw string output from the LLM</a:t>
            </a:r>
            <a:r>
              <a:rPr lang="en-US" dirty="0"/>
              <a:t>. It's often used as a baseline or when no specific parsing is needed beyond converting the LLM's </a:t>
            </a:r>
            <a:r>
              <a:rPr lang="en-US" dirty="0" err="1"/>
              <a:t>AIMessage</a:t>
            </a:r>
            <a:r>
              <a:rPr lang="en-US" dirty="0"/>
              <a:t> object to a string.</a:t>
            </a:r>
            <a:endParaRPr lang="en-IN" dirty="0"/>
          </a:p>
        </p:txBody>
      </p:sp>
      <p:sp>
        <p:nvSpPr>
          <p:cNvPr id="6" name="TextBox 5">
            <a:extLst>
              <a:ext uri="{FF2B5EF4-FFF2-40B4-BE49-F238E27FC236}">
                <a16:creationId xmlns:a16="http://schemas.microsoft.com/office/drawing/2014/main" id="{EE217061-D144-1CA1-D8B1-73A28BCE1BEF}"/>
              </a:ext>
            </a:extLst>
          </p:cNvPr>
          <p:cNvSpPr txBox="1"/>
          <p:nvPr/>
        </p:nvSpPr>
        <p:spPr>
          <a:xfrm>
            <a:off x="206476" y="2464613"/>
            <a:ext cx="7000567" cy="1477328"/>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000" dirty="0"/>
              <a:t>Type: &lt;class '</a:t>
            </a:r>
            <a:r>
              <a:rPr lang="en-IN" sz="1000" dirty="0" err="1"/>
              <a:t>langchain_core.messages.ai.AIMessage</a:t>
            </a:r>
            <a:r>
              <a:rPr lang="en-IN" sz="1000" dirty="0"/>
              <a:t>'&gt;</a:t>
            </a:r>
          </a:p>
          <a:p>
            <a:r>
              <a:rPr lang="en-IN" sz="1000" dirty="0"/>
              <a:t>Full object: content="Hello there, furry friend! It's so nice to see your wagging tail and bright eyes today. Let's have some fun and go on an adventure together!" </a:t>
            </a:r>
            <a:r>
              <a:rPr lang="en-IN" sz="1000" dirty="0" err="1"/>
              <a:t>additional_kwargs</a:t>
            </a:r>
            <a:r>
              <a:rPr lang="en-IN" sz="1000" dirty="0"/>
              <a:t>={'refusal': None} </a:t>
            </a:r>
            <a:r>
              <a:rPr lang="en-IN" sz="1000" dirty="0" err="1"/>
              <a:t>response_metadata</a:t>
            </a:r>
            <a:r>
              <a:rPr lang="en-IN" sz="1000" dirty="0"/>
              <a:t>={'</a:t>
            </a:r>
            <a:r>
              <a:rPr lang="en-IN" sz="1000" dirty="0" err="1"/>
              <a:t>token_usage</a:t>
            </a:r>
            <a:r>
              <a:rPr lang="en-IN" sz="1000" dirty="0"/>
              <a:t>': {'</a:t>
            </a:r>
            <a:r>
              <a:rPr lang="en-IN" sz="1000" dirty="0" err="1"/>
              <a:t>completion_tokens</a:t>
            </a:r>
            <a:r>
              <a:rPr lang="en-IN" sz="1000" dirty="0"/>
              <a:t>': 33, '</a:t>
            </a:r>
            <a:r>
              <a:rPr lang="en-IN" sz="1000" dirty="0" err="1"/>
              <a:t>prompt_tokens</a:t>
            </a:r>
            <a:r>
              <a:rPr lang="en-IN" sz="1000" dirty="0"/>
              <a:t>': 19, '</a:t>
            </a:r>
            <a:r>
              <a:rPr lang="en-IN" sz="1000" dirty="0" err="1"/>
              <a:t>total_tokens</a:t>
            </a:r>
            <a:r>
              <a:rPr lang="en-IN" sz="1000" dirty="0"/>
              <a:t>': 52, '</a:t>
            </a:r>
            <a:r>
              <a:rPr lang="en-IN" sz="1000" dirty="0" err="1"/>
              <a:t>completion_tokens_details</a:t>
            </a:r>
            <a:r>
              <a:rPr lang="en-IN" sz="1000" dirty="0"/>
              <a:t>': {'</a:t>
            </a:r>
            <a:r>
              <a:rPr lang="en-IN" sz="1000" dirty="0" err="1"/>
              <a:t>accepted_prediction_tokens</a:t>
            </a:r>
            <a:r>
              <a:rPr lang="en-IN" sz="1000" dirty="0"/>
              <a:t>': 0, '</a:t>
            </a:r>
            <a:r>
              <a:rPr lang="en-IN" sz="1000" dirty="0" err="1"/>
              <a:t>audio_tokens</a:t>
            </a:r>
            <a:r>
              <a:rPr lang="en-IN" sz="1000" dirty="0"/>
              <a:t>': 0, '</a:t>
            </a:r>
            <a:r>
              <a:rPr lang="en-IN" sz="1000" dirty="0" err="1"/>
              <a:t>reasoning_tokens</a:t>
            </a:r>
            <a:r>
              <a:rPr lang="en-IN" sz="1000" dirty="0"/>
              <a:t>': 0, '</a:t>
            </a:r>
            <a:r>
              <a:rPr lang="en-IN" sz="1000" dirty="0" err="1"/>
              <a:t>rejected_prediction_tokens</a:t>
            </a:r>
            <a:r>
              <a:rPr lang="en-IN" sz="1000" dirty="0"/>
              <a:t>': 0}, '</a:t>
            </a:r>
            <a:r>
              <a:rPr lang="en-IN" sz="1000" dirty="0" err="1"/>
              <a:t>prompt_tokens_details</a:t>
            </a:r>
            <a:r>
              <a:rPr lang="en-IN" sz="1000" dirty="0"/>
              <a:t>': {'</a:t>
            </a:r>
            <a:r>
              <a:rPr lang="en-IN" sz="1000" dirty="0" err="1"/>
              <a:t>audio_tokens</a:t>
            </a:r>
            <a:r>
              <a:rPr lang="en-IN" sz="1000" dirty="0"/>
              <a:t>': 0, '</a:t>
            </a:r>
            <a:r>
              <a:rPr lang="en-IN" sz="1000" dirty="0" err="1"/>
              <a:t>cached_tokens</a:t>
            </a:r>
            <a:r>
              <a:rPr lang="en-IN" sz="1000" dirty="0"/>
              <a:t>': 0}}, '</a:t>
            </a:r>
            <a:r>
              <a:rPr lang="en-IN" sz="1000" dirty="0" err="1"/>
              <a:t>model_name</a:t>
            </a:r>
            <a:r>
              <a:rPr lang="en-IN" sz="1000" dirty="0"/>
              <a:t>': 'gpt-3.5-turbo-0125', '</a:t>
            </a:r>
            <a:r>
              <a:rPr lang="en-IN" sz="1000" dirty="0" err="1"/>
              <a:t>system_fingerprint</a:t>
            </a:r>
            <a:r>
              <a:rPr lang="en-IN" sz="1000" dirty="0"/>
              <a:t>': None, 'id': 'chatcmpl-BohO5nJmCbPFvGcVhKi42XUIFyl8q', '</a:t>
            </a:r>
            <a:r>
              <a:rPr lang="en-IN" sz="1000" dirty="0" err="1"/>
              <a:t>service_tier</a:t>
            </a:r>
            <a:r>
              <a:rPr lang="en-IN" sz="1000" dirty="0"/>
              <a:t>': 'default', '</a:t>
            </a:r>
            <a:r>
              <a:rPr lang="en-IN" sz="1000" dirty="0" err="1"/>
              <a:t>finish_reason</a:t>
            </a:r>
            <a:r>
              <a:rPr lang="en-IN" sz="1000" dirty="0"/>
              <a:t>': 'stop', '</a:t>
            </a:r>
            <a:r>
              <a:rPr lang="en-IN" sz="1000" dirty="0" err="1"/>
              <a:t>logprobs</a:t>
            </a:r>
            <a:r>
              <a:rPr lang="en-IN" sz="1000" dirty="0"/>
              <a:t>': None} id='run--a4cf1b34-09f3-4d30-9303-94102dce238b-0' </a:t>
            </a:r>
            <a:r>
              <a:rPr lang="en-IN" sz="1000" dirty="0" err="1"/>
              <a:t>usage_metadata</a:t>
            </a:r>
            <a:r>
              <a:rPr lang="en-IN" sz="1000" dirty="0"/>
              <a:t>={'</a:t>
            </a:r>
            <a:r>
              <a:rPr lang="en-IN" sz="1000" dirty="0" err="1"/>
              <a:t>input_tokens</a:t>
            </a:r>
            <a:r>
              <a:rPr lang="en-IN" sz="1000" dirty="0"/>
              <a:t>': 19, '</a:t>
            </a:r>
            <a:r>
              <a:rPr lang="en-IN" sz="1000" dirty="0" err="1"/>
              <a:t>output_tokens</a:t>
            </a:r>
            <a:r>
              <a:rPr lang="en-IN" sz="1000" dirty="0"/>
              <a:t>': 33, '</a:t>
            </a:r>
            <a:r>
              <a:rPr lang="en-IN" sz="1000" dirty="0" err="1"/>
              <a:t>total_tokens</a:t>
            </a:r>
            <a:r>
              <a:rPr lang="en-IN" sz="1000" dirty="0"/>
              <a:t>': 52, '</a:t>
            </a:r>
            <a:r>
              <a:rPr lang="en-IN" sz="1000" dirty="0" err="1"/>
              <a:t>input_token_details</a:t>
            </a:r>
            <a:r>
              <a:rPr lang="en-IN" sz="1000" dirty="0"/>
              <a:t>': {'audio': 0, '</a:t>
            </a:r>
            <a:r>
              <a:rPr lang="en-IN" sz="1000" dirty="0" err="1"/>
              <a:t>cache_read</a:t>
            </a:r>
            <a:r>
              <a:rPr lang="en-IN" sz="1000" dirty="0"/>
              <a:t>': 0}, '</a:t>
            </a:r>
            <a:r>
              <a:rPr lang="en-IN" sz="1000" dirty="0" err="1"/>
              <a:t>output_token_details</a:t>
            </a:r>
            <a:r>
              <a:rPr lang="en-IN" sz="1000" dirty="0"/>
              <a:t>': {'audio': 0, 'reasoning': 0}}</a:t>
            </a:r>
          </a:p>
        </p:txBody>
      </p:sp>
      <p:sp>
        <p:nvSpPr>
          <p:cNvPr id="7" name="TextBox 6">
            <a:extLst>
              <a:ext uri="{FF2B5EF4-FFF2-40B4-BE49-F238E27FC236}">
                <a16:creationId xmlns:a16="http://schemas.microsoft.com/office/drawing/2014/main" id="{35B293FE-2F5F-7096-4D1A-0B13BF1EF037}"/>
              </a:ext>
            </a:extLst>
          </p:cNvPr>
          <p:cNvSpPr txBox="1"/>
          <p:nvPr/>
        </p:nvSpPr>
        <p:spPr>
          <a:xfrm>
            <a:off x="7878096" y="3003222"/>
            <a:ext cx="3224980" cy="400110"/>
          </a:xfrm>
          <a:prstGeom prst="rect">
            <a:avLst/>
          </a:prstGeom>
          <a:solidFill>
            <a:schemeClr val="tx2">
              <a:lumMod val="10000"/>
            </a:schemeClr>
          </a:solidFill>
          <a:ln>
            <a:solidFill>
              <a:schemeClr val="bg1">
                <a:lumMod val="50000"/>
                <a:lumOff val="50000"/>
              </a:schemeClr>
            </a:solidFill>
          </a:ln>
        </p:spPr>
        <p:txBody>
          <a:bodyPr wrap="square">
            <a:spAutoFit/>
          </a:bodyPr>
          <a:lstStyle/>
          <a:p>
            <a:r>
              <a:rPr lang="en-IN" sz="1000" dirty="0"/>
              <a:t>'Hey there, furry friend! Hope you're having a </a:t>
            </a:r>
            <a:r>
              <a:rPr lang="en-IN" sz="1000" dirty="0" err="1"/>
              <a:t>pawsome</a:t>
            </a:r>
            <a:endParaRPr lang="en-IN" sz="1000" dirty="0"/>
          </a:p>
          <a:p>
            <a:r>
              <a:rPr lang="en-IN" sz="1000" dirty="0"/>
              <a:t> day full of tail wags and belly rubs. Woof </a:t>
            </a:r>
            <a:r>
              <a:rPr lang="en-IN" sz="1000" dirty="0" err="1"/>
              <a:t>woof</a:t>
            </a:r>
            <a:r>
              <a:rPr lang="en-IN" sz="1000" dirty="0"/>
              <a:t>!'</a:t>
            </a:r>
          </a:p>
        </p:txBody>
      </p:sp>
      <p:cxnSp>
        <p:nvCxnSpPr>
          <p:cNvPr id="8" name="Straight Arrow Connector 7">
            <a:extLst>
              <a:ext uri="{FF2B5EF4-FFF2-40B4-BE49-F238E27FC236}">
                <a16:creationId xmlns:a16="http://schemas.microsoft.com/office/drawing/2014/main" id="{DFEC6022-6615-C361-15E1-101786333A79}"/>
              </a:ext>
            </a:extLst>
          </p:cNvPr>
          <p:cNvCxnSpPr>
            <a:cxnSpLocks/>
            <a:stCxn id="6" idx="3"/>
            <a:endCxn id="7" idx="1"/>
          </p:cNvCxnSpPr>
          <p:nvPr/>
        </p:nvCxnSpPr>
        <p:spPr>
          <a:xfrm>
            <a:off x="7207043" y="3203277"/>
            <a:ext cx="6710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CA593BEB-429A-A4D7-B5FE-9BA27B5EF9EB}"/>
              </a:ext>
            </a:extLst>
          </p:cNvPr>
          <p:cNvPicPr>
            <a:picLocks noChangeAspect="1"/>
          </p:cNvPicPr>
          <p:nvPr/>
        </p:nvPicPr>
        <p:blipFill>
          <a:blip r:embed="rId2"/>
          <a:stretch>
            <a:fillRect/>
          </a:stretch>
        </p:blipFill>
        <p:spPr>
          <a:xfrm>
            <a:off x="2625211" y="4607128"/>
            <a:ext cx="7744906" cy="1695687"/>
          </a:xfrm>
          <a:prstGeom prst="roundRect">
            <a:avLst/>
          </a:prstGeom>
        </p:spPr>
      </p:pic>
    </p:spTree>
    <p:extLst>
      <p:ext uri="{BB962C8B-B14F-4D97-AF65-F5344CB8AC3E}">
        <p14:creationId xmlns:p14="http://schemas.microsoft.com/office/powerpoint/2010/main" val="426167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A76AA-5314-DAE3-4261-1622DCBFFA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65CEF8-97B9-3F69-94AF-F4F856D72290}"/>
              </a:ext>
            </a:extLst>
          </p:cNvPr>
          <p:cNvSpPr txBox="1"/>
          <p:nvPr/>
        </p:nvSpPr>
        <p:spPr>
          <a:xfrm>
            <a:off x="806246" y="651076"/>
            <a:ext cx="2684206" cy="369332"/>
          </a:xfrm>
          <a:prstGeom prst="rect">
            <a:avLst/>
          </a:prstGeom>
          <a:noFill/>
        </p:spPr>
        <p:txBody>
          <a:bodyPr wrap="square">
            <a:spAutoFit/>
          </a:bodyPr>
          <a:lstStyle/>
          <a:p>
            <a:r>
              <a:rPr lang="en-IN" dirty="0" err="1"/>
              <a:t>ListOutputParser</a:t>
            </a:r>
            <a:endParaRPr lang="en-IN" dirty="0"/>
          </a:p>
        </p:txBody>
      </p:sp>
      <p:sp>
        <p:nvSpPr>
          <p:cNvPr id="4" name="TextBox 3">
            <a:extLst>
              <a:ext uri="{FF2B5EF4-FFF2-40B4-BE49-F238E27FC236}">
                <a16:creationId xmlns:a16="http://schemas.microsoft.com/office/drawing/2014/main" id="{774F8A1F-1D2D-9377-CA49-9E76B5E9D603}"/>
              </a:ext>
            </a:extLst>
          </p:cNvPr>
          <p:cNvSpPr txBox="1"/>
          <p:nvPr/>
        </p:nvSpPr>
        <p:spPr>
          <a:xfrm>
            <a:off x="3018504" y="560890"/>
            <a:ext cx="7698658" cy="646331"/>
          </a:xfrm>
          <a:prstGeom prst="rect">
            <a:avLst/>
          </a:prstGeom>
          <a:noFill/>
        </p:spPr>
        <p:txBody>
          <a:bodyPr wrap="square">
            <a:spAutoFit/>
          </a:bodyPr>
          <a:lstStyle/>
          <a:p>
            <a:r>
              <a:rPr lang="en-US" dirty="0"/>
              <a:t>This parser is used when </a:t>
            </a:r>
            <a:r>
              <a:rPr lang="en-US" i="1" dirty="0">
                <a:solidFill>
                  <a:srgbClr val="FF0000"/>
                </a:solidFill>
              </a:rPr>
              <a:t>you expect the LLM to output a list of items</a:t>
            </a:r>
            <a:r>
              <a:rPr lang="en-US" dirty="0"/>
              <a:t>, often comma-separated or newline-separated. It converts the string into a Python list.</a:t>
            </a:r>
            <a:endParaRPr lang="en-IN" dirty="0"/>
          </a:p>
        </p:txBody>
      </p:sp>
      <p:pic>
        <p:nvPicPr>
          <p:cNvPr id="10" name="Picture 9">
            <a:extLst>
              <a:ext uri="{FF2B5EF4-FFF2-40B4-BE49-F238E27FC236}">
                <a16:creationId xmlns:a16="http://schemas.microsoft.com/office/drawing/2014/main" id="{F484F68B-2D65-D90D-B513-634701DA5399}"/>
              </a:ext>
            </a:extLst>
          </p:cNvPr>
          <p:cNvPicPr>
            <a:picLocks noChangeAspect="1"/>
          </p:cNvPicPr>
          <p:nvPr/>
        </p:nvPicPr>
        <p:blipFill>
          <a:blip r:embed="rId2"/>
          <a:stretch>
            <a:fillRect/>
          </a:stretch>
        </p:blipFill>
        <p:spPr>
          <a:xfrm>
            <a:off x="237929" y="2293394"/>
            <a:ext cx="6505046" cy="1135606"/>
          </a:xfrm>
          <a:prstGeom prst="rect">
            <a:avLst/>
          </a:prstGeom>
        </p:spPr>
      </p:pic>
      <p:pic>
        <p:nvPicPr>
          <p:cNvPr id="12" name="Picture 11">
            <a:extLst>
              <a:ext uri="{FF2B5EF4-FFF2-40B4-BE49-F238E27FC236}">
                <a16:creationId xmlns:a16="http://schemas.microsoft.com/office/drawing/2014/main" id="{12C160D9-E9BB-05C0-243C-1648A6C3A06C}"/>
              </a:ext>
            </a:extLst>
          </p:cNvPr>
          <p:cNvPicPr>
            <a:picLocks noChangeAspect="1"/>
          </p:cNvPicPr>
          <p:nvPr/>
        </p:nvPicPr>
        <p:blipFill>
          <a:blip r:embed="rId3"/>
          <a:stretch>
            <a:fillRect/>
          </a:stretch>
        </p:blipFill>
        <p:spPr>
          <a:xfrm>
            <a:off x="7816645" y="2749633"/>
            <a:ext cx="3949848" cy="215312"/>
          </a:xfrm>
          <a:prstGeom prst="rect">
            <a:avLst/>
          </a:prstGeom>
        </p:spPr>
      </p:pic>
      <p:cxnSp>
        <p:nvCxnSpPr>
          <p:cNvPr id="14" name="Straight Arrow Connector 13">
            <a:extLst>
              <a:ext uri="{FF2B5EF4-FFF2-40B4-BE49-F238E27FC236}">
                <a16:creationId xmlns:a16="http://schemas.microsoft.com/office/drawing/2014/main" id="{8EA47C2D-A2CE-5D2F-92AE-0371AD2612D7}"/>
              </a:ext>
            </a:extLst>
          </p:cNvPr>
          <p:cNvCxnSpPr>
            <a:stCxn id="10" idx="3"/>
            <a:endCxn id="12" idx="1"/>
          </p:cNvCxnSpPr>
          <p:nvPr/>
        </p:nvCxnSpPr>
        <p:spPr>
          <a:xfrm flipV="1">
            <a:off x="6742975" y="2857289"/>
            <a:ext cx="1073670" cy="3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3D9C09A-1CCE-38D8-C87D-D848C5C695E0}"/>
              </a:ext>
            </a:extLst>
          </p:cNvPr>
          <p:cNvPicPr>
            <a:picLocks noChangeAspect="1"/>
          </p:cNvPicPr>
          <p:nvPr/>
        </p:nvPicPr>
        <p:blipFill>
          <a:blip r:embed="rId4"/>
          <a:stretch>
            <a:fillRect/>
          </a:stretch>
        </p:blipFill>
        <p:spPr>
          <a:xfrm>
            <a:off x="2148349" y="4202645"/>
            <a:ext cx="7754432" cy="1752845"/>
          </a:xfrm>
          <a:prstGeom prst="rect">
            <a:avLst/>
          </a:prstGeom>
        </p:spPr>
      </p:pic>
    </p:spTree>
    <p:extLst>
      <p:ext uri="{BB962C8B-B14F-4D97-AF65-F5344CB8AC3E}">
        <p14:creationId xmlns:p14="http://schemas.microsoft.com/office/powerpoint/2010/main" val="379173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50"/>
                                        <p:tgtEl>
                                          <p:spTgt spid="10"/>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50"/>
                                        <p:tgtEl>
                                          <p:spTgt spid="12"/>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250"/>
                                        <p:tgtEl>
                                          <p:spTgt spid="14"/>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2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D2F52-FBE0-650F-0E46-B64A8FAA68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BF4CD0-2F5E-A64D-0284-E530F7240390}"/>
              </a:ext>
            </a:extLst>
          </p:cNvPr>
          <p:cNvSpPr txBox="1"/>
          <p:nvPr/>
        </p:nvSpPr>
        <p:spPr>
          <a:xfrm>
            <a:off x="747252" y="759371"/>
            <a:ext cx="2035277" cy="369332"/>
          </a:xfrm>
          <a:prstGeom prst="rect">
            <a:avLst/>
          </a:prstGeom>
          <a:noFill/>
        </p:spPr>
        <p:txBody>
          <a:bodyPr wrap="square">
            <a:spAutoFit/>
          </a:bodyPr>
          <a:lstStyle/>
          <a:p>
            <a:r>
              <a:rPr lang="en-IN" dirty="0" err="1"/>
              <a:t>JsonOutputParser</a:t>
            </a:r>
            <a:endParaRPr lang="en-IN" dirty="0"/>
          </a:p>
        </p:txBody>
      </p:sp>
      <p:sp>
        <p:nvSpPr>
          <p:cNvPr id="4" name="TextBox 3">
            <a:extLst>
              <a:ext uri="{FF2B5EF4-FFF2-40B4-BE49-F238E27FC236}">
                <a16:creationId xmlns:a16="http://schemas.microsoft.com/office/drawing/2014/main" id="{5406A433-FCEE-BB2B-1588-A06E1208F773}"/>
              </a:ext>
            </a:extLst>
          </p:cNvPr>
          <p:cNvSpPr txBox="1"/>
          <p:nvPr/>
        </p:nvSpPr>
        <p:spPr>
          <a:xfrm>
            <a:off x="3136491" y="620871"/>
            <a:ext cx="8573730" cy="1200329"/>
          </a:xfrm>
          <a:prstGeom prst="rect">
            <a:avLst/>
          </a:prstGeom>
          <a:noFill/>
        </p:spPr>
        <p:txBody>
          <a:bodyPr wrap="square">
            <a:spAutoFit/>
          </a:bodyPr>
          <a:lstStyle/>
          <a:p>
            <a:r>
              <a:rPr lang="en-US" dirty="0"/>
              <a:t>By default, LLMs produce free-form textual responses. A JSON Output Parser allows you to reliably </a:t>
            </a:r>
            <a:r>
              <a:rPr lang="en-US" i="1" dirty="0">
                <a:solidFill>
                  <a:srgbClr val="FF0000"/>
                </a:solidFill>
              </a:rPr>
              <a:t>convert these responses into structured JSON data</a:t>
            </a:r>
            <a:r>
              <a:rPr lang="en-US" dirty="0"/>
              <a:t>, making it: </a:t>
            </a:r>
            <a:r>
              <a:rPr lang="en-IN" b="1" dirty="0"/>
              <a:t>Easy to handle</a:t>
            </a:r>
            <a:r>
              <a:rPr lang="en-IN" dirty="0"/>
              <a:t> programmatically, </a:t>
            </a:r>
            <a:r>
              <a:rPr lang="en-IN" b="1" dirty="0"/>
              <a:t>Reliable</a:t>
            </a:r>
            <a:r>
              <a:rPr lang="en-IN" dirty="0"/>
              <a:t> (consistent format), </a:t>
            </a:r>
            <a:r>
              <a:rPr lang="en-US" b="1" dirty="0" err="1"/>
              <a:t>Integratable</a:t>
            </a:r>
            <a:r>
              <a:rPr lang="en-US" dirty="0"/>
              <a:t> directly into apps, APIs, and databases.</a:t>
            </a:r>
            <a:endParaRPr lang="en-IN" dirty="0"/>
          </a:p>
        </p:txBody>
      </p:sp>
      <p:pic>
        <p:nvPicPr>
          <p:cNvPr id="6" name="Picture 5">
            <a:extLst>
              <a:ext uri="{FF2B5EF4-FFF2-40B4-BE49-F238E27FC236}">
                <a16:creationId xmlns:a16="http://schemas.microsoft.com/office/drawing/2014/main" id="{044A063E-D58A-BB69-942E-50942DC0FC08}"/>
              </a:ext>
            </a:extLst>
          </p:cNvPr>
          <p:cNvPicPr>
            <a:picLocks noChangeAspect="1"/>
          </p:cNvPicPr>
          <p:nvPr/>
        </p:nvPicPr>
        <p:blipFill>
          <a:blip r:embed="rId2"/>
          <a:stretch>
            <a:fillRect/>
          </a:stretch>
        </p:blipFill>
        <p:spPr>
          <a:xfrm>
            <a:off x="223188" y="2421782"/>
            <a:ext cx="5991492" cy="1772304"/>
          </a:xfrm>
          <a:prstGeom prst="rect">
            <a:avLst/>
          </a:prstGeom>
        </p:spPr>
      </p:pic>
      <p:pic>
        <p:nvPicPr>
          <p:cNvPr id="8" name="Picture 7">
            <a:extLst>
              <a:ext uri="{FF2B5EF4-FFF2-40B4-BE49-F238E27FC236}">
                <a16:creationId xmlns:a16="http://schemas.microsoft.com/office/drawing/2014/main" id="{68FEDC9C-97D7-4EF4-C0AC-D3A175C78629}"/>
              </a:ext>
            </a:extLst>
          </p:cNvPr>
          <p:cNvPicPr>
            <a:picLocks noChangeAspect="1"/>
          </p:cNvPicPr>
          <p:nvPr/>
        </p:nvPicPr>
        <p:blipFill>
          <a:blip r:embed="rId3"/>
          <a:stretch>
            <a:fillRect/>
          </a:stretch>
        </p:blipFill>
        <p:spPr>
          <a:xfrm>
            <a:off x="6819179" y="3177967"/>
            <a:ext cx="5274499" cy="259934"/>
          </a:xfrm>
          <a:prstGeom prst="rect">
            <a:avLst/>
          </a:prstGeom>
        </p:spPr>
      </p:pic>
      <p:cxnSp>
        <p:nvCxnSpPr>
          <p:cNvPr id="10" name="Straight Arrow Connector 9">
            <a:extLst>
              <a:ext uri="{FF2B5EF4-FFF2-40B4-BE49-F238E27FC236}">
                <a16:creationId xmlns:a16="http://schemas.microsoft.com/office/drawing/2014/main" id="{6510DD42-D864-F75C-6D8C-7D2D176400D4}"/>
              </a:ext>
            </a:extLst>
          </p:cNvPr>
          <p:cNvCxnSpPr>
            <a:stCxn id="6" idx="3"/>
            <a:endCxn id="8" idx="1"/>
          </p:cNvCxnSpPr>
          <p:nvPr/>
        </p:nvCxnSpPr>
        <p:spPr>
          <a:xfrm>
            <a:off x="6214680" y="3307934"/>
            <a:ext cx="6044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8EB0E4E-C2D2-2FB6-843E-ECE3DEDFCDBA}"/>
              </a:ext>
            </a:extLst>
          </p:cNvPr>
          <p:cNvPicPr>
            <a:picLocks noChangeAspect="1"/>
          </p:cNvPicPr>
          <p:nvPr/>
        </p:nvPicPr>
        <p:blipFill>
          <a:blip r:embed="rId4"/>
          <a:stretch>
            <a:fillRect/>
          </a:stretch>
        </p:blipFill>
        <p:spPr>
          <a:xfrm>
            <a:off x="3522746" y="4473235"/>
            <a:ext cx="5383867" cy="2027859"/>
          </a:xfrm>
          <a:prstGeom prst="roundRect">
            <a:avLst>
              <a:gd name="adj" fmla="val 13273"/>
            </a:avLst>
          </a:prstGeom>
        </p:spPr>
      </p:pic>
    </p:spTree>
    <p:extLst>
      <p:ext uri="{BB962C8B-B14F-4D97-AF65-F5344CB8AC3E}">
        <p14:creationId xmlns:p14="http://schemas.microsoft.com/office/powerpoint/2010/main" val="101034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7B5F-D4E0-D6D2-30CE-35C133ACA3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A4F771-3F64-AEDE-2DE1-2D71FF929382}"/>
              </a:ext>
            </a:extLst>
          </p:cNvPr>
          <p:cNvPicPr>
            <a:picLocks noChangeAspect="1"/>
          </p:cNvPicPr>
          <p:nvPr/>
        </p:nvPicPr>
        <p:blipFill>
          <a:blip r:embed="rId2"/>
          <a:stretch>
            <a:fillRect/>
          </a:stretch>
        </p:blipFill>
        <p:spPr>
          <a:xfrm>
            <a:off x="202564" y="653166"/>
            <a:ext cx="8008670" cy="2158859"/>
          </a:xfrm>
          <a:prstGeom prst="rect">
            <a:avLst/>
          </a:prstGeom>
        </p:spPr>
      </p:pic>
      <p:pic>
        <p:nvPicPr>
          <p:cNvPr id="5" name="Picture 4">
            <a:extLst>
              <a:ext uri="{FF2B5EF4-FFF2-40B4-BE49-F238E27FC236}">
                <a16:creationId xmlns:a16="http://schemas.microsoft.com/office/drawing/2014/main" id="{9A99EE36-031E-14C0-6565-80254C7641E6}"/>
              </a:ext>
            </a:extLst>
          </p:cNvPr>
          <p:cNvPicPr>
            <a:picLocks noChangeAspect="1"/>
          </p:cNvPicPr>
          <p:nvPr/>
        </p:nvPicPr>
        <p:blipFill>
          <a:blip r:embed="rId3"/>
          <a:stretch>
            <a:fillRect/>
          </a:stretch>
        </p:blipFill>
        <p:spPr>
          <a:xfrm>
            <a:off x="8383227" y="522679"/>
            <a:ext cx="3606209" cy="2653140"/>
          </a:xfrm>
          <a:prstGeom prst="rect">
            <a:avLst/>
          </a:prstGeom>
        </p:spPr>
      </p:pic>
      <p:pic>
        <p:nvPicPr>
          <p:cNvPr id="7" name="Picture 6">
            <a:extLst>
              <a:ext uri="{FF2B5EF4-FFF2-40B4-BE49-F238E27FC236}">
                <a16:creationId xmlns:a16="http://schemas.microsoft.com/office/drawing/2014/main" id="{E607382C-7ABD-1826-680F-67F19323EE13}"/>
              </a:ext>
            </a:extLst>
          </p:cNvPr>
          <p:cNvPicPr>
            <a:picLocks noChangeAspect="1"/>
          </p:cNvPicPr>
          <p:nvPr/>
        </p:nvPicPr>
        <p:blipFill>
          <a:blip r:embed="rId4"/>
          <a:stretch>
            <a:fillRect/>
          </a:stretch>
        </p:blipFill>
        <p:spPr>
          <a:xfrm>
            <a:off x="2120115" y="4802423"/>
            <a:ext cx="8066216" cy="1695687"/>
          </a:xfrm>
          <a:prstGeom prst="rect">
            <a:avLst/>
          </a:prstGeom>
        </p:spPr>
      </p:pic>
      <p:pic>
        <p:nvPicPr>
          <p:cNvPr id="9" name="Picture 8">
            <a:extLst>
              <a:ext uri="{FF2B5EF4-FFF2-40B4-BE49-F238E27FC236}">
                <a16:creationId xmlns:a16="http://schemas.microsoft.com/office/drawing/2014/main" id="{BDE2B07B-AA6D-3BF1-CB58-EE94F8C94B00}"/>
              </a:ext>
            </a:extLst>
          </p:cNvPr>
          <p:cNvPicPr>
            <a:picLocks noChangeAspect="1"/>
          </p:cNvPicPr>
          <p:nvPr/>
        </p:nvPicPr>
        <p:blipFill>
          <a:blip r:embed="rId5"/>
          <a:stretch>
            <a:fillRect/>
          </a:stretch>
        </p:blipFill>
        <p:spPr>
          <a:xfrm>
            <a:off x="330383" y="3175819"/>
            <a:ext cx="5111450" cy="1441691"/>
          </a:xfrm>
          <a:prstGeom prst="rect">
            <a:avLst/>
          </a:prstGeom>
        </p:spPr>
      </p:pic>
      <p:sp>
        <p:nvSpPr>
          <p:cNvPr id="10" name="TextBox 9">
            <a:extLst>
              <a:ext uri="{FF2B5EF4-FFF2-40B4-BE49-F238E27FC236}">
                <a16:creationId xmlns:a16="http://schemas.microsoft.com/office/drawing/2014/main" id="{65ABF63E-C2EF-8304-1085-A16A6DD357B0}"/>
              </a:ext>
            </a:extLst>
          </p:cNvPr>
          <p:cNvSpPr txBox="1"/>
          <p:nvPr/>
        </p:nvSpPr>
        <p:spPr>
          <a:xfrm>
            <a:off x="330383" y="101937"/>
            <a:ext cx="4684069" cy="369332"/>
          </a:xfrm>
          <a:prstGeom prst="rect">
            <a:avLst/>
          </a:prstGeom>
          <a:noFill/>
        </p:spPr>
        <p:txBody>
          <a:bodyPr wrap="square">
            <a:spAutoFit/>
          </a:bodyPr>
          <a:lstStyle/>
          <a:p>
            <a:r>
              <a:rPr lang="en-IN" dirty="0" err="1"/>
              <a:t>JsonOutputParser</a:t>
            </a:r>
            <a:r>
              <a:rPr lang="en-IN" dirty="0"/>
              <a:t> can not enforce schema.</a:t>
            </a:r>
          </a:p>
        </p:txBody>
      </p:sp>
    </p:spTree>
    <p:extLst>
      <p:ext uri="{BB962C8B-B14F-4D97-AF65-F5344CB8AC3E}">
        <p14:creationId xmlns:p14="http://schemas.microsoft.com/office/powerpoint/2010/main" val="33539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250"/>
                                        <p:tgtEl>
                                          <p:spTgt spid="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E1A86-F8B2-8E97-2984-2FC4C8C808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470318-1BAB-6A16-F633-E95754F5A9FE}"/>
              </a:ext>
            </a:extLst>
          </p:cNvPr>
          <p:cNvSpPr txBox="1"/>
          <p:nvPr/>
        </p:nvSpPr>
        <p:spPr>
          <a:xfrm>
            <a:off x="629264" y="670741"/>
            <a:ext cx="6096000" cy="369332"/>
          </a:xfrm>
          <a:prstGeom prst="rect">
            <a:avLst/>
          </a:prstGeom>
          <a:noFill/>
        </p:spPr>
        <p:txBody>
          <a:bodyPr wrap="square">
            <a:spAutoFit/>
          </a:bodyPr>
          <a:lstStyle/>
          <a:p>
            <a:r>
              <a:rPr lang="en-IN" dirty="0" err="1"/>
              <a:t>StructuredOutputParser</a:t>
            </a:r>
            <a:endParaRPr lang="en-IN" dirty="0"/>
          </a:p>
        </p:txBody>
      </p:sp>
      <p:sp>
        <p:nvSpPr>
          <p:cNvPr id="6" name="TextBox 5">
            <a:extLst>
              <a:ext uri="{FF2B5EF4-FFF2-40B4-BE49-F238E27FC236}">
                <a16:creationId xmlns:a16="http://schemas.microsoft.com/office/drawing/2014/main" id="{2B5E55F6-644D-0B89-ECDD-C7978049A878}"/>
              </a:ext>
            </a:extLst>
          </p:cNvPr>
          <p:cNvSpPr txBox="1"/>
          <p:nvPr/>
        </p:nvSpPr>
        <p:spPr>
          <a:xfrm>
            <a:off x="3372463" y="162909"/>
            <a:ext cx="8485239" cy="1477328"/>
          </a:xfrm>
          <a:prstGeom prst="rect">
            <a:avLst/>
          </a:prstGeom>
          <a:noFill/>
        </p:spPr>
        <p:txBody>
          <a:bodyPr wrap="square">
            <a:spAutoFit/>
          </a:bodyPr>
          <a:lstStyle/>
          <a:p>
            <a:r>
              <a:rPr lang="en-US" dirty="0" err="1"/>
              <a:t>StructuredOutputParser</a:t>
            </a:r>
            <a:r>
              <a:rPr lang="en-US" dirty="0"/>
              <a:t> is a </a:t>
            </a:r>
            <a:r>
              <a:rPr lang="en-US" dirty="0" err="1"/>
              <a:t>LangChain</a:t>
            </a:r>
            <a:r>
              <a:rPr lang="en-US" dirty="0"/>
              <a:t> output parser that </a:t>
            </a:r>
            <a:r>
              <a:rPr lang="en-US" i="1" dirty="0">
                <a:solidFill>
                  <a:srgbClr val="FF0000"/>
                </a:solidFill>
              </a:rPr>
              <a:t>defines an expected JSON structure using </a:t>
            </a:r>
            <a:r>
              <a:rPr lang="en-US" i="1" dirty="0" err="1">
                <a:solidFill>
                  <a:srgbClr val="FF0000"/>
                </a:solidFill>
              </a:rPr>
              <a:t>ResponseSchema</a:t>
            </a:r>
            <a:r>
              <a:rPr lang="en-US" dirty="0"/>
              <a:t> objects and then parses the LLM's output (which is instructed to be JSON following that schema</a:t>
            </a:r>
            <a:r>
              <a:rPr lang="en-US" i="1" dirty="0">
                <a:solidFill>
                  <a:srgbClr val="FF0000"/>
                </a:solidFill>
              </a:rPr>
              <a:t>) into a Python dictionary</a:t>
            </a:r>
            <a:r>
              <a:rPr lang="en-US" dirty="0"/>
              <a:t>. It's designed to give you more control over the exact keys and their descriptions that you expect from the LLM's structured output.</a:t>
            </a:r>
            <a:endParaRPr lang="en-IN" dirty="0"/>
          </a:p>
        </p:txBody>
      </p:sp>
      <p:pic>
        <p:nvPicPr>
          <p:cNvPr id="8" name="Picture 7">
            <a:extLst>
              <a:ext uri="{FF2B5EF4-FFF2-40B4-BE49-F238E27FC236}">
                <a16:creationId xmlns:a16="http://schemas.microsoft.com/office/drawing/2014/main" id="{61AF3F2C-DD9C-EA99-51AD-687FE1A7E483}"/>
              </a:ext>
            </a:extLst>
          </p:cNvPr>
          <p:cNvPicPr>
            <a:picLocks noChangeAspect="1"/>
          </p:cNvPicPr>
          <p:nvPr/>
        </p:nvPicPr>
        <p:blipFill>
          <a:blip r:embed="rId2"/>
          <a:stretch>
            <a:fillRect/>
          </a:stretch>
        </p:blipFill>
        <p:spPr>
          <a:xfrm>
            <a:off x="277724" y="2551331"/>
            <a:ext cx="5677327" cy="1755337"/>
          </a:xfrm>
          <a:prstGeom prst="rect">
            <a:avLst/>
          </a:prstGeom>
        </p:spPr>
      </p:pic>
      <p:pic>
        <p:nvPicPr>
          <p:cNvPr id="10" name="Picture 9">
            <a:extLst>
              <a:ext uri="{FF2B5EF4-FFF2-40B4-BE49-F238E27FC236}">
                <a16:creationId xmlns:a16="http://schemas.microsoft.com/office/drawing/2014/main" id="{FD7BB36D-D2E5-768B-EEAA-7CF91598331E}"/>
              </a:ext>
            </a:extLst>
          </p:cNvPr>
          <p:cNvPicPr>
            <a:picLocks noChangeAspect="1"/>
          </p:cNvPicPr>
          <p:nvPr/>
        </p:nvPicPr>
        <p:blipFill>
          <a:blip r:embed="rId3"/>
          <a:stretch>
            <a:fillRect/>
          </a:stretch>
        </p:blipFill>
        <p:spPr>
          <a:xfrm>
            <a:off x="6459488" y="3281195"/>
            <a:ext cx="5454788" cy="295607"/>
          </a:xfrm>
          <a:prstGeom prst="rect">
            <a:avLst/>
          </a:prstGeom>
        </p:spPr>
      </p:pic>
      <p:cxnSp>
        <p:nvCxnSpPr>
          <p:cNvPr id="12" name="Straight Arrow Connector 11">
            <a:extLst>
              <a:ext uri="{FF2B5EF4-FFF2-40B4-BE49-F238E27FC236}">
                <a16:creationId xmlns:a16="http://schemas.microsoft.com/office/drawing/2014/main" id="{4545989D-8E41-4437-F13D-54CB5F714D99}"/>
              </a:ext>
            </a:extLst>
          </p:cNvPr>
          <p:cNvCxnSpPr>
            <a:stCxn id="8" idx="3"/>
            <a:endCxn id="10" idx="1"/>
          </p:cNvCxnSpPr>
          <p:nvPr/>
        </p:nvCxnSpPr>
        <p:spPr>
          <a:xfrm flipV="1">
            <a:off x="5955051" y="3428999"/>
            <a:ext cx="50443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26CF37E-389E-B6D2-C7D9-28713F3316FF}"/>
              </a:ext>
            </a:extLst>
          </p:cNvPr>
          <p:cNvPicPr>
            <a:picLocks noChangeAspect="1"/>
          </p:cNvPicPr>
          <p:nvPr/>
        </p:nvPicPr>
        <p:blipFill>
          <a:blip r:embed="rId4"/>
          <a:stretch>
            <a:fillRect/>
          </a:stretch>
        </p:blipFill>
        <p:spPr>
          <a:xfrm>
            <a:off x="3116387" y="4376795"/>
            <a:ext cx="5552805" cy="2318296"/>
          </a:xfrm>
          <a:prstGeom prst="rect">
            <a:avLst/>
          </a:prstGeom>
        </p:spPr>
      </p:pic>
    </p:spTree>
    <p:extLst>
      <p:ext uri="{BB962C8B-B14F-4D97-AF65-F5344CB8AC3E}">
        <p14:creationId xmlns:p14="http://schemas.microsoft.com/office/powerpoint/2010/main" val="110489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50"/>
                                        <p:tgtEl>
                                          <p:spTgt spid="8"/>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50"/>
                                        <p:tgtEl>
                                          <p:spTgt spid="10"/>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250"/>
                                        <p:tgtEl>
                                          <p:spTgt spid="12"/>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C5AE2-73E4-4A70-6195-D8FE10F584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076733-ED47-680E-62EC-B7D9DECFEC5A}"/>
              </a:ext>
            </a:extLst>
          </p:cNvPr>
          <p:cNvSpPr txBox="1"/>
          <p:nvPr/>
        </p:nvSpPr>
        <p:spPr>
          <a:xfrm>
            <a:off x="330383" y="101937"/>
            <a:ext cx="7535423" cy="369332"/>
          </a:xfrm>
          <a:prstGeom prst="rect">
            <a:avLst/>
          </a:prstGeom>
          <a:noFill/>
        </p:spPr>
        <p:txBody>
          <a:bodyPr wrap="square">
            <a:spAutoFit/>
          </a:bodyPr>
          <a:lstStyle/>
          <a:p>
            <a:r>
              <a:rPr lang="en-IN" dirty="0" err="1"/>
              <a:t>StructuredOutputParser</a:t>
            </a:r>
            <a:r>
              <a:rPr lang="en-IN" dirty="0"/>
              <a:t> can enforce schema but can not validate datatype.</a:t>
            </a:r>
          </a:p>
        </p:txBody>
      </p:sp>
      <p:pic>
        <p:nvPicPr>
          <p:cNvPr id="4" name="Picture 3">
            <a:extLst>
              <a:ext uri="{FF2B5EF4-FFF2-40B4-BE49-F238E27FC236}">
                <a16:creationId xmlns:a16="http://schemas.microsoft.com/office/drawing/2014/main" id="{9E8A8649-C311-5798-750E-D3867959CD6F}"/>
              </a:ext>
            </a:extLst>
          </p:cNvPr>
          <p:cNvPicPr>
            <a:picLocks noChangeAspect="1"/>
          </p:cNvPicPr>
          <p:nvPr/>
        </p:nvPicPr>
        <p:blipFill>
          <a:blip r:embed="rId2"/>
          <a:stretch>
            <a:fillRect/>
          </a:stretch>
        </p:blipFill>
        <p:spPr>
          <a:xfrm>
            <a:off x="980228" y="1340720"/>
            <a:ext cx="9916909" cy="2210108"/>
          </a:xfrm>
          <a:prstGeom prst="rect">
            <a:avLst/>
          </a:prstGeom>
        </p:spPr>
      </p:pic>
      <p:pic>
        <p:nvPicPr>
          <p:cNvPr id="6" name="Picture 5">
            <a:extLst>
              <a:ext uri="{FF2B5EF4-FFF2-40B4-BE49-F238E27FC236}">
                <a16:creationId xmlns:a16="http://schemas.microsoft.com/office/drawing/2014/main" id="{CEC36EDB-9EE8-FFD5-0D3A-15A6B41BFAC6}"/>
              </a:ext>
            </a:extLst>
          </p:cNvPr>
          <p:cNvPicPr>
            <a:picLocks noChangeAspect="1"/>
          </p:cNvPicPr>
          <p:nvPr/>
        </p:nvPicPr>
        <p:blipFill>
          <a:blip r:embed="rId3"/>
          <a:stretch>
            <a:fillRect/>
          </a:stretch>
        </p:blipFill>
        <p:spPr>
          <a:xfrm>
            <a:off x="980228" y="4420279"/>
            <a:ext cx="9202434" cy="1743318"/>
          </a:xfrm>
          <a:prstGeom prst="rect">
            <a:avLst/>
          </a:prstGeom>
        </p:spPr>
      </p:pic>
    </p:spTree>
    <p:extLst>
      <p:ext uri="{BB962C8B-B14F-4D97-AF65-F5344CB8AC3E}">
        <p14:creationId xmlns:p14="http://schemas.microsoft.com/office/powerpoint/2010/main" val="69465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50"/>
                                        <p:tgtEl>
                                          <p:spTgt spid="4"/>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FAC5-42B2-D90F-B8E7-373124E79B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F77E25-754C-4205-A130-3942CC5A8488}"/>
              </a:ext>
            </a:extLst>
          </p:cNvPr>
          <p:cNvSpPr txBox="1"/>
          <p:nvPr/>
        </p:nvSpPr>
        <p:spPr>
          <a:xfrm>
            <a:off x="609600" y="798560"/>
            <a:ext cx="6096000" cy="369332"/>
          </a:xfrm>
          <a:prstGeom prst="rect">
            <a:avLst/>
          </a:prstGeom>
          <a:noFill/>
        </p:spPr>
        <p:txBody>
          <a:bodyPr wrap="square">
            <a:spAutoFit/>
          </a:bodyPr>
          <a:lstStyle/>
          <a:p>
            <a:r>
              <a:rPr lang="en-IN" dirty="0" err="1"/>
              <a:t>PydanticOutputParser</a:t>
            </a:r>
            <a:endParaRPr lang="en-IN" dirty="0"/>
          </a:p>
        </p:txBody>
      </p:sp>
      <p:sp>
        <p:nvSpPr>
          <p:cNvPr id="5" name="TextBox 4">
            <a:extLst>
              <a:ext uri="{FF2B5EF4-FFF2-40B4-BE49-F238E27FC236}">
                <a16:creationId xmlns:a16="http://schemas.microsoft.com/office/drawing/2014/main" id="{0F3A132A-6415-45EB-75C7-43F1F5E49D8F}"/>
              </a:ext>
            </a:extLst>
          </p:cNvPr>
          <p:cNvSpPr txBox="1"/>
          <p:nvPr/>
        </p:nvSpPr>
        <p:spPr>
          <a:xfrm>
            <a:off x="3352800" y="244562"/>
            <a:ext cx="8229600" cy="1200329"/>
          </a:xfrm>
          <a:prstGeom prst="rect">
            <a:avLst/>
          </a:prstGeom>
          <a:noFill/>
        </p:spPr>
        <p:txBody>
          <a:bodyPr wrap="square">
            <a:spAutoFit/>
          </a:bodyPr>
          <a:lstStyle/>
          <a:p>
            <a:r>
              <a:rPr lang="en-IN" dirty="0" err="1"/>
              <a:t>PydanticOutputParser</a:t>
            </a:r>
            <a:r>
              <a:rPr lang="en-IN" dirty="0"/>
              <a:t> is a </a:t>
            </a:r>
            <a:r>
              <a:rPr lang="en-IN" dirty="0" err="1"/>
              <a:t>LangChain</a:t>
            </a:r>
            <a:r>
              <a:rPr lang="en-IN" dirty="0"/>
              <a:t> output parser </a:t>
            </a:r>
            <a:r>
              <a:rPr lang="en-IN" i="1" dirty="0">
                <a:solidFill>
                  <a:srgbClr val="FF0000"/>
                </a:solidFill>
              </a:rPr>
              <a:t>that strictly validates and parses the LLM's output into a Python object defined by a </a:t>
            </a:r>
            <a:r>
              <a:rPr lang="en-IN" i="1" dirty="0" err="1">
                <a:solidFill>
                  <a:srgbClr val="FF0000"/>
                </a:solidFill>
              </a:rPr>
              <a:t>Pydantic</a:t>
            </a:r>
            <a:r>
              <a:rPr lang="en-IN" i="1" dirty="0">
                <a:solidFill>
                  <a:srgbClr val="FF0000"/>
                </a:solidFill>
              </a:rPr>
              <a:t> </a:t>
            </a:r>
            <a:r>
              <a:rPr lang="en-IN" i="1" dirty="0" err="1">
                <a:solidFill>
                  <a:srgbClr val="FF0000"/>
                </a:solidFill>
              </a:rPr>
              <a:t>BaseModel</a:t>
            </a:r>
            <a:r>
              <a:rPr lang="en-IN" dirty="0"/>
              <a:t>. This provides </a:t>
            </a:r>
            <a:r>
              <a:rPr lang="en-IN" i="1" dirty="0">
                <a:solidFill>
                  <a:srgbClr val="FF0000"/>
                </a:solidFill>
              </a:rPr>
              <a:t>robust type checking and data validation, ensuring the LLM's response conforms precisely to a defined schema</a:t>
            </a:r>
            <a:r>
              <a:rPr lang="en-IN" dirty="0"/>
              <a:t>.</a:t>
            </a:r>
          </a:p>
        </p:txBody>
      </p:sp>
      <p:pic>
        <p:nvPicPr>
          <p:cNvPr id="7" name="Picture 6">
            <a:extLst>
              <a:ext uri="{FF2B5EF4-FFF2-40B4-BE49-F238E27FC236}">
                <a16:creationId xmlns:a16="http://schemas.microsoft.com/office/drawing/2014/main" id="{4D0FDC72-9679-CB56-35E6-E456FAEFED56}"/>
              </a:ext>
            </a:extLst>
          </p:cNvPr>
          <p:cNvPicPr>
            <a:picLocks noChangeAspect="1"/>
          </p:cNvPicPr>
          <p:nvPr/>
        </p:nvPicPr>
        <p:blipFill>
          <a:blip r:embed="rId2"/>
          <a:stretch>
            <a:fillRect/>
          </a:stretch>
        </p:blipFill>
        <p:spPr>
          <a:xfrm>
            <a:off x="231901" y="2174398"/>
            <a:ext cx="6241797" cy="2092802"/>
          </a:xfrm>
          <a:prstGeom prst="rect">
            <a:avLst/>
          </a:prstGeom>
        </p:spPr>
      </p:pic>
      <p:pic>
        <p:nvPicPr>
          <p:cNvPr id="9" name="Picture 8">
            <a:extLst>
              <a:ext uri="{FF2B5EF4-FFF2-40B4-BE49-F238E27FC236}">
                <a16:creationId xmlns:a16="http://schemas.microsoft.com/office/drawing/2014/main" id="{29164365-9CA4-780E-69DD-84D7D0A194A5}"/>
              </a:ext>
            </a:extLst>
          </p:cNvPr>
          <p:cNvPicPr>
            <a:picLocks noChangeAspect="1"/>
          </p:cNvPicPr>
          <p:nvPr/>
        </p:nvPicPr>
        <p:blipFill>
          <a:blip r:embed="rId3"/>
          <a:stretch>
            <a:fillRect/>
          </a:stretch>
        </p:blipFill>
        <p:spPr>
          <a:xfrm>
            <a:off x="7187380" y="3099338"/>
            <a:ext cx="4910823" cy="242922"/>
          </a:xfrm>
          <a:prstGeom prst="rect">
            <a:avLst/>
          </a:prstGeom>
        </p:spPr>
      </p:pic>
      <p:cxnSp>
        <p:nvCxnSpPr>
          <p:cNvPr id="11" name="Straight Arrow Connector 10">
            <a:extLst>
              <a:ext uri="{FF2B5EF4-FFF2-40B4-BE49-F238E27FC236}">
                <a16:creationId xmlns:a16="http://schemas.microsoft.com/office/drawing/2014/main" id="{63409E01-5520-ED28-F444-36847189D358}"/>
              </a:ext>
            </a:extLst>
          </p:cNvPr>
          <p:cNvCxnSpPr>
            <a:stCxn id="7" idx="3"/>
            <a:endCxn id="9" idx="1"/>
          </p:cNvCxnSpPr>
          <p:nvPr/>
        </p:nvCxnSpPr>
        <p:spPr>
          <a:xfrm>
            <a:off x="6473698" y="3220799"/>
            <a:ext cx="7136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4CE1057B-1861-BBA1-03ED-7D7C40A70FB5}"/>
              </a:ext>
            </a:extLst>
          </p:cNvPr>
          <p:cNvPicPr>
            <a:picLocks noChangeAspect="1"/>
          </p:cNvPicPr>
          <p:nvPr/>
        </p:nvPicPr>
        <p:blipFill>
          <a:blip r:embed="rId4"/>
          <a:stretch>
            <a:fillRect/>
          </a:stretch>
        </p:blipFill>
        <p:spPr>
          <a:xfrm>
            <a:off x="2935626" y="4388661"/>
            <a:ext cx="5864244" cy="2366019"/>
          </a:xfrm>
          <a:prstGeom prst="roundRect">
            <a:avLst>
              <a:gd name="adj" fmla="val 10434"/>
            </a:avLst>
          </a:prstGeom>
        </p:spPr>
      </p:pic>
    </p:spTree>
    <p:extLst>
      <p:ext uri="{BB962C8B-B14F-4D97-AF65-F5344CB8AC3E}">
        <p14:creationId xmlns:p14="http://schemas.microsoft.com/office/powerpoint/2010/main" val="104461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50"/>
                                        <p:tgtEl>
                                          <p:spTgt spid="9"/>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250"/>
                                        <p:tgtEl>
                                          <p:spTgt spid="11"/>
                                        </p:tgtEl>
                                      </p:cBhvr>
                                    </p:animEffect>
                                  </p:childTnLst>
                                </p:cTn>
                              </p:par>
                            </p:childTnLst>
                          </p:cTn>
                        </p:par>
                        <p:par>
                          <p:cTn id="24" fill="hold">
                            <p:stCondLst>
                              <p:cond delay="1250"/>
                            </p:stCondLst>
                            <p:childTnLst>
                              <p:par>
                                <p:cTn id="25" presetID="10"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F5E11-A853-4E4D-2A3C-30C12035AA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F5916B-E0E3-9DC6-BF9B-4937590AA1DD}"/>
              </a:ext>
            </a:extLst>
          </p:cNvPr>
          <p:cNvSpPr txBox="1"/>
          <p:nvPr/>
        </p:nvSpPr>
        <p:spPr>
          <a:xfrm>
            <a:off x="668594" y="798559"/>
            <a:ext cx="6096000" cy="369332"/>
          </a:xfrm>
          <a:prstGeom prst="rect">
            <a:avLst/>
          </a:prstGeom>
          <a:noFill/>
        </p:spPr>
        <p:txBody>
          <a:bodyPr wrap="square">
            <a:spAutoFit/>
          </a:bodyPr>
          <a:lstStyle/>
          <a:p>
            <a:r>
              <a:rPr lang="en-IN"/>
              <a:t>CustomOutputParser</a:t>
            </a:r>
            <a:endParaRPr lang="en-IN" dirty="0"/>
          </a:p>
        </p:txBody>
      </p:sp>
      <p:sp>
        <p:nvSpPr>
          <p:cNvPr id="10" name="TextBox 9">
            <a:extLst>
              <a:ext uri="{FF2B5EF4-FFF2-40B4-BE49-F238E27FC236}">
                <a16:creationId xmlns:a16="http://schemas.microsoft.com/office/drawing/2014/main" id="{DEAB4611-157D-1EF3-5765-D6699F387891}"/>
              </a:ext>
            </a:extLst>
          </p:cNvPr>
          <p:cNvSpPr txBox="1"/>
          <p:nvPr/>
        </p:nvSpPr>
        <p:spPr>
          <a:xfrm>
            <a:off x="3510116" y="383060"/>
            <a:ext cx="7295536" cy="1200329"/>
          </a:xfrm>
          <a:prstGeom prst="rect">
            <a:avLst/>
          </a:prstGeom>
          <a:noFill/>
        </p:spPr>
        <p:txBody>
          <a:bodyPr wrap="square">
            <a:spAutoFit/>
          </a:bodyPr>
          <a:lstStyle/>
          <a:p>
            <a:r>
              <a:rPr lang="en-US" dirty="0"/>
              <a:t>This is a custom output parser that inherits from </a:t>
            </a:r>
            <a:r>
              <a:rPr lang="en-US" dirty="0" err="1"/>
              <a:t>BaseOutputParser</a:t>
            </a:r>
            <a:r>
              <a:rPr lang="en-US" dirty="0"/>
              <a:t>. It's designed to perform a </a:t>
            </a:r>
            <a:r>
              <a:rPr lang="en-US" i="1" dirty="0">
                <a:solidFill>
                  <a:srgbClr val="FF0000"/>
                </a:solidFill>
              </a:rPr>
              <a:t>specific, user-defined transformation </a:t>
            </a:r>
            <a:r>
              <a:rPr lang="en-US" dirty="0"/>
              <a:t>on the LLM's raw string output; in this example, it converts the entire output to uppercase.</a:t>
            </a:r>
            <a:endParaRPr lang="en-IN" dirty="0"/>
          </a:p>
        </p:txBody>
      </p:sp>
      <p:pic>
        <p:nvPicPr>
          <p:cNvPr id="14" name="Picture 13">
            <a:extLst>
              <a:ext uri="{FF2B5EF4-FFF2-40B4-BE49-F238E27FC236}">
                <a16:creationId xmlns:a16="http://schemas.microsoft.com/office/drawing/2014/main" id="{516E65BF-4931-FA06-7B2B-40BB8318D327}"/>
              </a:ext>
            </a:extLst>
          </p:cNvPr>
          <p:cNvPicPr>
            <a:picLocks noChangeAspect="1"/>
          </p:cNvPicPr>
          <p:nvPr/>
        </p:nvPicPr>
        <p:blipFill>
          <a:blip r:embed="rId2"/>
          <a:stretch>
            <a:fillRect/>
          </a:stretch>
        </p:blipFill>
        <p:spPr>
          <a:xfrm>
            <a:off x="2673337" y="2304893"/>
            <a:ext cx="6058746" cy="1124107"/>
          </a:xfrm>
          <a:prstGeom prst="rect">
            <a:avLst/>
          </a:prstGeom>
        </p:spPr>
      </p:pic>
      <p:pic>
        <p:nvPicPr>
          <p:cNvPr id="16" name="Picture 15">
            <a:extLst>
              <a:ext uri="{FF2B5EF4-FFF2-40B4-BE49-F238E27FC236}">
                <a16:creationId xmlns:a16="http://schemas.microsoft.com/office/drawing/2014/main" id="{478F5E90-2516-F475-85AA-478023F5DC5F}"/>
              </a:ext>
            </a:extLst>
          </p:cNvPr>
          <p:cNvPicPr>
            <a:picLocks noChangeAspect="1"/>
          </p:cNvPicPr>
          <p:nvPr/>
        </p:nvPicPr>
        <p:blipFill>
          <a:blip r:embed="rId3"/>
          <a:stretch>
            <a:fillRect/>
          </a:stretch>
        </p:blipFill>
        <p:spPr>
          <a:xfrm>
            <a:off x="2452179" y="4297070"/>
            <a:ext cx="7287642" cy="1762371"/>
          </a:xfrm>
          <a:prstGeom prst="rect">
            <a:avLst/>
          </a:prstGeom>
        </p:spPr>
      </p:pic>
    </p:spTree>
    <p:extLst>
      <p:ext uri="{BB962C8B-B14F-4D97-AF65-F5344CB8AC3E}">
        <p14:creationId xmlns:p14="http://schemas.microsoft.com/office/powerpoint/2010/main" val="390614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50"/>
                                        <p:tgtEl>
                                          <p:spTgt spid="10"/>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10936</TotalTime>
  <Words>1388</Words>
  <Application>Microsoft Office PowerPoint</Application>
  <PresentationFormat>Widescreen</PresentationFormat>
  <Paragraphs>67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Google Sans</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ghost</dc:creator>
  <cp:lastModifiedBy>Coder Zero</cp:lastModifiedBy>
  <cp:revision>198</cp:revision>
  <dcterms:created xsi:type="dcterms:W3CDTF">2020-07-09T14:04:16Z</dcterms:created>
  <dcterms:modified xsi:type="dcterms:W3CDTF">2025-07-28T16:59:37Z</dcterms:modified>
</cp:coreProperties>
</file>