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6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4" r:id="rId9"/>
    <p:sldId id="281" r:id="rId10"/>
    <p:sldId id="285" r:id="rId11"/>
    <p:sldId id="286" r:id="rId12"/>
    <p:sldId id="282" r:id="rId13"/>
    <p:sldId id="287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40CD5"/>
    <a:srgbClr val="183348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mith.langchain.com/hub/hwchase17/react" TargetMode="External"/><Relationship Id="rId2" Type="http://schemas.openxmlformats.org/officeDocument/2006/relationships/hyperlink" Target="https://smith.langchain.com/hu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4774298" y="3354706"/>
            <a:ext cx="1616977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149214" y="2659559"/>
            <a:ext cx="4999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AE88-4425-BA2A-836D-ED6F2C70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6A3528-3E41-987D-72F0-2A8450277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556" y="315630"/>
            <a:ext cx="7894372" cy="1379486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EB550A-F818-335B-B786-EBE8157BC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556" y="2169604"/>
            <a:ext cx="7894372" cy="4392183"/>
          </a:xfrm>
          <a:prstGeom prst="roundRect">
            <a:avLst>
              <a:gd name="adj" fmla="val 5026"/>
            </a:avLst>
          </a:prstGeom>
        </p:spPr>
      </p:pic>
    </p:spTree>
    <p:extLst>
      <p:ext uri="{BB962C8B-B14F-4D97-AF65-F5344CB8AC3E}">
        <p14:creationId xmlns:p14="http://schemas.microsoft.com/office/powerpoint/2010/main" val="309565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A8E3-98B5-9F7F-FFA0-F8BB04C6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426D0-B539-87E1-1537-6C8012AA3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74" y="756864"/>
            <a:ext cx="6439799" cy="5344271"/>
          </a:xfrm>
          <a:prstGeom prst="roundRect">
            <a:avLst>
              <a:gd name="adj" fmla="val 8388"/>
            </a:avLst>
          </a:prstGeom>
        </p:spPr>
      </p:pic>
    </p:spTree>
    <p:extLst>
      <p:ext uri="{BB962C8B-B14F-4D97-AF65-F5344CB8AC3E}">
        <p14:creationId xmlns:p14="http://schemas.microsoft.com/office/powerpoint/2010/main" val="252536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73A5-7D80-A394-20E5-A3E0C8F2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9473B-0713-8700-054F-2DAB0C863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21" y="2128656"/>
            <a:ext cx="6496957" cy="2600688"/>
          </a:xfrm>
          <a:prstGeom prst="roundRect">
            <a:avLst>
              <a:gd name="adj" fmla="val 9862"/>
            </a:avLst>
          </a:prstGeom>
        </p:spPr>
      </p:pic>
    </p:spTree>
    <p:extLst>
      <p:ext uri="{BB962C8B-B14F-4D97-AF65-F5344CB8AC3E}">
        <p14:creationId xmlns:p14="http://schemas.microsoft.com/office/powerpoint/2010/main" val="3278195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6C36-80E4-4EAF-48D4-83FFA479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54C0F-6EA7-A681-0A1A-025786435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32" y="1590418"/>
            <a:ext cx="6525536" cy="3677163"/>
          </a:xfrm>
          <a:prstGeom prst="roundRect">
            <a:avLst>
              <a:gd name="adj" fmla="val 8111"/>
            </a:avLst>
          </a:prstGeom>
        </p:spPr>
      </p:pic>
    </p:spTree>
    <p:extLst>
      <p:ext uri="{BB962C8B-B14F-4D97-AF65-F5344CB8AC3E}">
        <p14:creationId xmlns:p14="http://schemas.microsoft.com/office/powerpoint/2010/main" val="347669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657F-9C9F-568A-E196-2F4B02A8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5914E-107F-6345-0684-EEFFEFA2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442495"/>
            <a:ext cx="6706536" cy="5973009"/>
          </a:xfrm>
          <a:prstGeom prst="roundRect">
            <a:avLst>
              <a:gd name="adj" fmla="val 4980"/>
            </a:avLst>
          </a:prstGeom>
        </p:spPr>
      </p:pic>
    </p:spTree>
    <p:extLst>
      <p:ext uri="{BB962C8B-B14F-4D97-AF65-F5344CB8AC3E}">
        <p14:creationId xmlns:p14="http://schemas.microsoft.com/office/powerpoint/2010/main" val="132297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FB01-BEFD-1187-746F-460F07F6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BB57F-43B3-41F4-2B1E-E7F4ED902FE2}"/>
              </a:ext>
            </a:extLst>
          </p:cNvPr>
          <p:cNvSpPr txBox="1"/>
          <p:nvPr/>
        </p:nvSpPr>
        <p:spPr>
          <a:xfrm>
            <a:off x="727586" y="375773"/>
            <a:ext cx="8190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linkClick r:id="rId2"/>
              </a:rPr>
              <a:t>https://smith.langchain.com/hub</a:t>
            </a:r>
            <a:r>
              <a:rPr lang="en-IN" sz="2000" dirty="0"/>
              <a:t> Different agent design patterns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E401E-C66B-0929-36C2-36478D659B20}"/>
              </a:ext>
            </a:extLst>
          </p:cNvPr>
          <p:cNvSpPr txBox="1"/>
          <p:nvPr/>
        </p:nvSpPr>
        <p:spPr>
          <a:xfrm>
            <a:off x="727586" y="940109"/>
            <a:ext cx="111694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The </a:t>
            </a:r>
            <a:r>
              <a:rPr lang="en-US" sz="1600" b="1" dirty="0" err="1"/>
              <a:t>ReAct</a:t>
            </a:r>
            <a:r>
              <a:rPr lang="en-US" sz="1600" b="1" dirty="0"/>
              <a:t> (Reasoning and Acting)</a:t>
            </a:r>
            <a:r>
              <a:rPr lang="en-US" sz="1600" dirty="0"/>
              <a:t> design pattern is a core concept for building advanced agents in </a:t>
            </a:r>
            <a:r>
              <a:rPr lang="en-US" sz="1600" dirty="0" err="1"/>
              <a:t>LangChain</a:t>
            </a:r>
            <a:r>
              <a:rPr lang="en-US" sz="1600" dirty="0"/>
              <a:t>. It's a method that enables a large language model (LLM) to become a more capable and autonomous agent by making it think and act in an interleaved, human-like manner.</a:t>
            </a:r>
          </a:p>
          <a:p>
            <a:r>
              <a:rPr lang="en-US" sz="1600" dirty="0"/>
              <a:t>Instead of generating a final answer in a single step, a </a:t>
            </a:r>
            <a:r>
              <a:rPr lang="en-US" sz="1600" dirty="0" err="1"/>
              <a:t>ReAct</a:t>
            </a:r>
            <a:r>
              <a:rPr lang="en-US" sz="1600" dirty="0"/>
              <a:t> agent follows a cyclical process that combines </a:t>
            </a:r>
            <a:r>
              <a:rPr lang="en-US" sz="1600" b="1" dirty="0"/>
              <a:t>reasoning</a:t>
            </a:r>
            <a:r>
              <a:rPr lang="en-US" sz="1600" dirty="0"/>
              <a:t> (generating thoughts) and </a:t>
            </a:r>
            <a:r>
              <a:rPr lang="en-US" sz="1600" b="1" dirty="0"/>
              <a:t>acting</a:t>
            </a:r>
            <a:r>
              <a:rPr lang="en-US" sz="1600" dirty="0"/>
              <a:t> (using tools). </a:t>
            </a:r>
            <a:r>
              <a:rPr lang="en-US" sz="1600" dirty="0">
                <a:hlinkClick r:id="rId3"/>
              </a:rPr>
              <a:t>https://smith.langchain.com/hub/hwchase17/react</a:t>
            </a:r>
            <a:r>
              <a:rPr lang="en-US" sz="16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D6629-46A2-9310-9653-AC7C5A4E0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105" y="2508222"/>
            <a:ext cx="5869752" cy="397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6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6F3C-7D99-2087-B402-45A1BC42D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97A7D-D329-4BCC-5E43-5F5F4AAF7B3B}"/>
              </a:ext>
            </a:extLst>
          </p:cNvPr>
          <p:cNvSpPr txBox="1"/>
          <p:nvPr/>
        </p:nvSpPr>
        <p:spPr>
          <a:xfrm>
            <a:off x="270386" y="186813"/>
            <a:ext cx="3918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ReAct</a:t>
            </a:r>
            <a:r>
              <a:rPr lang="en-US" sz="1400" b="1" dirty="0"/>
              <a:t> [</a:t>
            </a:r>
            <a:r>
              <a:rPr lang="en-IN" sz="1400" dirty="0"/>
              <a:t>Thought/Action/Observation] process:</a:t>
            </a:r>
            <a:r>
              <a:rPr lang="en-US" sz="1400" b="1" dirty="0"/>
              <a:t> </a:t>
            </a:r>
            <a:endParaRPr lang="en-IN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DDA01-3A17-745B-C793-DAE671457905}"/>
              </a:ext>
            </a:extLst>
          </p:cNvPr>
          <p:cNvSpPr/>
          <p:nvPr/>
        </p:nvSpPr>
        <p:spPr>
          <a:xfrm>
            <a:off x="5272549" y="462115"/>
            <a:ext cx="1646901" cy="392219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User query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EBEC16-9C17-5618-16FC-E813F4141DD1}"/>
              </a:ext>
            </a:extLst>
          </p:cNvPr>
          <p:cNvSpPr/>
          <p:nvPr/>
        </p:nvSpPr>
        <p:spPr>
          <a:xfrm>
            <a:off x="2858727" y="5901390"/>
            <a:ext cx="1932039" cy="51586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Update </a:t>
            </a:r>
            <a:r>
              <a:rPr lang="en-US" sz="1600" dirty="0" err="1">
                <a:solidFill>
                  <a:schemeClr val="bg1"/>
                </a:solidFill>
              </a:rPr>
              <a:t>agent_scratchpad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42B65C-52D1-73F3-EB6D-9677BF37AECE}"/>
              </a:ext>
            </a:extLst>
          </p:cNvPr>
          <p:cNvSpPr/>
          <p:nvPr/>
        </p:nvSpPr>
        <p:spPr>
          <a:xfrm>
            <a:off x="4549877" y="1359387"/>
            <a:ext cx="3092245" cy="3922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agent_scratchpad</a:t>
            </a:r>
            <a:r>
              <a:rPr lang="en-US" sz="1600" dirty="0">
                <a:solidFill>
                  <a:schemeClr val="bg1"/>
                </a:solidFill>
              </a:rPr>
              <a:t> + user query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FA6DB94E-3F44-78F1-8B0A-CCED35F4B1B7}"/>
              </a:ext>
            </a:extLst>
          </p:cNvPr>
          <p:cNvSpPr/>
          <p:nvPr/>
        </p:nvSpPr>
        <p:spPr>
          <a:xfrm>
            <a:off x="5213555" y="2300748"/>
            <a:ext cx="1764888" cy="848032"/>
          </a:xfrm>
          <a:prstGeom prst="flowChartDecisi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BCCE16-2967-D75C-64A8-258FC22C7892}"/>
              </a:ext>
            </a:extLst>
          </p:cNvPr>
          <p:cNvSpPr/>
          <p:nvPr/>
        </p:nvSpPr>
        <p:spPr>
          <a:xfrm>
            <a:off x="3099620" y="3541001"/>
            <a:ext cx="1450257" cy="3922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Agent Action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7AD25D-F80C-4B6D-C3CB-46592307165E}"/>
              </a:ext>
            </a:extLst>
          </p:cNvPr>
          <p:cNvSpPr/>
          <p:nvPr/>
        </p:nvSpPr>
        <p:spPr>
          <a:xfrm>
            <a:off x="3099619" y="4324244"/>
            <a:ext cx="1450257" cy="3922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Tool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CD6B9E-16B6-FF0F-2EAA-979AAF18E591}"/>
              </a:ext>
            </a:extLst>
          </p:cNvPr>
          <p:cNvSpPr/>
          <p:nvPr/>
        </p:nvSpPr>
        <p:spPr>
          <a:xfrm>
            <a:off x="3099619" y="5171234"/>
            <a:ext cx="1450257" cy="3922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Collect Observation</a:t>
            </a:r>
            <a:endParaRPr lang="en-IN" sz="1400" dirty="0">
              <a:solidFill>
                <a:schemeClr val="bg1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59894DC-D29D-089A-8600-F51FAED467E6}"/>
              </a:ext>
            </a:extLst>
          </p:cNvPr>
          <p:cNvCxnSpPr>
            <a:stCxn id="6" idx="1"/>
            <a:endCxn id="8" idx="1"/>
          </p:cNvCxnSpPr>
          <p:nvPr/>
        </p:nvCxnSpPr>
        <p:spPr>
          <a:xfrm rot="10800000" flipH="1">
            <a:off x="2858727" y="1555498"/>
            <a:ext cx="1691150" cy="4603825"/>
          </a:xfrm>
          <a:prstGeom prst="bentConnector3">
            <a:avLst>
              <a:gd name="adj1" fmla="val -135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3C9639-A2A2-8E15-C2F1-00752C308B1D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096000" y="854334"/>
            <a:ext cx="0" cy="505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BAF427-9463-7D5E-3570-384DCFFEE88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095999" y="1751606"/>
            <a:ext cx="1" cy="549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9C6324B-FDBB-57C6-DB14-C99608A72264}"/>
              </a:ext>
            </a:extLst>
          </p:cNvPr>
          <p:cNvCxnSpPr>
            <a:stCxn id="9" idx="1"/>
            <a:endCxn id="10" idx="0"/>
          </p:cNvCxnSpPr>
          <p:nvPr/>
        </p:nvCxnSpPr>
        <p:spPr>
          <a:xfrm rot="10800000" flipV="1">
            <a:off x="3824749" y="2724763"/>
            <a:ext cx="1388806" cy="8162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1CD0FC-C738-2A41-CD15-3276C4DAF197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3824748" y="3933220"/>
            <a:ext cx="1" cy="391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163F8D-CC0C-5CB3-1B50-ECA2EE8767D4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3824748" y="4716463"/>
            <a:ext cx="0" cy="45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8C468E-9558-7141-D222-F70F122D7EED}"/>
              </a:ext>
            </a:extLst>
          </p:cNvPr>
          <p:cNvCxnSpPr>
            <a:stCxn id="12" idx="2"/>
            <a:endCxn id="6" idx="0"/>
          </p:cNvCxnSpPr>
          <p:nvPr/>
        </p:nvCxnSpPr>
        <p:spPr>
          <a:xfrm flipH="1">
            <a:off x="3824747" y="5563453"/>
            <a:ext cx="1" cy="337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693C24C-2EE6-D160-390D-DE06CCDC2157}"/>
              </a:ext>
            </a:extLst>
          </p:cNvPr>
          <p:cNvSpPr/>
          <p:nvPr/>
        </p:nvSpPr>
        <p:spPr>
          <a:xfrm>
            <a:off x="7745362" y="3465191"/>
            <a:ext cx="1450257" cy="3922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Agent Finish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FE28D25-4E6E-BEEB-09B0-074208E7A8E3}"/>
              </a:ext>
            </a:extLst>
          </p:cNvPr>
          <p:cNvSpPr/>
          <p:nvPr/>
        </p:nvSpPr>
        <p:spPr>
          <a:xfrm>
            <a:off x="7745362" y="4520353"/>
            <a:ext cx="1450257" cy="3922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Final Output</a:t>
            </a:r>
            <a:endParaRPr lang="en-IN" sz="1600" dirty="0">
              <a:solidFill>
                <a:schemeClr val="bg1"/>
              </a:solidFill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AEEB3FE-B37A-B27F-8115-1B0A23F8443B}"/>
              </a:ext>
            </a:extLst>
          </p:cNvPr>
          <p:cNvCxnSpPr>
            <a:stCxn id="9" idx="3"/>
            <a:endCxn id="35" idx="0"/>
          </p:cNvCxnSpPr>
          <p:nvPr/>
        </p:nvCxnSpPr>
        <p:spPr>
          <a:xfrm>
            <a:off x="6978443" y="2724764"/>
            <a:ext cx="1492048" cy="7404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FA5327-D7F7-3551-CDA5-C92F48A9C13A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8470491" y="3857410"/>
            <a:ext cx="0" cy="662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C731948-3060-6B9E-7908-C54574E6E390}"/>
              </a:ext>
            </a:extLst>
          </p:cNvPr>
          <p:cNvSpPr txBox="1"/>
          <p:nvPr/>
        </p:nvSpPr>
        <p:spPr>
          <a:xfrm>
            <a:off x="0" y="701077"/>
            <a:ext cx="4984954" cy="2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"Find the current population of the capital of India."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10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DBB1A-0A9F-2D04-DD80-44AEBA03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15904B-04E2-7925-6E28-13EACF60A8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779" y="849879"/>
            <a:ext cx="3817272" cy="3521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8A4EF4-328C-8033-62DC-AB67BD6BB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1" y="767657"/>
            <a:ext cx="6887536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C84B-2FDC-3F47-5525-17E286B5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836DCE-E4BE-1C0E-67A1-4EA7657E44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779" y="849879"/>
            <a:ext cx="3817272" cy="3521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EC4C02-9C92-B478-DEC9-D6C9B2168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37" y="1534221"/>
            <a:ext cx="6858957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8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2CC7-3E4A-7252-720D-855787E7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8C5A61-F8A5-D938-379C-8DFC88A77F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779" y="849879"/>
            <a:ext cx="3817272" cy="3521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C0174-40F9-4C73-EBC4-D787FC01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38" y="934062"/>
            <a:ext cx="6754168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2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74F0-B328-B18B-F11A-A13E4FD2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5B586A-6CA3-DC4F-E0FF-F4CA9D5549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779" y="849879"/>
            <a:ext cx="3817272" cy="3521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D30506-84AB-C991-0DC4-3A16DA117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9" y="827756"/>
            <a:ext cx="6906589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8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F0B6-78C8-0AB1-AA08-D7D8F350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4ABAD1-F89D-EE93-50CE-02C6A7A1EB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779" y="849879"/>
            <a:ext cx="3817272" cy="3521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C99B25-88EC-F0F0-69BB-454C78E74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6" y="1884667"/>
            <a:ext cx="6430272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36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57A3-DE7A-C75A-9D27-CBE07B5B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873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12496</TotalTime>
  <Words>157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223</cp:revision>
  <dcterms:created xsi:type="dcterms:W3CDTF">2020-07-09T14:04:16Z</dcterms:created>
  <dcterms:modified xsi:type="dcterms:W3CDTF">2025-08-04T14:50:16Z</dcterms:modified>
</cp:coreProperties>
</file>